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claude.com/en/articles/13345190-get-started-with-claude-co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claude.com/en/articles/13345190-get-started-with-claude-cowork" TargetMode="External"/><Relationship Id="rId4" Type="http://schemas.openxmlformats.org/officeDocument/2006/relationships/hyperlink" Target="https://claude.com/pricing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claude.com/en/articles/13345190-get-started-with-claude-cowork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laude.com/product/cowor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claude.com/en/articles/8241126-what-kinds-of-documents-can-i-upload-to-claude-ai" TargetMode="External"/><Relationship Id="rId4" Type="http://schemas.openxmlformats.org/officeDocument/2006/relationships/hyperlink" Target="https://github.com/anthropics/claude-code/issues/25400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claude.com/en/articles/13837440-use-plugins-in-claude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news.unn.net/news/articleView.html?idxno=590156" TargetMode="External"/><Relationship Id="rId4" Type="http://schemas.openxmlformats.org/officeDocument/2006/relationships/hyperlink" Target="https://star.moe.go.kr/web/contents/m20103.do?schM=view&amp;id=108056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privacy.claude.com/en/articles/10023580-is-my-data-used-for-model-training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claude.com/pricing" TargetMode="External"/><Relationship Id="rId4" Type="http://schemas.openxmlformats.org/officeDocument/2006/relationships/hyperlink" Target="https://claude.com/product/cowork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port.claude.com/en/articles/13345190-get-started-with-claude-cowork" TargetMode="External"/><Relationship Id="rId4" Type="http://schemas.openxmlformats.org/officeDocument/2006/relationships/hyperlink" Target="https://claude.com/product/cowork" TargetMode="External"/><Relationship Id="rId5" Type="http://schemas.openxmlformats.org/officeDocument/2006/relationships/hyperlink" Target="https://claude.com/pricing" TargetMode="External"/><Relationship Id="rId6" Type="http://schemas.openxmlformats.org/officeDocument/2006/relationships/hyperlink" Target="https://support.claude.com/en/articles/13837440-use-plugins-in-claude" TargetMode="External"/><Relationship Id="rId7" Type="http://schemas.openxmlformats.org/officeDocument/2006/relationships/hyperlink" Target="https://privacy.claude.com/en/articles/10023580-is-my-data-used-for-model-training" TargetMode="External"/><Relationship Id="rId8" Type="http://schemas.openxmlformats.org/officeDocument/2006/relationships/hyperlink" Target="https://support.claude.com/en/articles/8241126-what-kinds-of-documents-can-i-upload-to-claude-ai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e.go.kr/resource/goe/na/bbs_2675/2026/02/cfa17cad-9007-4d4e-8f52-f104d1f651ce.pdf" TargetMode="External"/><Relationship Id="rId4" Type="http://schemas.openxmlformats.org/officeDocument/2006/relationships/hyperlink" Target="https://news.unn.net/news/articleView.html?idxno=590156" TargetMode="External"/><Relationship Id="rId5" Type="http://schemas.openxmlformats.org/officeDocument/2006/relationships/hyperlink" Target="https://star.moe.go.kr/web/contents/m20103.do?schM=view&amp;id=108056" TargetMode="External"/><Relationship Id="rId6" Type="http://schemas.openxmlformats.org/officeDocument/2006/relationships/hyperlink" Target="https://www.moe.go.kr/boardCnts/viewRenew.do?boardID=294&amp;boardSeq=104984&amp;lev=0&amp;s=moe&amp;m=020402&amp;opType=N" TargetMode="External"/><Relationship Id="rId7" Type="http://schemas.openxmlformats.org/officeDocument/2006/relationships/hyperlink" Target="https://github.com/anthropics/claude-code/issues/25400" TargetMode="External"/><Relationship Id="rId8" Type="http://schemas.openxmlformats.org/officeDocument/2006/relationships/hyperlink" Target="https://www.korea.kr/news/reporterView.do?newsId=14895786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94510"/>
            <a:ext cx="11049000" cy="2346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 u="none" spc="264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초등교사 연수 · 90~120분 · 실습 5회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146554"/>
            <a:ext cx="11049000" cy="2011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클로드 코워크로</a:t>
            </a:r>
            <a:br/>
            <a:r>
              <a:rPr sz="825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수업과 업무 </a:t>
            </a:r>
            <a:r>
              <a:rPr sz="8250" b="1" i="0" u="none">
                <a:solidFill>
                  <a:srgbClr val="B0745C"/>
                </a:solidFill>
                <a:latin typeface="Noto Sans KR Black"/>
                <a:ea typeface="Noto Sans KR Black"/>
                <a:cs typeface="Noto Sans KR Black"/>
              </a:rPr>
              <a:t>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71391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말로 시키면 파일이 나옵니다.</a:t>
            </a:r>
            <a:br/>
            <a:r>
              <a:rPr sz="2227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오늘 만든 결과물은 내 노트북 폴더에 남습니다.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18839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모든 제품 정보는 2026-08-04 공식 문서 확인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093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말해주는 AI, 대신 해주는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35358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635358"/>
            <a:ext cx="5419725" cy="438379"/>
          </a:xfrm>
          <a:prstGeom prst="rect">
            <a:avLst/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635358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803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18803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방법을 설명해준다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3404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3404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결과는 대화창 안의 글자다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8004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88004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내가 복사해서 한글에 붙여넣는다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635358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635358"/>
            <a:ext cx="5419725" cy="438379"/>
          </a:xfrm>
          <a:prstGeom prst="rect">
            <a:avLst/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775" y="2635358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코워크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18803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18803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내가 지정한 폴더를 </a:t>
            </a:r>
            <a:r>
              <a:rPr sz="141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직접 연다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3404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3404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결과가 폴더 안에 파일로 생긴다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88004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88004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업로드도 다운로드도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6927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오늘 강의는 이 한 칸 차이 위에 서 있습니다.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8875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오늘 들고 나갈 4가지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134154"/>
            <a:ext cx="5419725" cy="1315688"/>
          </a:xfrm>
          <a:prstGeom prst="roundRect">
            <a:avLst>
              <a:gd name="adj" fmla="val 1158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9150" y="3381804"/>
            <a:ext cx="4924425" cy="82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29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두 시간 뒤,</a:t>
            </a:r>
            <a:br/>
            <a:r>
              <a:rPr sz="2227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폴더에 파일이 남습니다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775" y="291474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7475" y="2914745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코워크가 깔린 노트북과 연결된 작업 폴더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775" y="3384328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7475" y="3384328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업무 산출물 1건, 가정통신문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775" y="385391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853910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수업 산출물 1건, 다음 단원 학습지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775" y="4323493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323493"/>
            <a:ext cx="5153025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내 반복 업무를 적은 4단계 워크플로 문서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987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START · 5분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8225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시작 전에 세 가지만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08246"/>
            <a:ext cx="3619500" cy="1774469"/>
          </a:xfrm>
          <a:prstGeom prst="roundRect">
            <a:avLst>
              <a:gd name="adj" fmla="val 2147"/>
            </a:avLst>
          </a:prstGeom>
          <a:solidFill>
            <a:srgbClr val="B0745C">
              <a:alpha val="10000"/>
            </a:srgbClr>
          </a:solidFill>
          <a:ln w="9525">
            <a:solidFill>
              <a:srgbClr val="B0745C"/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97969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필수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237786"/>
            <a:ext cx="3314700" cy="880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유료 구독</a:t>
            </a:r>
            <a:br/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Pro·Max·Team·Enterprise. 무료 계정은 코워크가 아예 안 열립니다.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0" y="2808246"/>
            <a:ext cx="3619500" cy="1774469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8650" y="297969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8650" y="3237786"/>
            <a:ext cx="33147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데스크톱 앱</a:t>
            </a:r>
            <a:br/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윈도우와 맥 모두 됩니다. 로컬 파일을 만지려면 앱이 켜져 있어야 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808246"/>
            <a:ext cx="3619500" cy="1774469"/>
          </a:xfrm>
          <a:prstGeom prst="roundRect">
            <a:avLst>
              <a:gd name="adj" fmla="val 214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3400" y="297969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3237786"/>
            <a:ext cx="3314700" cy="880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예제 폴더</a:t>
            </a:r>
            <a:br/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배포한 압축을 바탕화면에 풀어두세요.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9226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무료 계정으로 오신 분은 지금 알려주세요. 옆자리와 한 대로 보시면 됩니다.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[R1]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4"/>
              </a:rPr>
              <a:t>[R3]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실습 ①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설치하고 첫 화면까지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claude.com/download 에서 데스크톱 앱을 받습니다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설치하고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유료 계정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으로 로그인합니다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입력창에서 코워크를 고릅니다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화면이 뜨면 손 들어주세요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학교 노트북이라 설치가 막히는 분은 알려주세요. 웹으로도 일부는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0324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PART 1 · 코워크가 일하는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7562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세 군데만 보면 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시킬 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1156"/>
            <a:ext cx="33147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할 일을 말로 적는 입력창입니다.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865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맡길 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865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작업할 폴더를 고르는 자리입니다. 여기가 오늘의 핵심입니다.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101616"/>
            <a:ext cx="3619500" cy="1187729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3400" y="3273066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지켜볼 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3400" y="3531156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코워크가 무슨 파일을 건드리는지 단계별로 보여주는 자리입니다.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49889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화면 배치는 업데이트로 바뀝니다. 지금 여러분 화면 기준으로 같이 찾아보겠습니다.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7809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폴더를 맡긴다는 게 무슨 뜻인가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04088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304088"/>
            <a:ext cx="47625" cy="104184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49458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읽습니다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8216" y="2494588"/>
            <a:ext cx="1283684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8216" y="2494588"/>
            <a:ext cx="1283684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업로드 없이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878826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폴더 안의 공문, 계획서, 명단을 열어서 내용을 봅니다. 파일을 하나씩 올릴 필요가 없습니다.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441182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441182"/>
            <a:ext cx="47625" cy="139236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631682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고칩니다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49422" y="3631682"/>
            <a:ext cx="1542478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49422" y="3631682"/>
            <a:ext cx="1542478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되돌릴 수 있게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01592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기존 파일을 수정하고 새 파일을 만듭니다. 무엇을 건드릴지 먼저 보여주고 진행합니다.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349677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폴더마다 지켜야 할 규칙을 미리 적어둘 수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502404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고른 폴더 밖으로는 나가지 않습니다.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71718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이런 파일로 </a:t>
            </a:r>
            <a:r>
              <a:rPr sz="2804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나옵니다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DOCX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28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41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93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715976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830276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📽️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0650" y="3135076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PPTX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TXT · 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528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28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🗃️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80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41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341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🖼️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93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이미지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3516049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630349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0650" y="3935149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JSON · XML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4304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한글 확장자는 이 목록에 없습니다. 뒤에서 따로 다루겠습니다.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1511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시키기 전에 네 가지를 정합니다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541108"/>
            <a:ext cx="11049000" cy="4107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233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무엇을</a:t>
            </a:r>
            <a:r>
              <a:rPr sz="2310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어디 자료로</a:t>
            </a:r>
            <a:r>
              <a:rPr sz="2310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어떤 형식으로</a:t>
            </a:r>
            <a:r>
              <a:rPr sz="2310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+</a:t>
            </a:r>
            <a:r>
              <a:rPr sz="2310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무엇을 확인할지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3047076"/>
            <a:ext cx="11049000" cy="1549451"/>
          </a:xfrm>
          <a:prstGeom prst="roundRect">
            <a:avLst>
              <a:gd name="adj" fmla="val 2458"/>
            </a:avLst>
          </a:prstGeom>
          <a:solidFill>
            <a:srgbClr val="21334A"/>
          </a:solidFill>
          <a:ln w="9525">
            <a:solidFill>
              <a:srgbClr val="21334A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3237576"/>
            <a:ext cx="10591800" cy="116845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3학년 2반 현장체험학습 가정통신문을 써줘.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자료는 이 폴더의 체험학습_계획.pdf 를 쓰고,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학부모가 읽을 A4 한 장 분량 워드 파일로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날짜와 준비물은 계획서 원문 그대로 옮기고, 지어내지 마.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8702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네 번째 줄이 가장 중요합니다. 검수 기준을 미리 주면 지어내는 일이 줄어듭니다.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3101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맡겨두되 세 곳에서 멈춥니다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5701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81172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81172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77131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시작 전에 어떤 파일을 건드릴지 목록을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29028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44499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44499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40458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중간에 엉뚱한 폴더로 가면 바로 세웁니다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92355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407826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407826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403785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끝나면 만들어진 파일을 열어서 눈으로 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67112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첫날은 원본 폴더를 복사해두고 사본으로 실습하세요.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681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실습 ② · 10분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5919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폴더 연결하고 파일 하나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8518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89948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89948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89955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바탕화면의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코워크실습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 폴더를 연결합니다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37573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49003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49003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49010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"이 폴더에 뭐가 들어 있는지 정리해줘"라고 시킵니다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96628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08058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08058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08065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"목록을 폴더목록.md 파일로 저장해줘"를 이어서 시킵니다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55683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67113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67113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67120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탐색기에서 그 파일이 생겼는지 직접 확인합니다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35529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PART 2 · 업무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07906"/>
            <a:ext cx="11049000" cy="391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085"/>
              </a:lnSpc>
              <a:spcBef>
                <a:spcPts val="0"/>
              </a:spcBef>
              <a:spcAft>
                <a:spcPts val="0"/>
              </a:spcAft>
            </a:pPr>
            <a:r>
              <a:rPr sz="2804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어디에 쓸까 </a:t>
            </a:r>
            <a:r>
              <a:rPr sz="2804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여덟 자리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852165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966465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✉️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271265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가정통신문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800" y="2852165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2800" y="2966465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050" y="3271265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공문 요약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2852165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100" y="2966465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🗒️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9350" y="3271265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회의록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852165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966465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0650" y="3271265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명단·표 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3652237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" y="3766537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071337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행사 계획서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2800" y="3652237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2800" y="3766537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8050" y="4071337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안내 문자 초안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4100" y="3652237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34100" y="3766537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9350" y="4071337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물품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3652237"/>
            <a:ext cx="2705100" cy="72387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766537"/>
            <a:ext cx="2705100" cy="2847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560" b="0" i="0" u="none">
                <a:solidFill>
                  <a:srgbClr val="B0745C"/>
                </a:solidFill>
                <a:latin typeface="Segoe UI Emoji"/>
                <a:ea typeface="Segoe UI Emoji"/>
                <a:cs typeface="Segoe UI Emoji"/>
              </a:rPr>
              <a:t>🗂️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0650" y="4071337"/>
            <a:ext cx="2514600" cy="3047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53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파일 정리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566610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공통점은 하나입니다. 매번 같은 모양으로 반복되는 일입니다.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127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가정통신문 한 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27268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527268"/>
            <a:ext cx="47625" cy="104184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76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넣는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48494" y="2717768"/>
            <a:ext cx="1343406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8494" y="2717768"/>
            <a:ext cx="1343406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폴더 안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02007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체험학습 계획서, 작년에 보낸 통신문, 학교 서식 파일을 폴더에 넣어둡니다.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664363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664363"/>
            <a:ext cx="47625" cy="139236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854863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받는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07288" y="3854863"/>
            <a:ext cx="1084612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07288" y="3854863"/>
            <a:ext cx="1084612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워드 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23910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날짜와 준비물이 계획서와 일치하는 A4 한 장짜리 초안이 폴더에 생깁니다.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72857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작년 통신문을 같이 넣으면 우리 학교 말투를 따라갑니다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154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복사해서 쓰는 지시문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63922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그대로 붙여 넣으세요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448554"/>
            <a:ext cx="11049000" cy="2717902"/>
          </a:xfrm>
          <a:prstGeom prst="roundRect">
            <a:avLst>
              <a:gd name="adj" fmla="val 1401"/>
            </a:avLst>
          </a:prstGeom>
          <a:solidFill>
            <a:srgbClr val="21334A"/>
          </a:solidFill>
          <a:ln w="9525">
            <a:solidFill>
              <a:srgbClr val="21334A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639054"/>
            <a:ext cx="10591800" cy="23369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이 폴더의 체험학습_계획.pdf 를 읽고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3학년 학부모에게 보낼 가정통신문 초안을 만들어줘.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같은 폴더의 작년통신문.docx 형식과 말투를 따라가고,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A4 한 장 분량 워드 파일로 저장해줘.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날짜, 장소, 준비물, 비용은 계획서 원문 그대로 옮겨.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계획서에 없는 내용은 넣지 말고 빈칸으로 남겨줘.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681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실습 ③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5919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업무 산출물 하나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8518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89948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89948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89955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예제 폴더에서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체험학습_계획.pdf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 를 확인합니다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37573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49003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49003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49010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앞 슬라이드 지시문을 붙여 넣습니다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96628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08058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08058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08065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만들어진 워드 파일을 열어 날짜와 준비물을 원문과 대조합니다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55683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67113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67113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67120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빈칸으로 남은 자리를 찾아 표시합니다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093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명단과 표는 이렇게 시킵니다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35358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635358"/>
            <a:ext cx="5419725" cy="438379"/>
          </a:xfrm>
          <a:prstGeom prst="rect">
            <a:avLst/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635358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결과가 흐린 지시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803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18803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명단 좀 정리해줘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3404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3404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표로 만들어줘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8004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88004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보기 좋게 바꿔줘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775" y="2635358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0775" y="2635358"/>
            <a:ext cx="5419725" cy="438379"/>
          </a:xfrm>
          <a:prstGeom prst="rect">
            <a:avLst/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775" y="2635358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결과가 뾰족한 지시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18803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18803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반별로 나눠 엑셀 시트를 따로 만들어줘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53404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53404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제출 안 한 학생만 걸러 한 장으로 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275" y="388004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88004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두 명단에서 이름이 어긋난 곳을 찾아줘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6927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오른쪽 세 번째가 특히 유용합니다. 사람이 놓치는 걸 잘 찾습니다.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127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긴 공문을 읽는 시간을 줄입니다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27268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527268"/>
            <a:ext cx="47625" cy="139236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76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공문 한 건 요약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98726" y="2717768"/>
            <a:ext cx="1393174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8726" y="2717768"/>
            <a:ext cx="1393174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3분이면 충분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02007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우리 학교가 실제로 해야 할 일, 기한, 담당만 뽑아 표로 정리하게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35763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범위를 우리 학교로 좁히는 게 요령입니다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014883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014883"/>
            <a:ext cx="47625" cy="104184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4205383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회의 기록 정리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09143" y="4205383"/>
            <a:ext cx="1482757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9143" y="4205383"/>
            <a:ext cx="1482757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결정만 남기기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8962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협의회 기록에서 결정 사항, 담당자, 기한을 표로 뽑습니다. 발언자 이름은 빼도록 지시합니다.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0936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한글 파일은 우회해야 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35358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635358"/>
            <a:ext cx="5419725" cy="438379"/>
          </a:xfrm>
          <a:prstGeom prst="rect">
            <a:avLst/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635358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공식 지원 목록에 없는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8803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18803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HWP, HWPX 직접 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3404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3404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한글 파일 미리보기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775" y="2635358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635358"/>
            <a:ext cx="5419725" cy="438379"/>
          </a:xfrm>
          <a:prstGeom prst="rect">
            <a:avLst/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775" y="2635358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되는 우회로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18803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18803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한글에서 </a:t>
            </a:r>
            <a:r>
              <a:rPr sz="141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PDF로 저장</a:t>
            </a: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 후 폴더에 넣기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534042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534042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표가 많으면 DOCX로 저장하는 쪽이 덜 깨집니다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275" y="3880047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880047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결과를 워드로 받아 한글에서 열어 마무리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69277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공식 지원 형식 목록에 한글 확장자가 없습니다. 2026-08-04 확인 기준입니다.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[R6]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4"/>
              </a:rPr>
              <a:t>[R11]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내보내기 전에 네 줄만 확인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날짜와 숫자는 원문을 열어 눈으로 대조합니다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빈칸으로 남긴 자리를 내가 채웁니다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학생 이름과 연락처가 섞여 들어갔는지 훑습니다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문장 두세 군데를 내 말투로 고칩니다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4번을 하는 이유는 마지막 파트에서 규정과 함께 말씀드리겠습니다.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18701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PART 3 · 수업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91077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수업 준비에서 반복되는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793273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주말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2793273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다음 주 진도 확인하고 자료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3158652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301527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301527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학습지와 활동지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3666906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3809781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809781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수준이 다른 학생용 자료 따로 만들기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175160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318035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4318035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평가 문항과 </a:t>
            </a:r>
            <a:r>
              <a:rPr sz="151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채점 기준</a:t>
            </a:r>
            <a:r>
              <a:rPr sz="1518" b="0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 짜기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4683414"/>
            <a:ext cx="11049000" cy="9525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88343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네 자리 다 매주 같은 모양으로 반복됩니다. 그래서 자동화가 붙습니다.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127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학습지와 활동지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27268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527268"/>
            <a:ext cx="47625" cy="104184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76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넣는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48494" y="2717768"/>
            <a:ext cx="1343406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8494" y="2717768"/>
            <a:ext cx="1343406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내 수업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02007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교과서 해당 단원 PDF, 성취기준, 지난주에 쓴 학습지를 폴더에 넣습니다.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664363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664363"/>
            <a:ext cx="47625" cy="139236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854863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받는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07288" y="3854863"/>
            <a:ext cx="1084612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07288" y="3854863"/>
            <a:ext cx="1084612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워드 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23910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학습 목표, 활동 순서, 관찰 기록란, 마무리 질문이 들어간 A4 한 장 학습지가 나옵니다.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72857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지난주 학습지를 넣으면 내 수업 틀을 그대로 따라옵니다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127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평가 문항과 채점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27268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527268"/>
            <a:ext cx="47625" cy="104184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76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문항 만들기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9143" y="2717768"/>
            <a:ext cx="1482757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9143" y="2717768"/>
            <a:ext cx="1482757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성취기준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02007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성취기준을 주고 그에 맞는 문항을 만들게 합니다. 문항마다 어느 성취기준인지 표시하도록 시킵니다.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664363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664363"/>
            <a:ext cx="47625" cy="139236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854863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채점 기준표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55665" y="3854863"/>
            <a:ext cx="736235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5665" y="3854863"/>
            <a:ext cx="736235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3단계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23910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같은 문항으로 잘함, 보통, 노력 요함 세 단계 서술을 만듭니다. 표로 받으면 그대로 쓰기 좋습니다.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72857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기준표가 먼저 있으면 채점 시간이 크게 줄어듭니다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421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코워크가 특히 잘하는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86798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같은 자료를 세 벌로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371430"/>
            <a:ext cx="11049000" cy="2425789"/>
          </a:xfrm>
          <a:prstGeom prst="roundRect">
            <a:avLst>
              <a:gd name="adj" fmla="val 1570"/>
            </a:avLst>
          </a:prstGeom>
          <a:solidFill>
            <a:srgbClr val="21334A"/>
          </a:solidFill>
          <a:ln w="9525">
            <a:solidFill>
              <a:srgbClr val="21334A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561930"/>
            <a:ext cx="10591800" cy="20447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방금 만든 학습지를 세 가지 버전으로 나눠 저장해줘.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기초: 글자 수를 줄이고 예시를 하나 더 넣어줘.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기본: 지금 그대로 둬.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심화: 스스로 생각해볼 질문을 두 개 더 붙여줘.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파일 이름은 학습지_기초, 학습지_기본, 학습지_심화 로 해줘.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8771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세 파일이 한 번에 폴더에 생깁니다. 손으로 하면 가장 지루한 작업입니다.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681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실습 ④ · 12분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5919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수업 산출물 하나 만들기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8518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89948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89948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89955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예제 폴더의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단원자료.pdf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 와 성취기준 파일을 확인합니다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37573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49003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49003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49010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A4 한 장짜리 학습지를 워드로 만들라고 시킵니다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96628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408058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408058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08065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앞 슬라이드 지시문으로 세 수준 버전을 뽑습니다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55683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67113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67113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67120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기초 버전을 열어 우리 반 학생이 읽을 수 있는지 봅니다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0127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내 자료를 물려주면 달라집니다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527268"/>
            <a:ext cx="11049000" cy="1041844"/>
          </a:xfrm>
          <a:prstGeom prst="roundRect">
            <a:avLst>
              <a:gd name="adj" fmla="val 365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527268"/>
            <a:ext cx="47625" cy="104184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717768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진도표를 넣으면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08216" y="2717768"/>
            <a:ext cx="1283684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08216" y="2717768"/>
            <a:ext cx="1283684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차시 단위로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102007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몇 주차에 어느 단원인지 알기 때문에, 다음 차시 자료를 미리 만들어달라고 시킬 수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664363"/>
            <a:ext cx="11049000" cy="1392364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664363"/>
            <a:ext cx="47625" cy="1392364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3854863"/>
            <a:ext cx="7202424" cy="308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25"/>
              </a:lnSpc>
              <a:spcBef>
                <a:spcPts val="0"/>
              </a:spcBef>
              <a:spcAft>
                <a:spcPts val="0"/>
              </a:spcAft>
            </a:pPr>
            <a:r>
              <a:rPr sz="1732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지난 자료를 넣으면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7567" y="3854863"/>
            <a:ext cx="1144333" cy="318516"/>
          </a:xfrm>
          <a:prstGeom prst="roundRect">
            <a:avLst>
              <a:gd name="adj" fmla="val 50000"/>
            </a:avLst>
          </a:prstGeom>
          <a:solidFill>
            <a:srgbClr val="90966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7567" y="3854863"/>
            <a:ext cx="1144333" cy="318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sz="1567" b="1" i="0" u="none">
                <a:solidFill>
                  <a:srgbClr val="909666"/>
                </a:solidFill>
                <a:latin typeface="Consolas"/>
                <a:ea typeface="Consolas"/>
                <a:cs typeface="Consolas"/>
              </a:rPr>
              <a:t>내 틀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239101"/>
            <a:ext cx="10591800" cy="2766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452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내가 쓰던 서식과 말투를 따라갑니다. 폴더가 쌓일수록 손볼 곳이 줄어듭니다.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72857"/>
            <a:ext cx="10591800" cy="293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한 학기 자료가 모인 폴더 하나가 가장 강한 준비물입니다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수업 자료는 이 네 가지를 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성취기준과 실제로 맞는지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우리 반 아이들 수준에서 읽히는지 소리 내어 읽어봅니다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사실 관계와 예시가 교과서와 어긋나지 않는지 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활동 시간이 40분 안에 들어가는지 계산합니다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4번은 자주 틀립니다. 활동을 넉넉하게 잡는 경향이 있습니다.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40688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PART 4 · 반복 가능하게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1306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자동화라는 말의 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548585"/>
            <a:ext cx="8572500" cy="1307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148"/>
              </a:lnSpc>
              <a:spcBef>
                <a:spcPts val="0"/>
              </a:spcBef>
              <a:spcAft>
                <a:spcPts val="0"/>
              </a:spcAft>
            </a:pPr>
            <a:r>
              <a:rPr sz="3959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“</a:t>
            </a:r>
            <a:r>
              <a:rPr sz="3959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버튼 한 번이 아니라, 매번 같은 순서로 하는 것</a:t>
            </a:r>
            <a:r>
              <a:rPr sz="3959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32390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032390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같은 자료를 매번 같은 폴더에 모읍니다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501972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501972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같은 지시문을 매번 같은 순서로 넣습니다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971555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971555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같은 기준으로 매번 검수합니다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322308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실습 ⑤ 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94685"/>
            <a:ext cx="11049000" cy="3227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310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이 칸을 채워보세요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079317"/>
            <a:ext cx="11049000" cy="3010014"/>
          </a:xfrm>
          <a:prstGeom prst="roundRect">
            <a:avLst>
              <a:gd name="adj" fmla="val 1265"/>
            </a:avLst>
          </a:prstGeom>
          <a:solidFill>
            <a:srgbClr val="21334A"/>
          </a:solidFill>
          <a:ln w="9525">
            <a:solidFill>
              <a:srgbClr val="21334A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2269817"/>
            <a:ext cx="10591800" cy="2629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반복 업무 이름: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얼마나 자주:            (매주 / 매월 / 학기마다)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1. 모을 자료:          (어느 폴더에 무슨 파일인가)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2. 넣을 지시문:        (네 가지를 채운 한 덩어리)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3. 받을 산출물:        (워드 / 엑셀 / 표)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4. 검수할 것:          (숫자? 이름? 말투?)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353" b="0" i="0" u="none">
                <a:solidFill>
                  <a:srgbClr val="EFEAE0"/>
                </a:solidFill>
                <a:latin typeface="Consolas"/>
                <a:ea typeface="Consolas"/>
                <a:cs typeface="Consolas"/>
              </a:rPr>
              <a:t>폴더 이름:             (학년도 + 목적)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279831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다 채우면 이 문서가 다음 학기의 복제 버튼입니다.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92747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한 번 만들고 계속 쓰기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18743"/>
            <a:ext cx="3619500" cy="1481099"/>
          </a:xfrm>
          <a:prstGeom prst="roundRect">
            <a:avLst>
              <a:gd name="adj" fmla="val 2572"/>
            </a:avLst>
          </a:prstGeom>
          <a:solidFill>
            <a:srgbClr val="B0745C">
              <a:alpha val="10000"/>
            </a:srgbClr>
          </a:solidFill>
          <a:ln w="9525">
            <a:solidFill>
              <a:srgbClr val="B0745C"/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99019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스킬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248282"/>
            <a:ext cx="3314700" cy="880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자주 쓰는 지시문 한 덩어리를 이름 붙여 저장합니다. 다음부터 이름만 부릅니다.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6250" y="2818743"/>
            <a:ext cx="3619500" cy="1481099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8650" y="299019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커넥터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8650" y="3248282"/>
            <a:ext cx="33147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드라이브나 메일 같은 다른 도구를 연결합니다.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818743"/>
            <a:ext cx="3619500" cy="1481099"/>
          </a:xfrm>
          <a:prstGeom prst="roundRect">
            <a:avLst>
              <a:gd name="adj" fmla="val 2572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3400" y="2990193"/>
            <a:ext cx="33147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123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플러그인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3248282"/>
            <a:ext cx="3314700" cy="8801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스킬과 커넥터를 한 꾸러미로 묶은 것입니다. 설치하면 바로 쓸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509392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셋 다 유료 플랜에 들어 있습니다. 일부 기능은 코워크에서만 동작하고 일반 채팅에서는 비활성입니다.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[R4]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82394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한 주를 이렇게 돌립니다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26138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2626138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이번 주 공문을 </a:t>
            </a:r>
            <a:r>
              <a:rPr sz="151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업무 폴더</a:t>
            </a: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에 넣고 할 일 표 하나 뽑기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991517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134392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134392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다음 단원 자료로 학습지와 수준별 세 벌 만들기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3499771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642646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642646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협의회 기록에서 결정 사항만 표로 정리하기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008025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150900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150900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평가 문항과 채점 기준표 뽑아두기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4516279"/>
            <a:ext cx="11049000" cy="9525"/>
          </a:xfrm>
          <a:prstGeom prst="rect">
            <a:avLst/>
          </a:prstGeom>
          <a:solidFill>
            <a:srgbClr val="D8D0C2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59154"/>
            <a:ext cx="552450" cy="269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4659154"/>
            <a:ext cx="10325100" cy="4415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이번 주 만든 자료를 폴더에 정리해 다음 주 재료로 남기기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024533"/>
            <a:ext cx="11049000" cy="9525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6363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실습 ⑤ · 15분 · 유일하게 내 업무로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836010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내 반복 업무 하나 설계하기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5620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2950" y="267630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26763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763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내 업무 중 매주 또는 매달 반복되는 것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하나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를 고릅니다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1525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2950" y="326685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32668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2669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앞 양식의 네 칸을 채웁니다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374310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950" y="385740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950" y="385740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85747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지시문을 실제로 넣어 한 번 돌려봅니다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333656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2950" y="4447956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950" y="444795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2050" y="4448023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결과를 보고 지시문을 고친 뒤 문서로 저장합니다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038506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학생 이름이 든 실제 파일은 아직 쓰지 마세요. 다음 장에서 이유를 말씀드립니다.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9982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다시 쓰이는 폴더의 조건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258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54011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5401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401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한 폴더에 한 가지 목적만 담습니다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0163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3066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306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1307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지시문 문서를 폴더 안에 같이 둡니다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2121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2121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128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이름에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학년도와 목적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을 넣습니다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97467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11767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1176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31183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학생 개인정보가 든 파일은 넣지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0231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2번이 핵심입니다. 지시문이 폴더 밖에 있으면 다음 학기에 못 찾습니다.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73174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마무리 · 하면 안 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045551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학생 개인정보는 넣지 않습니다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771546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771546"/>
            <a:ext cx="5419725" cy="438379"/>
          </a:xfrm>
          <a:prstGeom prst="rect">
            <a:avLst/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2771546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폴더에 두면 안 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2422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32422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이름과 학번이 붙은 명단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70230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670230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연락처, 주소, 가정 상황 기록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01623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401623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상담 기록과 개별 학생 관찰 메모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775" y="2771546"/>
            <a:ext cx="5419725" cy="1866919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0775" y="2771546"/>
            <a:ext cx="5419725" cy="438379"/>
          </a:xfrm>
          <a:prstGeom prst="rect">
            <a:avLst/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775" y="2771546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그래도 써야 한다면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275" y="332422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32422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이름을 학생1, 학생2로 바꾼 뒤 넣기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5" y="3670230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670230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숫자만 남기고 식별 정보는 지우기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4016235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4016235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작업이 끝나면 사본 폴더를 삭제하기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828965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가장 안전한 선택은 애초에 안 넣는 것입니다.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8236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생활기록부에는 쓰지 않습니다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08361"/>
            <a:ext cx="5419725" cy="1520914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808361"/>
            <a:ext cx="5419725" cy="438379"/>
          </a:xfrm>
          <a:prstGeom prst="rect">
            <a:avLst/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808361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금지된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1039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361039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AI가 만든 문장을 학생부에 </a:t>
            </a:r>
            <a:r>
              <a:rPr sz="141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그대로 옮겨 적기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07044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707044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학생 결과물에 AI 정황이 있는데 평가에 반영하기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775" y="2808361"/>
            <a:ext cx="5419725" cy="1520914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808361"/>
            <a:ext cx="5419725" cy="438379"/>
          </a:xfrm>
          <a:prstGeom prst="rect">
            <a:avLst/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775" y="2808361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확인해야 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361039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361039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기록의 근거는 수업 중 실제 관찰이어야 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707044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707044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수행평가 AI 지침은 소속 교육청 시행지침을 확인하세요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519774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훈령 본문에는 AI 조항이 없습니다. 제한은 학년도별 기재요령에 있습니다. 강의일 기준으로 소속 교육청 원문을 다시 확인하세요.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[R8]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4"/>
              </a:rPr>
              <a:t>[R9]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082365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내 대화는 학습에 쓰이나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08361"/>
            <a:ext cx="5419725" cy="1520914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808361"/>
            <a:ext cx="5419725" cy="438379"/>
          </a:xfrm>
          <a:prstGeom prst="rect">
            <a:avLst/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808361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1039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3361039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개인 계정은 </a:t>
            </a:r>
            <a:r>
              <a:rPr sz="141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내가 켠 경우에만</a:t>
            </a: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 학습에 쓰입니다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07044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707044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설정에서 끌 수 있습니다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775" y="2808361"/>
            <a:ext cx="5419725" cy="1520914"/>
          </a:xfrm>
          <a:prstGeom prst="roundRect">
            <a:avLst>
              <a:gd name="adj" fmla="val 2505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808361"/>
            <a:ext cx="5419725" cy="438379"/>
          </a:xfrm>
          <a:prstGeom prst="rect">
            <a:avLst/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775" y="2808361"/>
            <a:ext cx="5419725" cy="4383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1"/>
              </a:lnSpc>
              <a:spcBef>
                <a:spcPts val="0"/>
              </a:spcBef>
              <a:spcAft>
                <a:spcPts val="0"/>
              </a:spcAft>
            </a:pPr>
            <a:r>
              <a:rPr sz="1287" b="1" i="0" u="none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확인이 필요한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361039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3361039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학교 단위 계정은 별도 약관을 따릅니다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707044"/>
            <a:ext cx="171450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707044"/>
            <a:ext cx="4867275" cy="279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99"/>
              </a:lnSpc>
              <a:spcBef>
                <a:spcPts val="0"/>
              </a:spcBef>
              <a:spcAft>
                <a:spcPts val="0"/>
              </a:spcAft>
            </a:pPr>
            <a:r>
              <a:rPr sz="141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도입 전에 관리자가 약관 원문을 확인해야 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519774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2026-03-16 기준 개인 계정 정책입니다. 학교 계정 약관은 이번 조사에서 원문을 확인하지 못했습니다.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[R5]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61438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이 네 줄만 지키면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34037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9508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9508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45467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학생 이름과 연락처는 폴더에 넣지 않습니다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73648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128358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128358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3087948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학생부 문장은 AI가 쓴 걸 그대로 옮기지 않습니다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60691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76162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76162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72121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숫자와 날짜는 원문을 열어 대조합니다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240187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94897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94897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354487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나가는 문서는 내 말투로 두세 군데 고칩니다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987757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이 슬라이드만 캡처해서 책상에 붙여두세요.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22063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얼마나 드나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$0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무료 · 코워크 없음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6612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6612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$20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062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Pro 월 결제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725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725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$17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3175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Pro 연간 선결제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6838" y="2448058"/>
            <a:ext cx="2633662" cy="1258900"/>
          </a:xfrm>
          <a:prstGeom prst="roundRect">
            <a:avLst>
              <a:gd name="adj" fmla="val 3026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6838" y="2657608"/>
            <a:ext cx="2633662" cy="572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0"/>
              </a:spcAft>
            </a:pPr>
            <a:r>
              <a:rPr sz="429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$100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8" y="3278638"/>
            <a:ext cx="2290762" cy="1258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0" i="0" u="none">
                <a:solidFill>
                  <a:srgbClr val="7A756C"/>
                </a:solidFill>
                <a:latin typeface="Consolas"/>
                <a:ea typeface="Consolas"/>
                <a:cs typeface="Consolas"/>
              </a:rPr>
              <a:t>Max 시작 가격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89745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대부분 Pro로 충분합니다. 무료 플랜에는 코워크가 들어 있지 않습니다.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[R3]</a:t>
            </a:r>
            <a:r>
              <a:rPr sz="1023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4"/>
              </a:rPr>
              <a:t>[R2]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343819"/>
            <a:ext cx="11049000" cy="2558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221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공식 요금 페이지에 원화 표기가 없습니다. 달러로 청구되니 결제 화면에서 최종 금액을 확인하세요.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90180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가격은 2026-08-04 확인 기준입니다. 수시로 바뀝니다.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20928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안 될 때 여기부터 보세요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246924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401634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401634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098" y="2361224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코워크 메뉴가 없다. 무료 계정으로 로그인했을 가능성이 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88019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03490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03490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098" y="299449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파일을 못 읽는다. 폴더 연결이 풀렸거나 데스크톱 앱이 꺼져 있습니다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51346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668173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668173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098" y="362776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한글 파일을 못 연다. PDF나 워드로 저장해서 다시 넣습니다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146733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30144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30144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098" y="4261033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엉뚱한 폴더를 건드린다. 멈추고 폴더를 다시 지정합니다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4780002"/>
            <a:ext cx="11049000" cy="557070"/>
          </a:xfrm>
          <a:prstGeom prst="roundRect">
            <a:avLst>
              <a:gd name="adj" fmla="val 683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950" y="4934712"/>
            <a:ext cx="284798" cy="247650"/>
          </a:xfrm>
          <a:prstGeom prst="roundRect">
            <a:avLst>
              <a:gd name="adj" fmla="val 50000"/>
            </a:avLst>
          </a:prstGeom>
          <a:solidFill>
            <a:srgbClr val="909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" y="4934712"/>
            <a:ext cx="284798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28"/>
              </a:lnSpc>
              <a:spcBef>
                <a:spcPts val="0"/>
              </a:spcBef>
              <a:spcAft>
                <a:spcPts val="0"/>
              </a:spcAft>
            </a:pPr>
            <a:r>
              <a:rPr sz="1128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098" y="4894302"/>
            <a:ext cx="10287952" cy="3284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86"/>
              </a:lnSpc>
              <a:spcBef>
                <a:spcPts val="0"/>
              </a:spcBef>
              <a:spcAft>
                <a:spcPts val="0"/>
              </a:spcAft>
            </a:pPr>
            <a:r>
              <a:rPr sz="1567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결과가 그럴듯한데 틀렸다. 원문 대조를 건너뛴 경우입니다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2300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다음 30일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64899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2950" y="276329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276329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76336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오늘 저녁, 만든 폴더에 </a:t>
            </a:r>
            <a:r>
              <a:rPr sz="1551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내 자료 세 개</a:t>
            </a: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를 더 넣습니다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323954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2950" y="33538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335384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35391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이번 주 안에, 실습 ⑤에서 적은 워크플로를 한 번 그대로 돌립니다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83009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" y="394439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394439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94446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2주 안에, 학교 정보 담당자에게 계정 정책을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4420648"/>
            <a:ext cx="11049000" cy="5143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950" y="4534948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213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453494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53"/>
              </a:lnSpc>
              <a:spcBef>
                <a:spcPts val="0"/>
              </a:spcBef>
              <a:spcAft>
                <a:spcPts val="0"/>
              </a:spcAft>
            </a:pPr>
            <a:r>
              <a:rPr sz="1353" b="1" i="0" u="none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4535014"/>
            <a:ext cx="10287000" cy="2856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48"/>
              </a:lnSpc>
              <a:spcBef>
                <a:spcPts val="0"/>
              </a:spcBef>
              <a:spcAft>
                <a:spcPts val="0"/>
              </a:spcAft>
            </a:pPr>
            <a:r>
              <a:rPr sz="1551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한 달 안에, 동학년 선생님 한 분에게 폴더 하나를 보여줍니다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9081"/>
            <a:ext cx="110490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919"/>
              </a:lnSpc>
              <a:spcBef>
                <a:spcPts val="0"/>
              </a:spcBef>
              <a:spcAft>
                <a:spcPts val="0"/>
              </a:spcAft>
            </a:pPr>
            <a:r>
              <a:rPr sz="8250" b="1" i="0" u="none">
                <a:solidFill>
                  <a:srgbClr val="21334A"/>
                </a:solidFill>
                <a:latin typeface="Noto Sans KR Black"/>
                <a:ea typeface="Noto Sans KR Black"/>
                <a:cs typeface="Noto Sans KR Black"/>
              </a:rPr>
              <a:t>여기까지입니다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08078"/>
            <a:ext cx="11049000" cy="7920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18"/>
              </a:lnSpc>
              <a:spcBef>
                <a:spcPts val="0"/>
              </a:spcBef>
              <a:spcAft>
                <a:spcPts val="0"/>
              </a:spcAft>
            </a:pPr>
            <a:r>
              <a:rPr sz="2227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오늘 만든 폴더는 지우지 마세요.</a:t>
            </a:r>
            <a:br/>
            <a:r>
              <a:rPr sz="2227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다음 단원 자료를 넣는 순간부터 값을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83997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83997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배포 폴더에 예제 파일, 지시문 모음, 검수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53579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53579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안 될 때 볼 곳은 38번 슬라이드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23162"/>
            <a:ext cx="2667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23162"/>
            <a:ext cx="107823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질문 받겠습니다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188392"/>
            <a:ext cx="11049000" cy="3457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3E3D39"/>
                </a:solidFill>
                <a:latin typeface="Noto Sans KR"/>
                <a:ea typeface="Noto Sans KR"/>
                <a:cs typeface="Noto Sans KR"/>
              </a:rPr>
              <a:t>2026-08-04 확인 기준 · 제품 정보는 강의일에 다시 확인하세요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SOURCES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[R1]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Get started with Claude Cowork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Anthropic 도움말 · 날짜 미표기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[R2]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Claude Cowork 제품 페이지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Anthropic · 날짜 미표기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[R3]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Claude 요금제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Anthropic · 날짜 미표기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[R4]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Use plugins in Claude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Anthropic 도움말 · 날짜 미표기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[R5]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Is my data used for model training?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Anthropic Privacy Center · 2026-03-16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[R6]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What kinds of documents can I upload to Claude.ai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Anthropic 도움말 · 날짜 미표기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bg-warm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69455"/>
            <a:ext cx="11049000" cy="1818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2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 u="none" spc="205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SOURCES ·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941832"/>
            <a:ext cx="11049000" cy="4840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811"/>
              </a:lnSpc>
              <a:spcBef>
                <a:spcPts val="0"/>
              </a:spcBef>
              <a:spcAft>
                <a:spcPts val="0"/>
              </a:spcAft>
            </a:pPr>
            <a:r>
              <a:rPr sz="3465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출처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67828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67828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5325" y="178212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[R7]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2026학년도 초등학교 학교생활기록부 기재요령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17개 시도교육청 · 2026-02 · 스캔 PDF라 본문 미확인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3"/>
              </a:rPr>
              <a:t>[원문]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438743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38743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325" y="2553043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[R8]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2026 학생부 기재요령 확정, AI 기록 금지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한국대학신문 · 2026-02-23 · 기재요령 원문을 대신한 보도 근거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4"/>
              </a:rPr>
              <a:t>[원문]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209658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09658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325" y="3323958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[R9]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학교생활기록 작성 및 관리지침 (교육부훈령 제555호)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교육부 · 2026-02-12 개정, 2026-03-01 시행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5"/>
              </a:rPr>
              <a:t>[원문]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980574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980574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325" y="4094874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[R10]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수행평가 시 AI 활용 관리 방안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교육부·전국 시도교육청 · 2025-12-23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6"/>
              </a:rPr>
              <a:t>[원문]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751489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" y="4751489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" y="4865789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[R11]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HWPX 미리보기 지원 요청 (not planned 종료)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GitHub anthropics/claude-code · 날짜 미표기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7"/>
              </a:rPr>
              <a:t>[원문]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5522405"/>
            <a:ext cx="11049000" cy="666140"/>
          </a:xfrm>
          <a:prstGeom prst="roundRect">
            <a:avLst>
              <a:gd name="adj" fmla="val 5719"/>
            </a:avLst>
          </a:prstGeom>
          <a:solidFill>
            <a:srgbClr val="FFFFFF"/>
          </a:solidFill>
          <a:ln w="9525">
            <a:solidFill>
              <a:srgbClr val="D8D0C2">
                <a:alpha val="0"/>
              </a:srgbClr>
            </a:solidFill>
          </a:ln>
          <a:effectLst>
            <a:outerShdw blurRad="152400" dist="57150" dir="5400000" rotWithShape="0">
              <a:srgbClr val="503C28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522405"/>
            <a:ext cx="38100" cy="666140"/>
          </a:xfrm>
          <a:prstGeom prst="rect">
            <a:avLst/>
          </a:prstGeom>
          <a:solidFill>
            <a:srgbClr val="B07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" y="5636705"/>
            <a:ext cx="10801350" cy="437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B0745C"/>
                </a:solidFill>
                <a:latin typeface="Consolas"/>
                <a:ea typeface="Consolas"/>
                <a:cs typeface="Consolas"/>
              </a:rPr>
              <a:t>[R12] </a:t>
            </a:r>
            <a:r>
              <a:rPr sz="1188" b="1" i="0" u="none">
                <a:solidFill>
                  <a:srgbClr val="21334A"/>
                </a:solidFill>
                <a:latin typeface="Noto Sans KR"/>
                <a:ea typeface="Noto Sans KR"/>
                <a:cs typeface="Noto Sans KR"/>
              </a:rPr>
              <a:t>올해부터 바뀌는 중고등학교 수행평가 AI 활용 지침</a:t>
            </a:r>
            <a:br/>
            <a:r>
              <a:rPr sz="1188" b="0" i="0" u="none">
                <a:solidFill>
                  <a:srgbClr val="7A756C"/>
                </a:solidFill>
                <a:latin typeface="Noto Sans KR"/>
                <a:ea typeface="Noto Sans KR"/>
                <a:cs typeface="Noto Sans KR"/>
              </a:rPr>
              <a:t>대한민국 정책브리핑 · 2026  </a:t>
            </a:r>
            <a:r>
              <a:rPr sz="1188" b="0" i="0" u="none">
                <a:solidFill>
                  <a:srgbClr val="B0745C"/>
                </a:solidFill>
                <a:latin typeface="Noto Sans KR"/>
                <a:ea typeface="Noto Sans KR"/>
                <a:cs typeface="Noto Sans KR"/>
                <a:hlinkClick r:id="rId8"/>
              </a:rPr>
              <a:t>[원문]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0745C"/>
      </a:hlink>
      <a:folHlink>
        <a:srgbClr val="B0745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