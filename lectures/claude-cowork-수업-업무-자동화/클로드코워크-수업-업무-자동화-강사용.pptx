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반갑습니다. 오늘 두 시간이면 여러분 노트북 폴더에 가정통신문 초안 하나, 학습지 하나, 그리고 내 반복 업무를 적어둔 문서 한 장이 남습니다. 챗GPT 써보신 분 손 들어주세요. 오늘 배울 건 그거랑 좀 다릅니다. 그 차이부터 말씀드릴게요.</a:t>
            </a:r>
          </a:p>
          <a:p>
            <a:r>
              <a:t>큐: 미리 만들어둔 완성 폴더를 옆 화면에 띄워두고 시작.</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챗GPT에 "가정통신문 써줘" 하면 글이 나오죠. 그걸 긁어다 한글에 붙이고 서식 맞추는 건 여전히 제 일이에요. 코워크는 그 뒷부분을 가져갑니다. 폴더를 열어보고, 파일을 만들고, 저장까지 합니다. 오늘 계속 나올 표현이니 기억해 주세요. 말해주는 AI가 아니라 대신 해주는 AI.</a:t>
            </a:r>
          </a:p>
          <a:p>
            <a:r>
              <a:t>큐: 오른쪽 칸 세 줄을 손으로 하나씩 짚으며.</a:t>
            </a:r>
          </a:p>
          <a:p>
            <a:r>
              <a:t>Claim C4; evidence R1, R2</a:t>
            </a:r>
          </a:p>
          <a:p>
            <a:r>
              <a:t>[R1] Get started with Claude Cowork — Anthropic 도움말 — 날짜 미표기 — https://support.claude.com/en/articles/13345190-get-started-with-claude-cowork</a:t>
            </a:r>
          </a:p>
          <a:p>
            <a:r>
              <a:t>[R2] Claude Cowork 제품 페이지 — Anthropic — 날짜 미표기 — https://claude.com/product/cowork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결과부터 보여드릴게요. 오른쪽 네 줄이 오늘 끝나면 남아 있을 것들입니다. 앞의 셋은 제가 나눠드린 예제 파일로 다 같이 만들고, 마지막 하나만 각자 본인 업무로 합니다.</a:t>
            </a:r>
          </a:p>
          <a:p>
            <a:r>
              <a:t>큐: 오른쪽 네 줄을 위에서 아래로 짚으며.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한 번 걸러야 합니다. 코워크는 유료 플랜에만 들어 있어요. 무료 계정에서는 버튼 자체가 안 보입니다. 실습 중에 "저는 그 메뉴가 없는데요" 하시는 분은 십중팔구 이 경우예요. 지금 확인해 주세요. 그리고 다행히 윈도우도 됩니다. 올해 초에는 맥만 됐는데 지금은 둘 다 됩니다.</a:t>
            </a:r>
          </a:p>
          <a:p>
            <a:r>
              <a:t>큐: 전원이 유료 구독 확인할 때까지 대기. 무료인 분은 조 편성.</a:t>
            </a:r>
          </a:p>
          <a:p>
            <a:r>
              <a:t>Claim C1, C2; evidence R1, R2, R3</a:t>
            </a:r>
          </a:p>
          <a:p>
            <a:r>
              <a:t>[R1] Get started with Claude Cowork — Anthropic 도움말 — 날짜 미표기 — https://support.claude.com/en/articles/13345190-get-started-with-claude-cowork</a:t>
            </a:r>
          </a:p>
          <a:p>
            <a:r>
              <a:t>[R2] Claude Cowork 제품 페이지 — Anthropic — 날짜 미표기 — https://claude.com/product/cowork</a:t>
            </a:r>
          </a:p>
          <a:p>
            <a:r>
              <a:t>[R3] Claude 요금제 — Anthropic — 날짜 미표기 — https://claude.com/pricing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십 분 드리겠습니다. 다운로드가 느린 분은 옆 사람 먼저 끝나면 같이 보세요. 로그인할 때 학교 계정과 개인 계정을 헷갈리시는 분이 꼭 있는데, 유료 구독이 붙어 있는 쪽으로 들어가셔야 합니다. 네 번째 줄까지 오면 손 들어주세요.</a:t>
            </a:r>
          </a:p>
          <a:p>
            <a:r>
              <a:t>큐: 강사도 같이 설치 화면 진행. 8분 지나면 남은 시간 안내.</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화면이 복잡해 보여도 오늘 쓸 건 세 군데뿐이에요. 시킬 곳, 맡길 곳, 지켜볼 곳. 특히 가운데 폴더 고르는 자리가 오늘의 전부입니다. 여기를 안 정해주면 코워크는 아무 파일도 못 봐요.</a:t>
            </a:r>
          </a:p>
          <a:p>
            <a:r>
              <a:t>큐: 강사 화면에서 세 군데를 마우스로 크게 훑는다. 배치가 바뀌었으면 그 자리에서 정정할 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겁나실 수 있어요. 내 파일을 AI가 만진다니. 그래서 두 가지만 기억하시면 됩니다. 첫째, 제가 고른 폴더 밖으로는 안 나갑니다. 둘째, 뭘 건드릴지 먼저 보여줍니다. 오늘은 예제 폴더 하나만 열어드릴 거라 학교 문서는 아직 안 넣습니다.</a:t>
            </a:r>
          </a:p>
          <a:p>
            <a:r>
              <a:t>큐: 실제로 폴더 선택 창을 열어 보여준다.</a:t>
            </a:r>
          </a:p>
          <a:p>
            <a:r>
              <a:t>Claim C4; evidence R1</a:t>
            </a:r>
          </a:p>
          <a:p>
            <a:r>
              <a:t>[R1] Get started with Claude Cowork — Anthropic 도움말 — 날짜 미표기 — https://support.claude.com/en/articles/13345190-get-started-with-claude-cowork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교사 입장에서 요긴한 건 앞의 넷이에요. 워드, PDF, 엑셀, 파워포인트. 가정통신문은 워드로, 명단 정리는 엑셀로 받으면 됩니다. 그런데 눈치채셨겠지만 여기 한글이 없어요. 그 얘기는 이따 따로 하겠습니다.</a:t>
            </a:r>
          </a:p>
          <a:p>
            <a:r>
              <a:t>큐: 마지막 줄에서 잠깐 멈춰 반응을 본다.</a:t>
            </a:r>
          </a:p>
          <a:p>
            <a:r>
              <a:t>Claim C5; evidence R2</a:t>
            </a:r>
          </a:p>
          <a:p>
            <a:r>
              <a:t>[R2] Claude Cowork 제품 페이지 — Anthropic — 날짜 미표기 — https://claude.com/product/cowork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프롬프트 잘 쓰는 법 어렵게 배우실 필요 없어요. 네 칸만 채우면 됩니다. 뭘 만들지, 어느 자료를 볼지, 어떤 파일로 줄지, 뭘 확인할지. 특히 마지막 줄을 꼭 넣으세요. "지어내지 마"라고 한 줄 적는 것만으로도 결과가 달라집니다.</a:t>
            </a:r>
          </a:p>
          <a:p>
            <a:r>
              <a:t>큐: 예문에서 네 요소를 손으로 끊어 짚는다.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자동화라고 해서 눈 감고 맡기는 게 아닙니다. 세 군데서 멈추세요. 시작 전, 중간, 끝. 특히 처음 쓰실 때는 원본 폴더를 통째로 복사해두고 사본에서 돌리세요. 저도 처음엔 그렇게 했습니다.</a:t>
            </a:r>
          </a:p>
          <a:p>
            <a:r>
              <a:t>큐: 폴더 복사하는 걸 실제로 한 번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십 분입니다. 네 번째 줄이 오늘 강의에서 제일 중요한 순간이에요. 대화창이 아니라 진짜 내 폴더에 파일이 생긴 걸 눈으로 보시는 겁니다. 그걸 확인한 분은 손 들어주세요.</a:t>
            </a:r>
          </a:p>
          <a:p>
            <a:r>
              <a:t>큐: 탐색기를 나란히 띄워놓고 파일이 생기는 걸 실시간으로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개 중에 지금 머릿속에 떠오르는 게 있으실 거예요. 저는 가정통신문이 제일 컸습니다. 한 달에 서너 번씩 쓰는데 매번 처음부터 쓰거든요. 공통점 보이시죠. 다 매번 같은 모양으로 반복되는 일이에요. 자동화가 붙는 자리가 딱 여기입니다.</a:t>
            </a:r>
          </a:p>
          <a:p>
            <a:r>
              <a:t>큐: 한두 개 짚으며 청중에게 본인 업무는 뭔지 물어본다.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요령 하나 알려드릴게요. 작년에 보낸 통신문을 같이 폴더에 넣으세요. 그러면 우리 학교가 쓰는 말투랑 형식을 보고 따라 씁니다. 백지에서 쓰는 것보다 손볼 데가 훨씬 적어요.</a:t>
            </a:r>
          </a:p>
          <a:p>
            <a:r>
              <a:t>큐: 작년 통신문을 넣었을 때와 안 넣었을 때 결과를 비교해서 보여주면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두 줄을 특히 보세요. 없는 걸 지어내지 말고 빈칸으로 남기라고 했습니다. 이렇게 시키면 제가 채워야 할 자리가 눈에 딱 보여요. 그럴듯하게 채워놓은 걸 나중에 찾아내는 것보다 훨씬 안전합니다.</a:t>
            </a:r>
          </a:p>
          <a:p>
            <a:r>
              <a:t>큐: 이 지시문을 화면에 띄워두고 실습 내내 유지.</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십이 분 드립니다. 세 번째 줄을 건너뛰지 마세요. 파일이 나왔다고 끝이 아니라 원문이랑 대조하는 것까지가 한 세트입니다. 숫자 틀린 통신문이 나가면 그 뒷수습이 훨씬 오래 걸립니다.</a:t>
            </a:r>
          </a:p>
          <a:p>
            <a:r>
              <a:t>큐: 10분 시점에 남은 시간 알림. 막힌 분 자리로 이동.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엑셀 반복 작업이 은근히 시간을 잡아먹죠. 오른쪽처럼 시키면 바로 결과가 나옵니다. 특히 마지막 줄 한번 써보세요. 명단 두 개 주고 어긋난 데 찾아달라고 하는 거. 눈으로 대조하면 삼십 분 걸리는 걸 금방 합니다. 단, 학생 이름이 든 실제 명단은 오늘 쓰지 않습니다. 그 얘기는 마지막에 하겠습니다.</a:t>
            </a:r>
          </a:p>
          <a:p>
            <a:r>
              <a:t>큐: 예제 명단 두 개로 실제 대조를 시연.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공문 스무 장을 다 읽을 필요는 없어요. 우리 학교가 실제로 해야 할 일만 표로 뽑아달라고 범위를 좁히면 세 줄로 끝나는 경우가 많습니다. 회의록도 마찬가지인데, 발언자 이름은 빼라고 꼭 넣으세요. 누가 무슨 말 했는지가 남으면 곤란한 일이 생깁니다.</a:t>
            </a:r>
          </a:p>
          <a:p>
            <a:r>
              <a:t>큐: 실제 공문 하나로 요약 시연.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 문서는 다 한글이죠. 그런데 공식 지원 목록에 한글이 없습니다. 방법은 하나, 변환입니다. 저는 표가 많은 문서는 DOCX로, 그냥 읽는 문서는 PDF로 저장해서 씁니다. 결과는 워드로 받아서 한글에서 열어 마무리하고요. 인터넷에 한글 다루는 추가 도구를 붙이는 방법도 돌아다니는데, 기본 기능이 아니라서 오늘은 다루지 않겠습니다.</a:t>
            </a:r>
          </a:p>
          <a:p>
            <a:r>
              <a:t>큐: 한글의 다른 이름으로 저장 화면을 잠깐 띄운다.</a:t>
            </a:r>
          </a:p>
          <a:p>
            <a:r>
              <a:t>Claim C8; evidence R2, R6, R11</a:t>
            </a:r>
          </a:p>
          <a:p>
            <a:r>
              <a:t>[R2] Claude Cowork 제품 페이지 — Anthropic — 날짜 미표기 — https://claude.com/product/cowork</a:t>
            </a:r>
          </a:p>
          <a:p>
            <a:r>
              <a:t>[R6] What kinds of documents can I upload to Claude.ai — Anthropic 도움말 — 날짜 미표기 — https://support.claude.com/en/articles/8241126-what-kinds-of-documents-can-i-upload-to-claude-ai</a:t>
            </a:r>
          </a:p>
          <a:p>
            <a:r>
              <a:t>[R11] HWPX 미리보기 요청 이슈(not planned 종료) — GitHub anthropics/claude-code — 날짜 미표기 — https://github.com/anthropics/claude-code/issues/25400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줄입니다. 외우실 필요 없고 이 슬라이드만 캡처해두세요. 특히 4번, 왜 굳이 내 말투로 고쳐야 하냐고 하실 텐데 그 이유는 이따 규정 얘기할 때 다시 나옵니다.</a:t>
            </a:r>
          </a:p>
          <a:p>
            <a:r>
              <a:t>큐: 4번에 잠깐 힘을 주고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수업 준비는 창의적인 일이라 자동화가 안 될 것 같지만, 뜯어보면 매주 같은 모양이 반복돼요. 진도 확인하고, 학습지 만들고, 수준별로 나누고, 평가 짜고. 이 네 자리에 코워크를 붙입니다. 수업 내용을 대신 정해준다는 얘기가 아니에요. 틀 만드는 시간을 줄이는 겁니다.</a:t>
            </a:r>
          </a:p>
          <a:p>
            <a:r>
              <a:t>큐: 네 줄을 위에서 아래로 짚으며.</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여기도 요령은 같아요. 지난주에 쓴 학습지를 같이 넣으세요. 그러면 제 수업 틀을 보고 따라 만듭니다. 활동 순서를 몇 개로 나누는지, 기록란을 어디에 두는지까지요. 처음 한 번만 잘 만들어두면 그다음부터는 계속 그 틀로 나옵니다.</a:t>
            </a:r>
          </a:p>
          <a:p>
            <a:r>
              <a:t>큐: 실제 학습지 한 장을 넣고 결과를 비교.</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채점 기준표를 미리 안 만들고 채점 들어가면 나중에 기준이 흔들리죠. 이걸 먼저 뽑아두면 채점이 훨씬 빨라집니다. 문항마다 어느 성취기준인지 표시하게 하는 것도 잊지 마세요. 나중에 결재 올릴 때 그대로 씁니다.</a:t>
            </a:r>
          </a:p>
          <a:p>
            <a:r>
              <a:t>큐: 성취기준 하나로 문항과 기준표를 한 번에 뽑는 걸 시연.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제가 제일 크게 덕 본 부분이에요. 수준별 자료 만들기. 손으로 하면 같은 걸 세 번 고쳐 쓰는 거잖아요. 한 번에 세 파일로 나옵니다. 파일 이름까지 지정하면 정리도 안 해도 되고요.</a:t>
            </a:r>
          </a:p>
          <a:p>
            <a:r>
              <a:t>큐: 세 파일이 폴더에 동시에 생기는 걸 탐색기로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십이 분입니다. 네 번째 줄이 핵심이에요. AI가 쉽게 썼다고 한 게 우리 반 기준으로 정말 쉬운지는 선생님만 압니다. 읽어보시고 어려우면 더 쉽게 라고 한 번 더 시키세요.</a:t>
            </a:r>
          </a:p>
          <a:p>
            <a:r>
              <a:t>큐: 10분 시점에 알림. 막힌 분 자리로.</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코워크는 폴더에 있는 만큼만 압니다. 그래서 폴더를 키우는 게 곧 실력이에요. 진도표 넣어두면 다음 차시를 알아서 잡고, 지난 학습지 넣어두면 제 틀을 따라옵니다. 학기 말쯤 되면 폴더 하나가 조교 한 명 값을 합니다.</a:t>
            </a:r>
          </a:p>
          <a:p>
            <a:r>
              <a:t>큐: 자료가 적을 때와 많을 때의 결과 차이를 짧게 비교.</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4번 꼭 보세요. 활동을 다섯 개씩 넣어놓는 경우가 많은데 40분 수업에 그거 다 못 합니다. 시간 계산은 선생님이 하셔야 해요. 그리고 2번, 소리 내서 읽어보시면 어색한 문장이 바로 걸립니다.</a:t>
            </a:r>
          </a:p>
          <a:p>
            <a:r>
              <a:t>큐: 2번을 실제로 한 문장 소리 내어 읽어 보인다.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자동화라고 하면 버튼 누르면 다 되는 걸 떠올리시는데, 실제로는 이겁니다. 매번 같은 순서로 하는 것. 순서가 고정되면 그때부터 시간이 줄어요. 지금까지 한 실습이 다 이 세 줄 안에 들어갑니다.</a:t>
            </a:r>
          </a:p>
          <a:p>
            <a:r>
              <a:t>큐: 세 줄을 앞의 실습과 하나씩 연결해서 짚는다.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칸만 채우면 됩니다. 어렵게 생각하지 마시고 아까 실습한 걸 그대로 적어보세요. 다 채운 문서를 폴더에 같이 넣어두면 다음 학기에 그거 열어서 순서대로 하면 끝입니다.</a:t>
            </a:r>
          </a:p>
          <a:p>
            <a:r>
              <a:t>큐: 강사가 본인 사례로 미리 채운 예시를 하나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만든 가정통신문 지시문, 매번 복사해서 붙이기 귀찮잖아요. 그걸 스킬로 저장해두면 다음부터는 이름만 부르면 됩니다. 여기까지 오시면 진짜 자동화예요. 오늘은 개념만 알고 가시고, 두 번째 연수 때 같이 만들어보겠습니다.</a:t>
            </a:r>
          </a:p>
          <a:p>
            <a:r>
              <a:t>큐: 스킬 저장 화면만 짧게 보여주고 깊이 들어가지 않는다.</a:t>
            </a:r>
          </a:p>
          <a:p>
            <a:r>
              <a:t>Claim C6, C7; evidence R4</a:t>
            </a:r>
          </a:p>
          <a:p>
            <a:r>
              <a:t>[R4] Use plugins in Claude — Anthropic 도움말 — 날짜 미표기 — https://support.claude.com/en/articles/13837440-use-plugins-in-claude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금요일 줄이 제일 중요합니다. 만든 걸 폴더에 정리해두는 것. 이걸 안 하면 매주 처음부터 다시 시작해요. 오 분이면 됩니다. 이것만 습관 되면 학기 말에 폴더가 알아서 일합니다.</a:t>
            </a:r>
          </a:p>
          <a:p>
            <a:r>
              <a:t>큐: 금요일 줄에서 잠깐 멈춘다.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십오 분입니다. 오늘 유일하게 각자 업무로 하는 시간이에요. 욕심내지 마시고 딱 하나만 고르세요. 제일 자주 하는 거, 제일 지겨운 거. 그리고 아직 실제 학생 자료는 넣지 마세요. 바로 다음 장에서 왜인지 말씀드리겠습니다.</a:t>
            </a:r>
          </a:p>
          <a:p>
            <a:r>
              <a:t>큐: 돌아다니며 개별 코칭. 12분 시점에 알림.</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2번 강조하고 싶어요. 지시문을 따로 메모장에 적어두면 다음 학기에 절대 못 찾습니다. 폴더 안에 같이 넣어두세요. 폴더를 열면 재료와 사용법이 같이 나오게. 4번은 다음 파트 전체 주제입니다.</a:t>
            </a:r>
          </a:p>
          <a:p>
            <a:r>
              <a:t>큐: 4번에서 자연스럽게 다음 파트로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이건 타협하지 마세요. 학생 이름이 든 파일은 넣지 않습니다. 꼭 필요하면 이름을 학생1, 학생2로 바꾸세요. 엑셀에서 찾아 바꾸기로 일 분이면 됩니다. 그 일 분 아끼려다 생기는 일이 훨씬 큽니다.</a:t>
            </a:r>
          </a:p>
          <a:p>
            <a:r>
              <a:t>큐: 실제로 이름을 익명화하는 걸 삼십 초 만에 시연.</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오늘 제일 조심할 대목입니다. 학생부에 AI가 쓴 문장을 그대로 넣으면 안 됩니다. 기록의 근거는 제가 수업에서 본 것이어야 해요. 그래서 아까 검수 4번, 내 말투로 고치라고 한 겁니다. 한 가지 정직하게 말씀드릴 게 있어요. 제가 시도교육청 기재요령 원문 PDF를 못 열어서 이 내용은 보도 기준으로 정리했습니다. 그리고 수행평가 AI 지침은 자료마다 중고등학교라고 하기도 하고 학교급을 안 밝히기도 합니다. 초등에 그대로 적용되는지는 소속 교육청 시행지침을 꼭 확인하세요.</a:t>
            </a:r>
          </a:p>
          <a:p>
            <a:r>
              <a:t>큐: 미확인 부분을 숨기지 말고 그대로 말할 것.</a:t>
            </a:r>
          </a:p>
          <a:p>
            <a:r>
              <a:t>Claim C10, C11, C12; evidence R8, R9, R10, R12</a:t>
            </a:r>
          </a:p>
          <a:p>
            <a:r>
              <a:t>[R8] 2026 학생부 기재요령 확정 보도 — 한국대학신문 — 2026-02-23 — https://news.unn.net/news/articleView.html?idxno=590156</a:t>
            </a:r>
          </a:p>
          <a:p>
            <a:r>
              <a:t>[R9] 학교생활기록 작성 및 관리지침(교육부훈령 제555호) — 교육부 — 2026-02-12 개정 — https://star.moe.go.kr/web/contents/m20103.do?schM=view&amp;id=108056</a:t>
            </a:r>
          </a:p>
          <a:p>
            <a:r>
              <a:t>[R10] 수행평가 시 AI 활용 관리 방안 — 교육부·시도교육청 — 2025-12-23 — https://www.moe.go.kr/boardCnts/viewRenew.do?boardID=294&amp;boardSeq=104984&amp;lev=0&amp;s=moe&amp;m=020402&amp;opType=N</a:t>
            </a:r>
          </a:p>
          <a:p>
            <a:r>
              <a:t>[R12] 중고교 수행평가 AI 활용 지침 — 대한민국 정책브리핑 — 2026 — https://www.korea.kr/news/reporterView.do?newsId=148957866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많이 물어보시는 질문이에요. 개인 계정은 제가 켠 경우에만 학습에 쓰입니다. 설정에 들어가서 꺼두시면 됩니다. 지금 한번 확인해보세요. 학교 단위로 도입한 계정은 약관이 다른데, 이건 제가 원문을 못 봐서 단정 못 하겠습니다. 학교에서 도입하실 거면 관리자분이 약관을 직접 보셔야 합니다.</a:t>
            </a:r>
          </a:p>
          <a:p>
            <a:r>
              <a:t>큐: 설정에서 학습 사용 끄는 화면을 실제로 보여준다.</a:t>
            </a:r>
          </a:p>
          <a:p>
            <a:r>
              <a:t>Claim C9; evidence R5</a:t>
            </a:r>
          </a:p>
          <a:p>
            <a:r>
              <a:t>[R5] Is my data used for model training? — Anthropic Privacy Center — 2026-03-16 — https://privacy.claude.com/en/articles/10023580-is-my-data-used-for-model-training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외울 게 많으면 안 지킵니다. 네 줄로 줄였어요. 이 슬라이드만 캡처해서 책상에 붙여두시면 됩니다. 오늘 배운 것 다 잊어도 이 네 줄만 남으면 사고는 안 납니다.</a:t>
            </a:r>
          </a:p>
          <a:p>
            <a:r>
              <a:t>큐: 네 줄을 천천히 한 번씩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하신 건 다 Pro 안에서 됩니다. 월 이만 원 정도예요. 연간으로 끊으면 조금 쌉니다. 학교에서 지원해주는 경우가 늘고 있으니 부장님께 한번 여쭤보세요. 그리고 원화 표기가 없어서 카드 청구는 환율 따라 조금 달라집니다.</a:t>
            </a:r>
          </a:p>
          <a:p>
            <a:r>
              <a:t>큐: 가격은 강의 당일 아침에 다시 확인할 것.</a:t>
            </a:r>
          </a:p>
          <a:p>
            <a:r>
              <a:t>Claim C1, C3; evidence R1, R2, R3</a:t>
            </a:r>
          </a:p>
          <a:p>
            <a:r>
              <a:t>[R1] Get started with Claude Cowork — Anthropic 도움말 — 날짜 미표기 — https://support.claude.com/en/articles/13345190-get-started-with-claude-cowork</a:t>
            </a:r>
          </a:p>
          <a:p>
            <a:r>
              <a:t>[R2] Claude Cowork 제품 페이지 — Anthropic — 날짜 미표기 — https://claude.com/product/cowork</a:t>
            </a:r>
          </a:p>
          <a:p>
            <a:r>
              <a:t>[R3] Claude 요금제 — Anthropic — 날짜 미표기 — https://claude.com/pricing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나오는 질문 다섯 개를 미리 적어뒀습니다. 열에 여덟은 1번입니다. 2번도 자주 있는데 앱을 닫아놓고 웹에서 시키는 경우입니다. 5번은 사고로 이어지는 유일한 항목이라 다시 강조합니다.</a:t>
            </a:r>
          </a:p>
          <a:p>
            <a:r>
              <a:t>큐: 이 슬라이드를 실습 시간 내내 띄워두면 질문이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멈추면 다음 주에 다 잊습니다. 오늘 저녁에 파일 세 개만 더 넣어두세요. 십 분이면 됩니다. 그리고 2번, 이번 주 안에 한 번 돌려보세요. 한 번 성공하면 그다음부터는 알아서 쓰시게 됩니다.</a:t>
            </a:r>
          </a:p>
          <a:p>
            <a:r>
              <a:t>큐: 1번은 오늘 저녁이라고 못 박는다.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만든 폴더 지우지 마세요. 그거 하나가 오늘 강의의 결과물입니다. 질문 받겠습니다. 화면에서 안 되는 게 있으면 지금 같이 보는 게 제일 빠릅니다.</a:t>
            </a:r>
          </a:p>
          <a:p>
            <a:r>
              <a:t>큐: 질문 없으면 옆자리끼리 폴더를 서로 보여주게 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출처를 다시 확인할 때는 같은 R 번호를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R7은 본문을 확인하지 못했습니다. 강의 전에 소속 교육청 기재요령 원문으로 다시 확인하세요.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upport.claude.com/en/articles/13345190-get-started-with-claude-cowork"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upport.claude.com/en/articles/13345190-get-started-with-claude-cowork" TargetMode="External"/><Relationship Id="rId4" Type="http://schemas.openxmlformats.org/officeDocument/2006/relationships/hyperlink" Target="https://claude.com/pricing" TargetMode="Externa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upport.claude.com/en/articles/13345190-get-started-with-claude-cowork"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claude.com/product/cowork"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upport.claude.com/en/articles/8241126-what-kinds-of-documents-can-i-upload-to-claude-ai" TargetMode="External"/><Relationship Id="rId4" Type="http://schemas.openxmlformats.org/officeDocument/2006/relationships/hyperlink" Target="https://github.com/anthropics/claude-code/issues/25400" TargetMode="Externa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upport.claude.com/en/articles/13837440-use-plugins-in-claude" TargetMode="Externa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news.unn.net/news/articleView.html?idxno=590156" TargetMode="External"/><Relationship Id="rId4" Type="http://schemas.openxmlformats.org/officeDocument/2006/relationships/hyperlink" Target="https://star.moe.go.kr/web/contents/m20103.do?schM=view&amp;id=108056" TargetMode="Externa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privacy.claude.com/en/articles/10023580-is-my-data-used-for-model-training"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claude.com/pricing" TargetMode="External"/><Relationship Id="rId4" Type="http://schemas.openxmlformats.org/officeDocument/2006/relationships/hyperlink" Target="https://claude.com/product/cowork" TargetMode="Externa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upport.claude.com/en/articles/13345190-get-started-with-claude-cowork" TargetMode="External"/><Relationship Id="rId4" Type="http://schemas.openxmlformats.org/officeDocument/2006/relationships/hyperlink" Target="https://claude.com/product/cowork" TargetMode="External"/><Relationship Id="rId5" Type="http://schemas.openxmlformats.org/officeDocument/2006/relationships/hyperlink" Target="https://claude.com/pricing" TargetMode="External"/><Relationship Id="rId6" Type="http://schemas.openxmlformats.org/officeDocument/2006/relationships/hyperlink" Target="https://support.claude.com/en/articles/13837440-use-plugins-in-claude" TargetMode="External"/><Relationship Id="rId7" Type="http://schemas.openxmlformats.org/officeDocument/2006/relationships/hyperlink" Target="https://privacy.claude.com/en/articles/10023580-is-my-data-used-for-model-training" TargetMode="External"/><Relationship Id="rId8" Type="http://schemas.openxmlformats.org/officeDocument/2006/relationships/hyperlink" Target="https://support.claude.com/en/articles/8241126-what-kinds-of-documents-can-i-upload-to-claude-ai" TargetMode="Externa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goe.go.kr/resource/goe/na/bbs_2675/2026/02/cfa17cad-9007-4d4e-8f52-f104d1f651ce.pdf" TargetMode="External"/><Relationship Id="rId4" Type="http://schemas.openxmlformats.org/officeDocument/2006/relationships/hyperlink" Target="https://news.unn.net/news/articleView.html?idxno=590156" TargetMode="External"/><Relationship Id="rId5" Type="http://schemas.openxmlformats.org/officeDocument/2006/relationships/hyperlink" Target="https://star.moe.go.kr/web/contents/m20103.do?schM=view&amp;id=108056" TargetMode="External"/><Relationship Id="rId6" Type="http://schemas.openxmlformats.org/officeDocument/2006/relationships/hyperlink" Target="https://www.moe.go.kr/boardCnts/viewRenew.do?boardID=294&amp;boardSeq=104984&amp;lev=0&amp;s=moe&amp;m=020402&amp;opType=N" TargetMode="External"/><Relationship Id="rId7" Type="http://schemas.openxmlformats.org/officeDocument/2006/relationships/hyperlink" Target="https://github.com/anthropics/claude-code/issues/25400" TargetMode="External"/><Relationship Id="rId8" Type="http://schemas.openxmlformats.org/officeDocument/2006/relationships/hyperlink" Target="https://www.korea.kr/news/reporterView.do?newsId=148957866" TargetMode="External"/><Relationship Id="rId9"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94510"/>
            <a:ext cx="11049000" cy="234696"/>
          </a:xfrm>
          <a:prstGeom prst="rect">
            <a:avLst/>
          </a:prstGeom>
          <a:noFill/>
        </p:spPr>
        <p:txBody>
          <a:bodyPr wrap="square" lIns="0" rIns="0" tIns="0" bIns="0" anchor="t">
            <a:noAutofit/>
          </a:bodyPr>
          <a:lstStyle/>
          <a:p>
            <a:pPr algn="l">
              <a:lnSpc>
                <a:spcPts val="1848"/>
              </a:lnSpc>
              <a:spcBef>
                <a:spcPts val="0"/>
              </a:spcBef>
              <a:spcAft>
                <a:spcPts val="0"/>
              </a:spcAft>
            </a:pPr>
            <a:r>
              <a:rPr sz="1320" b="0" i="0" u="none" spc="264">
                <a:solidFill>
                  <a:srgbClr val="B0745C"/>
                </a:solidFill>
                <a:latin typeface="Consolas"/>
                <a:ea typeface="Consolas"/>
                <a:cs typeface="Consolas"/>
              </a:rPr>
              <a:t>초등교사 연수 · 90~120분 · 실습 5회</a:t>
            </a:r>
          </a:p>
        </p:txBody>
      </p:sp>
      <p:sp>
        <p:nvSpPr>
          <p:cNvPr id="4" name="TextBox 3"/>
          <p:cNvSpPr txBox="1"/>
          <p:nvPr/>
        </p:nvSpPr>
        <p:spPr>
          <a:xfrm>
            <a:off x="571500" y="2146554"/>
            <a:ext cx="11049000" cy="2011680"/>
          </a:xfrm>
          <a:prstGeom prst="rect">
            <a:avLst/>
          </a:prstGeom>
          <a:noFill/>
        </p:spPr>
        <p:txBody>
          <a:bodyPr wrap="square" lIns="0" rIns="0" tIns="0" bIns="0" anchor="t">
            <a:noAutofit/>
          </a:bodyPr>
          <a:lstStyle/>
          <a:p>
            <a:pPr algn="l">
              <a:lnSpc>
                <a:spcPts val="7919"/>
              </a:lnSpc>
              <a:spcBef>
                <a:spcPts val="0"/>
              </a:spcBef>
              <a:spcAft>
                <a:spcPts val="0"/>
              </a:spcAft>
            </a:pPr>
            <a:r>
              <a:rPr sz="8250" b="1" i="0" u="none">
                <a:solidFill>
                  <a:srgbClr val="21334A"/>
                </a:solidFill>
                <a:latin typeface="Noto Sans KR Black"/>
                <a:ea typeface="Noto Sans KR Black"/>
                <a:cs typeface="Noto Sans KR Black"/>
              </a:rPr>
              <a:t>클로드 코워크로</a:t>
            </a:r>
            <a:br/>
            <a:r>
              <a:rPr sz="8250" b="1" i="0" u="none">
                <a:solidFill>
                  <a:srgbClr val="21334A"/>
                </a:solidFill>
                <a:latin typeface="Noto Sans KR Black"/>
                <a:ea typeface="Noto Sans KR Black"/>
                <a:cs typeface="Noto Sans KR Black"/>
              </a:rPr>
              <a:t>수업과 업무 </a:t>
            </a:r>
            <a:r>
              <a:rPr sz="8250" b="1" i="0" u="none">
                <a:solidFill>
                  <a:srgbClr val="B0745C"/>
                </a:solidFill>
                <a:latin typeface="Noto Sans KR Black"/>
                <a:ea typeface="Noto Sans KR Black"/>
                <a:cs typeface="Noto Sans KR Black"/>
              </a:rPr>
              <a:t>자동화</a:t>
            </a:r>
          </a:p>
        </p:txBody>
      </p:sp>
      <p:sp>
        <p:nvSpPr>
          <p:cNvPr id="5" name="TextBox 4"/>
          <p:cNvSpPr txBox="1"/>
          <p:nvPr/>
        </p:nvSpPr>
        <p:spPr>
          <a:xfrm>
            <a:off x="571500" y="4271391"/>
            <a:ext cx="11049000" cy="792099"/>
          </a:xfrm>
          <a:prstGeom prst="rect">
            <a:avLst/>
          </a:prstGeom>
          <a:noFill/>
        </p:spPr>
        <p:txBody>
          <a:bodyPr wrap="square" lIns="0" rIns="0" tIns="0" bIns="0" anchor="t">
            <a:noAutofit/>
          </a:bodyPr>
          <a:lstStyle/>
          <a:p>
            <a:pPr algn="l">
              <a:lnSpc>
                <a:spcPts val="3118"/>
              </a:lnSpc>
              <a:spcBef>
                <a:spcPts val="0"/>
              </a:spcBef>
              <a:spcAft>
                <a:spcPts val="0"/>
              </a:spcAft>
            </a:pPr>
            <a:r>
              <a:rPr sz="2227" b="0" i="0" u="none">
                <a:solidFill>
                  <a:srgbClr val="7A756C"/>
                </a:solidFill>
                <a:latin typeface="Noto Sans KR"/>
                <a:ea typeface="Noto Sans KR"/>
                <a:cs typeface="Noto Sans KR"/>
              </a:rPr>
              <a:t>말로 시키면 파일이 나옵니다.</a:t>
            </a:r>
            <a:br/>
            <a:r>
              <a:rPr sz="2227" b="0" i="0" u="none">
                <a:solidFill>
                  <a:srgbClr val="7A756C"/>
                </a:solidFill>
                <a:latin typeface="Noto Sans KR"/>
                <a:ea typeface="Noto Sans KR"/>
                <a:cs typeface="Noto Sans KR"/>
              </a:rPr>
              <a:t>오늘 만든 결과물은 내 노트북 폴더에 남습니다.</a:t>
            </a:r>
          </a:p>
        </p:txBody>
      </p:sp>
      <p:sp>
        <p:nvSpPr>
          <p:cNvPr id="6" name="TextBox 5"/>
          <p:cNvSpPr txBox="1"/>
          <p:nvPr/>
        </p:nvSpPr>
        <p:spPr>
          <a:xfrm>
            <a:off x="571500" y="6188392"/>
            <a:ext cx="110490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모든 제품 정보는 2026-08-04 공식 문서 확인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90936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말해주는 AI, 대신 해주는 AI</a:t>
            </a:r>
          </a:p>
        </p:txBody>
      </p:sp>
      <p:sp>
        <p:nvSpPr>
          <p:cNvPr id="4" name="Rounded Rectangle 3"/>
          <p:cNvSpPr/>
          <p:nvPr/>
        </p:nvSpPr>
        <p:spPr>
          <a:xfrm>
            <a:off x="571500" y="2635358"/>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635358"/>
            <a:ext cx="5419725" cy="438379"/>
          </a:xfrm>
          <a:prstGeom prst="rect">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2635358"/>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챗봇</a:t>
            </a:r>
          </a:p>
        </p:txBody>
      </p:sp>
      <p:sp>
        <p:nvSpPr>
          <p:cNvPr id="7" name="TextBox 6"/>
          <p:cNvSpPr txBox="1"/>
          <p:nvPr/>
        </p:nvSpPr>
        <p:spPr>
          <a:xfrm>
            <a:off x="762000" y="318803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8" name="TextBox 7"/>
          <p:cNvSpPr txBox="1"/>
          <p:nvPr/>
        </p:nvSpPr>
        <p:spPr>
          <a:xfrm>
            <a:off x="933450" y="318803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방법을 설명해준다</a:t>
            </a:r>
          </a:p>
        </p:txBody>
      </p:sp>
      <p:sp>
        <p:nvSpPr>
          <p:cNvPr id="9" name="TextBox 8"/>
          <p:cNvSpPr txBox="1"/>
          <p:nvPr/>
        </p:nvSpPr>
        <p:spPr>
          <a:xfrm>
            <a:off x="762000" y="3534042"/>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0" name="TextBox 9"/>
          <p:cNvSpPr txBox="1"/>
          <p:nvPr/>
        </p:nvSpPr>
        <p:spPr>
          <a:xfrm>
            <a:off x="933450" y="3534042"/>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결과는 대화창 안의 글자다</a:t>
            </a:r>
          </a:p>
        </p:txBody>
      </p:sp>
      <p:sp>
        <p:nvSpPr>
          <p:cNvPr id="11" name="TextBox 10"/>
          <p:cNvSpPr txBox="1"/>
          <p:nvPr/>
        </p:nvSpPr>
        <p:spPr>
          <a:xfrm>
            <a:off x="762000" y="388004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2" name="TextBox 11"/>
          <p:cNvSpPr txBox="1"/>
          <p:nvPr/>
        </p:nvSpPr>
        <p:spPr>
          <a:xfrm>
            <a:off x="933450" y="388004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내가 복사해서 한글에 붙여넣는다</a:t>
            </a:r>
          </a:p>
        </p:txBody>
      </p:sp>
      <p:sp>
        <p:nvSpPr>
          <p:cNvPr id="13" name="Rounded Rectangle 12"/>
          <p:cNvSpPr/>
          <p:nvPr/>
        </p:nvSpPr>
        <p:spPr>
          <a:xfrm>
            <a:off x="6200775" y="2635358"/>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0775" y="2635358"/>
            <a:ext cx="5419725" cy="438379"/>
          </a:xfrm>
          <a:prstGeom prst="rect">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0775" y="2635358"/>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코워크</a:t>
            </a:r>
          </a:p>
        </p:txBody>
      </p:sp>
      <p:sp>
        <p:nvSpPr>
          <p:cNvPr id="16" name="TextBox 15"/>
          <p:cNvSpPr txBox="1"/>
          <p:nvPr/>
        </p:nvSpPr>
        <p:spPr>
          <a:xfrm>
            <a:off x="6391275" y="318803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7" name="TextBox 16"/>
          <p:cNvSpPr txBox="1"/>
          <p:nvPr/>
        </p:nvSpPr>
        <p:spPr>
          <a:xfrm>
            <a:off x="6562725" y="318803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내가 지정한 폴더를 </a:t>
            </a:r>
            <a:r>
              <a:rPr sz="1418" b="1" i="0" u="none">
                <a:solidFill>
                  <a:srgbClr val="21334A"/>
                </a:solidFill>
                <a:latin typeface="Noto Sans KR"/>
                <a:ea typeface="Noto Sans KR"/>
                <a:cs typeface="Noto Sans KR"/>
              </a:rPr>
              <a:t>직접 연다</a:t>
            </a:r>
          </a:p>
        </p:txBody>
      </p:sp>
      <p:sp>
        <p:nvSpPr>
          <p:cNvPr id="18" name="TextBox 17"/>
          <p:cNvSpPr txBox="1"/>
          <p:nvPr/>
        </p:nvSpPr>
        <p:spPr>
          <a:xfrm>
            <a:off x="6391275" y="3534042"/>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9" name="TextBox 18"/>
          <p:cNvSpPr txBox="1"/>
          <p:nvPr/>
        </p:nvSpPr>
        <p:spPr>
          <a:xfrm>
            <a:off x="6562725" y="3534042"/>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결과가 폴더 안에 파일로 생긴다</a:t>
            </a:r>
          </a:p>
        </p:txBody>
      </p:sp>
      <p:sp>
        <p:nvSpPr>
          <p:cNvPr id="20" name="TextBox 19"/>
          <p:cNvSpPr txBox="1"/>
          <p:nvPr/>
        </p:nvSpPr>
        <p:spPr>
          <a:xfrm>
            <a:off x="6391275" y="388004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21" name="TextBox 20"/>
          <p:cNvSpPr txBox="1"/>
          <p:nvPr/>
        </p:nvSpPr>
        <p:spPr>
          <a:xfrm>
            <a:off x="6562725" y="388004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업로드도 다운로드도 없다</a:t>
            </a:r>
          </a:p>
        </p:txBody>
      </p:sp>
      <p:sp>
        <p:nvSpPr>
          <p:cNvPr id="22" name="TextBox 21"/>
          <p:cNvSpPr txBox="1"/>
          <p:nvPr/>
        </p:nvSpPr>
        <p:spPr>
          <a:xfrm>
            <a:off x="571500" y="469277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오늘 강의는 이 한 칸 차이 위에 서 있습니다.</a:t>
            </a:r>
            <a:r>
              <a:rPr sz="1023" b="0" i="0" u="none">
                <a:solidFill>
                  <a:srgbClr val="B0745C"/>
                </a:solidFill>
                <a:latin typeface="Noto Sans KR"/>
                <a:ea typeface="Noto Sans KR"/>
                <a:cs typeface="Noto Sans KR"/>
                <a:hlinkClick r:id="rId3"/>
              </a:rPr>
              <a:t>[R1]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188750"/>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오늘 들고 나갈 4가지</a:t>
            </a:r>
          </a:p>
        </p:txBody>
      </p:sp>
      <p:sp>
        <p:nvSpPr>
          <p:cNvPr id="4" name="Rounded Rectangle 3"/>
          <p:cNvSpPr/>
          <p:nvPr/>
        </p:nvSpPr>
        <p:spPr>
          <a:xfrm>
            <a:off x="571500" y="3134154"/>
            <a:ext cx="5419725" cy="1315688"/>
          </a:xfrm>
          <a:prstGeom prst="roundRect">
            <a:avLst>
              <a:gd name="adj" fmla="val 1158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9150" y="3381804"/>
            <a:ext cx="4924425" cy="820388"/>
          </a:xfrm>
          <a:prstGeom prst="rect">
            <a:avLst/>
          </a:prstGeom>
          <a:noFill/>
        </p:spPr>
        <p:txBody>
          <a:bodyPr wrap="square" lIns="0" rIns="0" tIns="0" bIns="0" anchor="t">
            <a:noAutofit/>
          </a:bodyPr>
          <a:lstStyle/>
          <a:p>
            <a:pPr algn="l">
              <a:lnSpc>
                <a:spcPts val="3229"/>
              </a:lnSpc>
              <a:spcBef>
                <a:spcPts val="0"/>
              </a:spcBef>
              <a:spcAft>
                <a:spcPts val="0"/>
              </a:spcAft>
            </a:pPr>
            <a:r>
              <a:rPr sz="2227" b="0" i="0" u="none">
                <a:solidFill>
                  <a:srgbClr val="3E3D39"/>
                </a:solidFill>
                <a:latin typeface="Noto Sans KR"/>
                <a:ea typeface="Noto Sans KR"/>
                <a:cs typeface="Noto Sans KR"/>
              </a:rPr>
              <a:t>두 시간 뒤,</a:t>
            </a:r>
            <a:br/>
            <a:r>
              <a:rPr sz="2227" b="1" i="0" u="none">
                <a:solidFill>
                  <a:srgbClr val="B0745C"/>
                </a:solidFill>
                <a:latin typeface="Noto Sans KR"/>
                <a:ea typeface="Noto Sans KR"/>
                <a:cs typeface="Noto Sans KR"/>
              </a:rPr>
              <a:t>폴더에 파일이 남습니다</a:t>
            </a:r>
          </a:p>
        </p:txBody>
      </p:sp>
      <p:sp>
        <p:nvSpPr>
          <p:cNvPr id="6" name="TextBox 5"/>
          <p:cNvSpPr txBox="1"/>
          <p:nvPr/>
        </p:nvSpPr>
        <p:spPr>
          <a:xfrm>
            <a:off x="6200775" y="2914745"/>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7" name="TextBox 6"/>
          <p:cNvSpPr txBox="1"/>
          <p:nvPr/>
        </p:nvSpPr>
        <p:spPr>
          <a:xfrm>
            <a:off x="6467475" y="2914745"/>
            <a:ext cx="5153025"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코워크가 깔린 노트북과 연결된 작업 폴더</a:t>
            </a:r>
          </a:p>
        </p:txBody>
      </p:sp>
      <p:sp>
        <p:nvSpPr>
          <p:cNvPr id="8" name="TextBox 7"/>
          <p:cNvSpPr txBox="1"/>
          <p:nvPr/>
        </p:nvSpPr>
        <p:spPr>
          <a:xfrm>
            <a:off x="6200775" y="3384328"/>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9" name="TextBox 8"/>
          <p:cNvSpPr txBox="1"/>
          <p:nvPr/>
        </p:nvSpPr>
        <p:spPr>
          <a:xfrm>
            <a:off x="6467475" y="3384328"/>
            <a:ext cx="5153025"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업무 산출물 1건, 가정통신문 초안</a:t>
            </a:r>
          </a:p>
        </p:txBody>
      </p:sp>
      <p:sp>
        <p:nvSpPr>
          <p:cNvPr id="10" name="TextBox 9"/>
          <p:cNvSpPr txBox="1"/>
          <p:nvPr/>
        </p:nvSpPr>
        <p:spPr>
          <a:xfrm>
            <a:off x="6200775" y="3853910"/>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11" name="TextBox 10"/>
          <p:cNvSpPr txBox="1"/>
          <p:nvPr/>
        </p:nvSpPr>
        <p:spPr>
          <a:xfrm>
            <a:off x="6467475" y="3853910"/>
            <a:ext cx="5153025"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수업 산출물 1건, 다음 단원 학습지</a:t>
            </a:r>
          </a:p>
        </p:txBody>
      </p:sp>
      <p:sp>
        <p:nvSpPr>
          <p:cNvPr id="12" name="TextBox 11"/>
          <p:cNvSpPr txBox="1"/>
          <p:nvPr/>
        </p:nvSpPr>
        <p:spPr>
          <a:xfrm>
            <a:off x="6200775" y="4323493"/>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13" name="TextBox 12"/>
          <p:cNvSpPr txBox="1"/>
          <p:nvPr/>
        </p:nvSpPr>
        <p:spPr>
          <a:xfrm>
            <a:off x="6467475" y="4323493"/>
            <a:ext cx="5153025"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내 반복 업무를 적은 4단계 워크플로 문서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0987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START · 5분</a:t>
            </a:r>
          </a:p>
        </p:txBody>
      </p:sp>
      <p:sp>
        <p:nvSpPr>
          <p:cNvPr id="4" name="TextBox 3"/>
          <p:cNvSpPr txBox="1"/>
          <p:nvPr/>
        </p:nvSpPr>
        <p:spPr>
          <a:xfrm>
            <a:off x="571500" y="2082251"/>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시작 전에 세 가지만 확인</a:t>
            </a:r>
          </a:p>
        </p:txBody>
      </p:sp>
      <p:sp>
        <p:nvSpPr>
          <p:cNvPr id="5" name="Rounded Rectangle 4"/>
          <p:cNvSpPr/>
          <p:nvPr/>
        </p:nvSpPr>
        <p:spPr>
          <a:xfrm>
            <a:off x="571500" y="2808246"/>
            <a:ext cx="3619500" cy="1774469"/>
          </a:xfrm>
          <a:prstGeom prst="roundRect">
            <a:avLst>
              <a:gd name="adj" fmla="val 2147"/>
            </a:avLst>
          </a:prstGeom>
          <a:solidFill>
            <a:srgbClr val="B0745C">
              <a:alpha val="10000"/>
            </a:srgbClr>
          </a:solidFill>
          <a:ln w="9525">
            <a:solidFill>
              <a:srgbClr val="B0745C"/>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979696"/>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필수</a:t>
            </a:r>
          </a:p>
        </p:txBody>
      </p:sp>
      <p:sp>
        <p:nvSpPr>
          <p:cNvPr id="7" name="TextBox 6"/>
          <p:cNvSpPr txBox="1"/>
          <p:nvPr/>
        </p:nvSpPr>
        <p:spPr>
          <a:xfrm>
            <a:off x="723900" y="3237786"/>
            <a:ext cx="3314700" cy="88011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21334A"/>
                </a:solidFill>
                <a:latin typeface="Noto Sans KR"/>
                <a:ea typeface="Noto Sans KR"/>
                <a:cs typeface="Noto Sans KR"/>
              </a:rPr>
              <a:t>유료 구독</a:t>
            </a:r>
            <a:br/>
            <a:r>
              <a:rPr sz="1650" b="0" i="0" u="none">
                <a:solidFill>
                  <a:srgbClr val="3E3D39"/>
                </a:solidFill>
                <a:latin typeface="Noto Sans KR"/>
                <a:ea typeface="Noto Sans KR"/>
                <a:cs typeface="Noto Sans KR"/>
              </a:rPr>
              <a:t>Pro·Max·Team·Enterprise. 무료 계정은 코워크가 아예 안 열립니다.</a:t>
            </a:r>
          </a:p>
        </p:txBody>
      </p:sp>
      <p:sp>
        <p:nvSpPr>
          <p:cNvPr id="8" name="Rounded Rectangle 7"/>
          <p:cNvSpPr/>
          <p:nvPr/>
        </p:nvSpPr>
        <p:spPr>
          <a:xfrm>
            <a:off x="4286250" y="2808246"/>
            <a:ext cx="3619500" cy="1774469"/>
          </a:xfrm>
          <a:prstGeom prst="roundRect">
            <a:avLst>
              <a:gd name="adj" fmla="val 2147"/>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8650" y="2979696"/>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확인</a:t>
            </a:r>
          </a:p>
        </p:txBody>
      </p:sp>
      <p:sp>
        <p:nvSpPr>
          <p:cNvPr id="10" name="TextBox 9"/>
          <p:cNvSpPr txBox="1"/>
          <p:nvPr/>
        </p:nvSpPr>
        <p:spPr>
          <a:xfrm>
            <a:off x="4438650" y="3237786"/>
            <a:ext cx="3314700" cy="117348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데스크톱 앱</a:t>
            </a:r>
            <a:br/>
            <a:r>
              <a:rPr sz="1650" b="0" i="0" u="none">
                <a:solidFill>
                  <a:srgbClr val="3E3D39"/>
                </a:solidFill>
                <a:latin typeface="Noto Sans KR"/>
                <a:ea typeface="Noto Sans KR"/>
                <a:cs typeface="Noto Sans KR"/>
              </a:rPr>
              <a:t>윈도우와 맥 모두 됩니다. 로컬 파일을 만지려면 앱이 켜져 있어야 합니다.</a:t>
            </a:r>
          </a:p>
        </p:txBody>
      </p:sp>
      <p:sp>
        <p:nvSpPr>
          <p:cNvPr id="11" name="Rounded Rectangle 10"/>
          <p:cNvSpPr/>
          <p:nvPr/>
        </p:nvSpPr>
        <p:spPr>
          <a:xfrm>
            <a:off x="8001000" y="2808246"/>
            <a:ext cx="3619500" cy="1774469"/>
          </a:xfrm>
          <a:prstGeom prst="roundRect">
            <a:avLst>
              <a:gd name="adj" fmla="val 2147"/>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3400" y="2979696"/>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준비</a:t>
            </a:r>
          </a:p>
        </p:txBody>
      </p:sp>
      <p:sp>
        <p:nvSpPr>
          <p:cNvPr id="13" name="TextBox 12"/>
          <p:cNvSpPr txBox="1"/>
          <p:nvPr/>
        </p:nvSpPr>
        <p:spPr>
          <a:xfrm>
            <a:off x="8153400" y="3237786"/>
            <a:ext cx="3314700" cy="88011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예제 폴더</a:t>
            </a:r>
            <a:br/>
            <a:r>
              <a:rPr sz="1650" b="0" i="0" u="none">
                <a:solidFill>
                  <a:srgbClr val="3E3D39"/>
                </a:solidFill>
                <a:latin typeface="Noto Sans KR"/>
                <a:ea typeface="Noto Sans KR"/>
                <a:cs typeface="Noto Sans KR"/>
              </a:rPr>
              <a:t>배포한 압축을 바탕화면에 풀어두세요.</a:t>
            </a:r>
          </a:p>
        </p:txBody>
      </p:sp>
      <p:sp>
        <p:nvSpPr>
          <p:cNvPr id="14" name="TextBox 13"/>
          <p:cNvSpPr txBox="1"/>
          <p:nvPr/>
        </p:nvSpPr>
        <p:spPr>
          <a:xfrm>
            <a:off x="571500" y="4792266"/>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무료 계정으로 오신 분은 지금 알려주세요. 옆자리와 한 대로 보시면 됩니다.</a:t>
            </a:r>
            <a:r>
              <a:rPr sz="1023" b="0" i="0" u="none">
                <a:solidFill>
                  <a:srgbClr val="B0745C"/>
                </a:solidFill>
                <a:latin typeface="Noto Sans KR"/>
                <a:ea typeface="Noto Sans KR"/>
                <a:cs typeface="Noto Sans KR"/>
                <a:hlinkClick r:id="rId3"/>
              </a:rPr>
              <a:t>[R1]</a:t>
            </a:r>
            <a:r>
              <a:rPr sz="1023" b="0" i="0" u="none">
                <a:solidFill>
                  <a:srgbClr val="B0745C"/>
                </a:solidFill>
                <a:latin typeface="Noto Sans KR"/>
                <a:ea typeface="Noto Sans KR"/>
                <a:cs typeface="Noto Sans KR"/>
                <a:hlinkClick r:id="rId4"/>
              </a:rPr>
              <a:t>[R3]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56363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실습 ① · 10분</a:t>
            </a:r>
          </a:p>
        </p:txBody>
      </p:sp>
      <p:sp>
        <p:nvSpPr>
          <p:cNvPr id="4" name="TextBox 3"/>
          <p:cNvSpPr txBox="1"/>
          <p:nvPr/>
        </p:nvSpPr>
        <p:spPr>
          <a:xfrm>
            <a:off x="571500" y="1836010"/>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설치하고 첫 화면까지</a:t>
            </a:r>
          </a:p>
        </p:txBody>
      </p:sp>
      <p:sp>
        <p:nvSpPr>
          <p:cNvPr id="5" name="Rounded Rectangle 4"/>
          <p:cNvSpPr/>
          <p:nvPr/>
        </p:nvSpPr>
        <p:spPr>
          <a:xfrm>
            <a:off x="571500" y="256200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2950" y="267630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267630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8" name="TextBox 7"/>
          <p:cNvSpPr txBox="1"/>
          <p:nvPr/>
        </p:nvSpPr>
        <p:spPr>
          <a:xfrm>
            <a:off x="1162050" y="267637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claude.com/download 에서 데스크톱 앱을 받습니다</a:t>
            </a:r>
          </a:p>
        </p:txBody>
      </p:sp>
      <p:sp>
        <p:nvSpPr>
          <p:cNvPr id="9" name="Rounded Rectangle 8"/>
          <p:cNvSpPr/>
          <p:nvPr/>
        </p:nvSpPr>
        <p:spPr>
          <a:xfrm>
            <a:off x="571500" y="315255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950" y="326685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326685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2" name="TextBox 11"/>
          <p:cNvSpPr txBox="1"/>
          <p:nvPr/>
        </p:nvSpPr>
        <p:spPr>
          <a:xfrm>
            <a:off x="1162050" y="326692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설치하고 </a:t>
            </a:r>
            <a:r>
              <a:rPr sz="1551" b="1" i="0" u="none">
                <a:solidFill>
                  <a:srgbClr val="21334A"/>
                </a:solidFill>
                <a:latin typeface="Noto Sans KR"/>
                <a:ea typeface="Noto Sans KR"/>
                <a:cs typeface="Noto Sans KR"/>
              </a:rPr>
              <a:t>유료 계정</a:t>
            </a:r>
            <a:r>
              <a:rPr sz="1551" b="0" i="0" u="none">
                <a:solidFill>
                  <a:srgbClr val="3E3D39"/>
                </a:solidFill>
                <a:latin typeface="Noto Sans KR"/>
                <a:ea typeface="Noto Sans KR"/>
                <a:cs typeface="Noto Sans KR"/>
              </a:rPr>
              <a:t>으로 로그인합니다</a:t>
            </a:r>
          </a:p>
        </p:txBody>
      </p:sp>
      <p:sp>
        <p:nvSpPr>
          <p:cNvPr id="13" name="Rounded Rectangle 12"/>
          <p:cNvSpPr/>
          <p:nvPr/>
        </p:nvSpPr>
        <p:spPr>
          <a:xfrm>
            <a:off x="571500" y="374310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950" y="385740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2950" y="385740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6" name="TextBox 15"/>
          <p:cNvSpPr txBox="1"/>
          <p:nvPr/>
        </p:nvSpPr>
        <p:spPr>
          <a:xfrm>
            <a:off x="1162050" y="385747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입력창에서 코워크를 고릅니다</a:t>
            </a:r>
          </a:p>
        </p:txBody>
      </p:sp>
      <p:sp>
        <p:nvSpPr>
          <p:cNvPr id="17" name="Rounded Rectangle 16"/>
          <p:cNvSpPr/>
          <p:nvPr/>
        </p:nvSpPr>
        <p:spPr>
          <a:xfrm>
            <a:off x="571500" y="433365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2950" y="444795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950" y="444795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20" name="TextBox 19"/>
          <p:cNvSpPr txBox="1"/>
          <p:nvPr/>
        </p:nvSpPr>
        <p:spPr>
          <a:xfrm>
            <a:off x="1162050" y="444802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화면이 뜨면 손 들어주세요</a:t>
            </a:r>
          </a:p>
        </p:txBody>
      </p:sp>
      <p:sp>
        <p:nvSpPr>
          <p:cNvPr id="21" name="TextBox 20"/>
          <p:cNvSpPr txBox="1"/>
          <p:nvPr/>
        </p:nvSpPr>
        <p:spPr>
          <a:xfrm>
            <a:off x="571500" y="5038506"/>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학교 노트북이라 설치가 막히는 분은 알려주세요. 웹으로도 일부는 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10324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PART 1 · 코워크가 일하는 방식</a:t>
            </a:r>
          </a:p>
        </p:txBody>
      </p:sp>
      <p:sp>
        <p:nvSpPr>
          <p:cNvPr id="4" name="TextBox 3"/>
          <p:cNvSpPr txBox="1"/>
          <p:nvPr/>
        </p:nvSpPr>
        <p:spPr>
          <a:xfrm>
            <a:off x="571500" y="2375621"/>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세 군데만 보면 됩니다</a:t>
            </a:r>
          </a:p>
        </p:txBody>
      </p:sp>
      <p:sp>
        <p:nvSpPr>
          <p:cNvPr id="5" name="Rounded Rectangle 4"/>
          <p:cNvSpPr/>
          <p:nvPr/>
        </p:nvSpPr>
        <p:spPr>
          <a:xfrm>
            <a:off x="571500" y="3101616"/>
            <a:ext cx="3619500" cy="1187729"/>
          </a:xfrm>
          <a:prstGeom prst="roundRect">
            <a:avLst>
              <a:gd name="adj" fmla="val 3207"/>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3273066"/>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시킬 곳</a:t>
            </a:r>
          </a:p>
        </p:txBody>
      </p:sp>
      <p:sp>
        <p:nvSpPr>
          <p:cNvPr id="7" name="TextBox 6"/>
          <p:cNvSpPr txBox="1"/>
          <p:nvPr/>
        </p:nvSpPr>
        <p:spPr>
          <a:xfrm>
            <a:off x="723900" y="3531156"/>
            <a:ext cx="3314700" cy="29337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할 일을 말로 적는 입력창입니다.</a:t>
            </a:r>
          </a:p>
        </p:txBody>
      </p:sp>
      <p:sp>
        <p:nvSpPr>
          <p:cNvPr id="8" name="Rounded Rectangle 7"/>
          <p:cNvSpPr/>
          <p:nvPr/>
        </p:nvSpPr>
        <p:spPr>
          <a:xfrm>
            <a:off x="4286250" y="3101616"/>
            <a:ext cx="3619500" cy="1187729"/>
          </a:xfrm>
          <a:prstGeom prst="roundRect">
            <a:avLst>
              <a:gd name="adj" fmla="val 3207"/>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8650" y="3273066"/>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맡길 곳</a:t>
            </a:r>
          </a:p>
        </p:txBody>
      </p:sp>
      <p:sp>
        <p:nvSpPr>
          <p:cNvPr id="10" name="TextBox 9"/>
          <p:cNvSpPr txBox="1"/>
          <p:nvPr/>
        </p:nvSpPr>
        <p:spPr>
          <a:xfrm>
            <a:off x="4438650" y="3531156"/>
            <a:ext cx="3314700" cy="58674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작업할 폴더를 고르는 자리입니다. 여기가 오늘의 핵심입니다.</a:t>
            </a:r>
          </a:p>
        </p:txBody>
      </p:sp>
      <p:sp>
        <p:nvSpPr>
          <p:cNvPr id="11" name="Rounded Rectangle 10"/>
          <p:cNvSpPr/>
          <p:nvPr/>
        </p:nvSpPr>
        <p:spPr>
          <a:xfrm>
            <a:off x="8001000" y="3101616"/>
            <a:ext cx="3619500" cy="1187729"/>
          </a:xfrm>
          <a:prstGeom prst="roundRect">
            <a:avLst>
              <a:gd name="adj" fmla="val 3207"/>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3400" y="3273066"/>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지켜볼 곳</a:t>
            </a:r>
          </a:p>
        </p:txBody>
      </p:sp>
      <p:sp>
        <p:nvSpPr>
          <p:cNvPr id="13" name="TextBox 12"/>
          <p:cNvSpPr txBox="1"/>
          <p:nvPr/>
        </p:nvSpPr>
        <p:spPr>
          <a:xfrm>
            <a:off x="8153400" y="3531156"/>
            <a:ext cx="3314700" cy="58674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코워크가 무슨 파일을 건드리는지 단계별로 보여주는 자리입니다.</a:t>
            </a:r>
          </a:p>
        </p:txBody>
      </p:sp>
      <p:sp>
        <p:nvSpPr>
          <p:cNvPr id="14" name="TextBox 13"/>
          <p:cNvSpPr txBox="1"/>
          <p:nvPr/>
        </p:nvSpPr>
        <p:spPr>
          <a:xfrm>
            <a:off x="571500" y="4498896"/>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화면 배치는 업데이트로 바뀝니다. 지금 여러분 화면 기준으로 같이 찾아보겠습니다.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57809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폴더를 맡긴다는 게 무슨 뜻인가</a:t>
            </a:r>
          </a:p>
        </p:txBody>
      </p:sp>
      <p:sp>
        <p:nvSpPr>
          <p:cNvPr id="4" name="Rounded Rectangle 3"/>
          <p:cNvSpPr/>
          <p:nvPr/>
        </p:nvSpPr>
        <p:spPr>
          <a:xfrm>
            <a:off x="571500" y="2304088"/>
            <a:ext cx="11049000" cy="1041844"/>
          </a:xfrm>
          <a:prstGeom prst="roundRect">
            <a:avLst>
              <a:gd name="adj" fmla="val 365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304088"/>
            <a:ext cx="47625" cy="104184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494588"/>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읽습니다</a:t>
            </a:r>
          </a:p>
        </p:txBody>
      </p:sp>
      <p:sp>
        <p:nvSpPr>
          <p:cNvPr id="7" name="Rounded Rectangle 6"/>
          <p:cNvSpPr/>
          <p:nvPr/>
        </p:nvSpPr>
        <p:spPr>
          <a:xfrm>
            <a:off x="10108216" y="2494588"/>
            <a:ext cx="1283684"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08216" y="2494588"/>
            <a:ext cx="1283684"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업로드 없이</a:t>
            </a:r>
          </a:p>
        </p:txBody>
      </p:sp>
      <p:sp>
        <p:nvSpPr>
          <p:cNvPr id="9" name="TextBox 8"/>
          <p:cNvSpPr txBox="1"/>
          <p:nvPr/>
        </p:nvSpPr>
        <p:spPr>
          <a:xfrm>
            <a:off x="800100" y="2878826"/>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폴더 안의 공문, 계획서, 명단을 열어서 내용을 봅니다. 파일을 하나씩 올릴 필요가 없습니다.</a:t>
            </a:r>
          </a:p>
        </p:txBody>
      </p:sp>
      <p:sp>
        <p:nvSpPr>
          <p:cNvPr id="10" name="Rounded Rectangle 9"/>
          <p:cNvSpPr/>
          <p:nvPr/>
        </p:nvSpPr>
        <p:spPr>
          <a:xfrm>
            <a:off x="571500" y="3441182"/>
            <a:ext cx="11049000" cy="1392364"/>
          </a:xfrm>
          <a:prstGeom prst="roundRect">
            <a:avLst>
              <a:gd name="adj" fmla="val 273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3441182"/>
            <a:ext cx="47625" cy="139236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3631682"/>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고칩니다</a:t>
            </a:r>
          </a:p>
        </p:txBody>
      </p:sp>
      <p:sp>
        <p:nvSpPr>
          <p:cNvPr id="13" name="Rounded Rectangle 12"/>
          <p:cNvSpPr/>
          <p:nvPr/>
        </p:nvSpPr>
        <p:spPr>
          <a:xfrm>
            <a:off x="9849422" y="3631682"/>
            <a:ext cx="1542478"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49422" y="3631682"/>
            <a:ext cx="1542478"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되돌릴 수 있게</a:t>
            </a:r>
          </a:p>
        </p:txBody>
      </p:sp>
      <p:sp>
        <p:nvSpPr>
          <p:cNvPr id="15" name="TextBox 14"/>
          <p:cNvSpPr txBox="1"/>
          <p:nvPr/>
        </p:nvSpPr>
        <p:spPr>
          <a:xfrm>
            <a:off x="800100" y="4015921"/>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기존 파일을 수정하고 새 파일을 만듭니다. 무엇을 건드릴지 먼저 보여주고 진행합니다.</a:t>
            </a:r>
          </a:p>
        </p:txBody>
      </p:sp>
      <p:sp>
        <p:nvSpPr>
          <p:cNvPr id="16" name="TextBox 15"/>
          <p:cNvSpPr txBox="1"/>
          <p:nvPr/>
        </p:nvSpPr>
        <p:spPr>
          <a:xfrm>
            <a:off x="800100" y="4349677"/>
            <a:ext cx="10591800" cy="29337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B0745C"/>
                </a:solidFill>
                <a:latin typeface="Noto Sans KR"/>
                <a:ea typeface="Noto Sans KR"/>
                <a:cs typeface="Noto Sans KR"/>
              </a:rPr>
              <a:t>폴더마다 지켜야 할 규칙을 미리 적어둘 수 있습니다</a:t>
            </a:r>
          </a:p>
        </p:txBody>
      </p:sp>
      <p:sp>
        <p:nvSpPr>
          <p:cNvPr id="17" name="TextBox 16"/>
          <p:cNvSpPr txBox="1"/>
          <p:nvPr/>
        </p:nvSpPr>
        <p:spPr>
          <a:xfrm>
            <a:off x="571500" y="502404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고른 폴더 밖으로는 나가지 않습니다.</a:t>
            </a:r>
            <a:r>
              <a:rPr sz="1023" b="0" i="0" u="none">
                <a:solidFill>
                  <a:srgbClr val="B0745C"/>
                </a:solidFill>
                <a:latin typeface="Noto Sans KR"/>
                <a:ea typeface="Noto Sans KR"/>
                <a:cs typeface="Noto Sans KR"/>
                <a:hlinkClick r:id="rId3"/>
              </a:rPr>
              <a:t>[R1]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171718"/>
            <a:ext cx="11049000" cy="391858"/>
          </a:xfrm>
          <a:prstGeom prst="rect">
            <a:avLst/>
          </a:prstGeom>
          <a:noFill/>
        </p:spPr>
        <p:txBody>
          <a:bodyPr wrap="square" lIns="0" rIns="0" tIns="0" bIns="0" anchor="t">
            <a:noAutofit/>
          </a:bodyPr>
          <a:lstStyle/>
          <a:p>
            <a:pPr algn="ctr">
              <a:lnSpc>
                <a:spcPts val="3085"/>
              </a:lnSpc>
              <a:spcBef>
                <a:spcPts val="0"/>
              </a:spcBef>
              <a:spcAft>
                <a:spcPts val="0"/>
              </a:spcAft>
            </a:pPr>
            <a:r>
              <a:rPr sz="2804" b="1" i="0" u="none">
                <a:solidFill>
                  <a:srgbClr val="21334A"/>
                </a:solidFill>
                <a:latin typeface="Noto Sans KR"/>
                <a:ea typeface="Noto Sans KR"/>
                <a:cs typeface="Noto Sans KR"/>
              </a:rPr>
              <a:t>이런 파일로 </a:t>
            </a:r>
            <a:r>
              <a:rPr sz="2804" b="1" i="0" u="none">
                <a:solidFill>
                  <a:srgbClr val="B0745C"/>
                </a:solidFill>
                <a:latin typeface="Noto Sans KR"/>
                <a:ea typeface="Noto Sans KR"/>
                <a:cs typeface="Noto Sans KR"/>
              </a:rPr>
              <a:t>나옵니다</a:t>
            </a:r>
          </a:p>
        </p:txBody>
      </p:sp>
      <p:sp>
        <p:nvSpPr>
          <p:cNvPr id="4" name="Rounded Rectangle 3"/>
          <p:cNvSpPr/>
          <p:nvPr/>
        </p:nvSpPr>
        <p:spPr>
          <a:xfrm>
            <a:off x="571500" y="2715976"/>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2830276"/>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6" name="TextBox 5"/>
          <p:cNvSpPr txBox="1"/>
          <p:nvPr/>
        </p:nvSpPr>
        <p:spPr>
          <a:xfrm>
            <a:off x="666750" y="3135076"/>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DOCX</a:t>
            </a:r>
          </a:p>
        </p:txBody>
      </p:sp>
      <p:sp>
        <p:nvSpPr>
          <p:cNvPr id="7" name="Rounded Rectangle 6"/>
          <p:cNvSpPr/>
          <p:nvPr/>
        </p:nvSpPr>
        <p:spPr>
          <a:xfrm>
            <a:off x="3352800" y="2715976"/>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52800" y="2830276"/>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9" name="TextBox 8"/>
          <p:cNvSpPr txBox="1"/>
          <p:nvPr/>
        </p:nvSpPr>
        <p:spPr>
          <a:xfrm>
            <a:off x="3448050" y="3135076"/>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PDF</a:t>
            </a:r>
          </a:p>
        </p:txBody>
      </p:sp>
      <p:sp>
        <p:nvSpPr>
          <p:cNvPr id="10" name="Rounded Rectangle 9"/>
          <p:cNvSpPr/>
          <p:nvPr/>
        </p:nvSpPr>
        <p:spPr>
          <a:xfrm>
            <a:off x="6134100" y="2715976"/>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34100" y="2830276"/>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2" name="TextBox 11"/>
          <p:cNvSpPr txBox="1"/>
          <p:nvPr/>
        </p:nvSpPr>
        <p:spPr>
          <a:xfrm>
            <a:off x="6229350" y="3135076"/>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XLSX</a:t>
            </a:r>
          </a:p>
        </p:txBody>
      </p:sp>
      <p:sp>
        <p:nvSpPr>
          <p:cNvPr id="13" name="Rounded Rectangle 12"/>
          <p:cNvSpPr/>
          <p:nvPr/>
        </p:nvSpPr>
        <p:spPr>
          <a:xfrm>
            <a:off x="8915400" y="2715976"/>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2830276"/>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5" name="TextBox 14"/>
          <p:cNvSpPr txBox="1"/>
          <p:nvPr/>
        </p:nvSpPr>
        <p:spPr>
          <a:xfrm>
            <a:off x="9010650" y="3135076"/>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PPTX</a:t>
            </a:r>
          </a:p>
        </p:txBody>
      </p:sp>
      <p:sp>
        <p:nvSpPr>
          <p:cNvPr id="16" name="Rounded Rectangle 15"/>
          <p:cNvSpPr/>
          <p:nvPr/>
        </p:nvSpPr>
        <p:spPr>
          <a:xfrm>
            <a:off x="571500" y="3516049"/>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 y="3630349"/>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8" name="TextBox 17"/>
          <p:cNvSpPr txBox="1"/>
          <p:nvPr/>
        </p:nvSpPr>
        <p:spPr>
          <a:xfrm>
            <a:off x="666750" y="3935149"/>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TXT · MD</a:t>
            </a:r>
          </a:p>
        </p:txBody>
      </p:sp>
      <p:sp>
        <p:nvSpPr>
          <p:cNvPr id="19" name="Rounded Rectangle 18"/>
          <p:cNvSpPr/>
          <p:nvPr/>
        </p:nvSpPr>
        <p:spPr>
          <a:xfrm>
            <a:off x="3352800" y="3516049"/>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2800" y="3630349"/>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21" name="TextBox 20"/>
          <p:cNvSpPr txBox="1"/>
          <p:nvPr/>
        </p:nvSpPr>
        <p:spPr>
          <a:xfrm>
            <a:off x="3448050" y="3935149"/>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CSV</a:t>
            </a:r>
          </a:p>
        </p:txBody>
      </p:sp>
      <p:sp>
        <p:nvSpPr>
          <p:cNvPr id="22" name="Rounded Rectangle 21"/>
          <p:cNvSpPr/>
          <p:nvPr/>
        </p:nvSpPr>
        <p:spPr>
          <a:xfrm>
            <a:off x="6134100" y="3516049"/>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34100" y="3630349"/>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24" name="TextBox 23"/>
          <p:cNvSpPr txBox="1"/>
          <p:nvPr/>
        </p:nvSpPr>
        <p:spPr>
          <a:xfrm>
            <a:off x="6229350" y="3935149"/>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이미지</a:t>
            </a:r>
          </a:p>
        </p:txBody>
      </p:sp>
      <p:sp>
        <p:nvSpPr>
          <p:cNvPr id="25" name="Rounded Rectangle 24"/>
          <p:cNvSpPr/>
          <p:nvPr/>
        </p:nvSpPr>
        <p:spPr>
          <a:xfrm>
            <a:off x="8915400" y="3516049"/>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3630349"/>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27" name="TextBox 26"/>
          <p:cNvSpPr txBox="1"/>
          <p:nvPr/>
        </p:nvSpPr>
        <p:spPr>
          <a:xfrm>
            <a:off x="9010650" y="3935149"/>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JSON · XML</a:t>
            </a:r>
          </a:p>
        </p:txBody>
      </p:sp>
      <p:sp>
        <p:nvSpPr>
          <p:cNvPr id="28" name="TextBox 27"/>
          <p:cNvSpPr txBox="1"/>
          <p:nvPr/>
        </p:nvSpPr>
        <p:spPr>
          <a:xfrm>
            <a:off x="571500" y="4430422"/>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한글 확장자는 이 목록에 없습니다. 뒤에서 따로 다루겠습니다.</a:t>
            </a:r>
            <a:r>
              <a:rPr sz="1023" b="0" i="0" u="none">
                <a:solidFill>
                  <a:srgbClr val="B0745C"/>
                </a:solidFill>
                <a:latin typeface="Noto Sans KR"/>
                <a:ea typeface="Noto Sans KR"/>
                <a:cs typeface="Noto Sans KR"/>
                <a:hlinkClick r:id="rId3"/>
              </a:rPr>
              <a:t>[R2]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1511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시키기 전에 네 가지를 정합니다</a:t>
            </a:r>
          </a:p>
        </p:txBody>
      </p:sp>
      <p:sp>
        <p:nvSpPr>
          <p:cNvPr id="4" name="TextBox 3"/>
          <p:cNvSpPr txBox="1"/>
          <p:nvPr/>
        </p:nvSpPr>
        <p:spPr>
          <a:xfrm>
            <a:off x="571500" y="2541108"/>
            <a:ext cx="11049000" cy="410718"/>
          </a:xfrm>
          <a:prstGeom prst="rect">
            <a:avLst/>
          </a:prstGeom>
          <a:noFill/>
        </p:spPr>
        <p:txBody>
          <a:bodyPr wrap="square" lIns="0" rIns="0" tIns="0" bIns="0" anchor="t">
            <a:noAutofit/>
          </a:bodyPr>
          <a:lstStyle/>
          <a:p>
            <a:pPr algn="ctr">
              <a:lnSpc>
                <a:spcPts val="3233"/>
              </a:lnSpc>
              <a:spcBef>
                <a:spcPts val="0"/>
              </a:spcBef>
              <a:spcAft>
                <a:spcPts val="0"/>
              </a:spcAft>
            </a:pPr>
            <a:r>
              <a:rPr sz="2310" b="0" i="0" u="none">
                <a:solidFill>
                  <a:srgbClr val="7A756C"/>
                </a:solidFill>
                <a:latin typeface="Consolas"/>
                <a:ea typeface="Consolas"/>
                <a:cs typeface="Consolas"/>
              </a:rPr>
              <a:t>무엇을</a:t>
            </a:r>
            <a:r>
              <a:rPr sz="2310" b="0" i="0" u="none">
                <a:solidFill>
                  <a:srgbClr val="7A756C"/>
                </a:solidFill>
                <a:latin typeface="Consolas"/>
                <a:ea typeface="Consolas"/>
                <a:cs typeface="Consolas"/>
              </a:rPr>
              <a:t>+</a:t>
            </a:r>
            <a:r>
              <a:rPr sz="2310" b="0" i="0" u="none">
                <a:solidFill>
                  <a:srgbClr val="7A756C"/>
                </a:solidFill>
                <a:latin typeface="Consolas"/>
                <a:ea typeface="Consolas"/>
                <a:cs typeface="Consolas"/>
              </a:rPr>
              <a:t>어디 자료로</a:t>
            </a:r>
            <a:r>
              <a:rPr sz="2310" b="0" i="0" u="none">
                <a:solidFill>
                  <a:srgbClr val="7A756C"/>
                </a:solidFill>
                <a:latin typeface="Consolas"/>
                <a:ea typeface="Consolas"/>
                <a:cs typeface="Consolas"/>
              </a:rPr>
              <a:t>+</a:t>
            </a:r>
            <a:r>
              <a:rPr sz="2310" b="0" i="0" u="none">
                <a:solidFill>
                  <a:srgbClr val="7A756C"/>
                </a:solidFill>
                <a:latin typeface="Consolas"/>
                <a:ea typeface="Consolas"/>
                <a:cs typeface="Consolas"/>
              </a:rPr>
              <a:t>어떤 형식으로</a:t>
            </a:r>
            <a:r>
              <a:rPr sz="2310" b="0" i="0" u="none">
                <a:solidFill>
                  <a:srgbClr val="7A756C"/>
                </a:solidFill>
                <a:latin typeface="Consolas"/>
                <a:ea typeface="Consolas"/>
                <a:cs typeface="Consolas"/>
              </a:rPr>
              <a:t>+</a:t>
            </a:r>
            <a:r>
              <a:rPr sz="2310" b="1" i="0" u="none">
                <a:solidFill>
                  <a:srgbClr val="B0745C"/>
                </a:solidFill>
                <a:latin typeface="Consolas"/>
                <a:ea typeface="Consolas"/>
                <a:cs typeface="Consolas"/>
              </a:rPr>
              <a:t>무엇을 확인할지</a:t>
            </a:r>
          </a:p>
        </p:txBody>
      </p:sp>
      <p:sp>
        <p:nvSpPr>
          <p:cNvPr id="5" name="Rounded Rectangle 4"/>
          <p:cNvSpPr/>
          <p:nvPr/>
        </p:nvSpPr>
        <p:spPr>
          <a:xfrm>
            <a:off x="571500" y="3047076"/>
            <a:ext cx="11049000" cy="1549451"/>
          </a:xfrm>
          <a:prstGeom prst="roundRect">
            <a:avLst>
              <a:gd name="adj" fmla="val 2458"/>
            </a:avLst>
          </a:prstGeom>
          <a:solidFill>
            <a:srgbClr val="21334A"/>
          </a:solidFill>
          <a:ln w="9525">
            <a:solidFill>
              <a:srgbClr val="21334A">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3237576"/>
            <a:ext cx="10591800" cy="1168451"/>
          </a:xfrm>
          <a:prstGeom prst="rect">
            <a:avLst/>
          </a:prstGeom>
          <a:noFill/>
        </p:spPr>
        <p:txBody>
          <a:bodyPr wrap="square" lIns="0" rIns="0" tIns="0" bIns="0" anchor="t">
            <a:noAutofit/>
          </a:bodyPr>
          <a:lstStyle/>
          <a:p>
            <a:pPr algn="l">
              <a:lnSpc>
                <a:spcPts val="2300"/>
              </a:lnSpc>
              <a:spcBef>
                <a:spcPts val="0"/>
              </a:spcBef>
              <a:spcAft>
                <a:spcPts val="0"/>
              </a:spcAft>
            </a:pPr>
            <a:r>
              <a:rPr sz="1353" b="0" i="0" u="none">
                <a:solidFill>
                  <a:srgbClr val="EFEAE0"/>
                </a:solidFill>
                <a:latin typeface="Consolas"/>
                <a:ea typeface="Consolas"/>
                <a:cs typeface="Consolas"/>
              </a:rPr>
              <a:t>3학년 2반 현장체험학습 가정통신문을 써줘.</a:t>
            </a:r>
          </a:p>
          <a:p>
            <a:pPr algn="l">
              <a:lnSpc>
                <a:spcPts val="2300"/>
              </a:lnSpc>
              <a:spcBef>
                <a:spcPts val="0"/>
              </a:spcBef>
              <a:spcAft>
                <a:spcPts val="0"/>
              </a:spcAft>
            </a:pPr>
            <a:r>
              <a:rPr sz="1353" b="0" i="0" u="none">
                <a:solidFill>
                  <a:srgbClr val="EFEAE0"/>
                </a:solidFill>
                <a:latin typeface="Consolas"/>
                <a:ea typeface="Consolas"/>
                <a:cs typeface="Consolas"/>
              </a:rPr>
              <a:t>자료는 이 폴더의 체험학습_계획.pdf 를 쓰고,</a:t>
            </a:r>
          </a:p>
          <a:p>
            <a:pPr algn="l">
              <a:lnSpc>
                <a:spcPts val="2300"/>
              </a:lnSpc>
              <a:spcBef>
                <a:spcPts val="0"/>
              </a:spcBef>
              <a:spcAft>
                <a:spcPts val="0"/>
              </a:spcAft>
            </a:pPr>
            <a:r>
              <a:rPr sz="1353" b="0" i="0" u="none">
                <a:solidFill>
                  <a:srgbClr val="EFEAE0"/>
                </a:solidFill>
                <a:latin typeface="Consolas"/>
                <a:ea typeface="Consolas"/>
                <a:cs typeface="Consolas"/>
              </a:rPr>
              <a:t>학부모가 읽을 A4 한 장 분량 워드 파일로 만들어줘.</a:t>
            </a:r>
          </a:p>
          <a:p>
            <a:pPr algn="l">
              <a:lnSpc>
                <a:spcPts val="2300"/>
              </a:lnSpc>
              <a:spcBef>
                <a:spcPts val="0"/>
              </a:spcBef>
              <a:spcAft>
                <a:spcPts val="0"/>
              </a:spcAft>
            </a:pPr>
            <a:r>
              <a:rPr sz="1353" b="0" i="0" u="none">
                <a:solidFill>
                  <a:srgbClr val="EFEAE0"/>
                </a:solidFill>
                <a:latin typeface="Consolas"/>
                <a:ea typeface="Consolas"/>
                <a:cs typeface="Consolas"/>
              </a:rPr>
              <a:t>날짜와 준비물은 계획서 원문 그대로 옮기고, 지어내지 마.</a:t>
            </a:r>
          </a:p>
        </p:txBody>
      </p:sp>
      <p:sp>
        <p:nvSpPr>
          <p:cNvPr id="7" name="TextBox 6"/>
          <p:cNvSpPr txBox="1"/>
          <p:nvPr/>
        </p:nvSpPr>
        <p:spPr>
          <a:xfrm>
            <a:off x="571500" y="4787027"/>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네 번째 줄이 가장 중요합니다. 검수 기준을 미리 주면 지어내는 일이 줄어듭니다.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931018"/>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맡겨두되 세 곳에서 멈춥니다</a:t>
            </a:r>
          </a:p>
        </p:txBody>
      </p:sp>
      <p:sp>
        <p:nvSpPr>
          <p:cNvPr id="4" name="Rounded Rectangle 3"/>
          <p:cNvSpPr/>
          <p:nvPr/>
        </p:nvSpPr>
        <p:spPr>
          <a:xfrm>
            <a:off x="571500" y="2657013"/>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811723"/>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811723"/>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1</a:t>
            </a:r>
          </a:p>
        </p:txBody>
      </p:sp>
      <p:sp>
        <p:nvSpPr>
          <p:cNvPr id="7" name="TextBox 6"/>
          <p:cNvSpPr txBox="1"/>
          <p:nvPr/>
        </p:nvSpPr>
        <p:spPr>
          <a:xfrm>
            <a:off x="1161098" y="2771313"/>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시작 전에 어떤 파일을 건드릴지 목록을 확인합니다</a:t>
            </a:r>
          </a:p>
        </p:txBody>
      </p:sp>
      <p:sp>
        <p:nvSpPr>
          <p:cNvPr id="8" name="Rounded Rectangle 7"/>
          <p:cNvSpPr/>
          <p:nvPr/>
        </p:nvSpPr>
        <p:spPr>
          <a:xfrm>
            <a:off x="571500" y="3290283"/>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444992"/>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444992"/>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2</a:t>
            </a:r>
          </a:p>
        </p:txBody>
      </p:sp>
      <p:sp>
        <p:nvSpPr>
          <p:cNvPr id="11" name="TextBox 10"/>
          <p:cNvSpPr txBox="1"/>
          <p:nvPr/>
        </p:nvSpPr>
        <p:spPr>
          <a:xfrm>
            <a:off x="1161098" y="3404583"/>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중간에 엉뚱한 폴더로 가면 바로 세웁니다</a:t>
            </a:r>
          </a:p>
        </p:txBody>
      </p:sp>
      <p:sp>
        <p:nvSpPr>
          <p:cNvPr id="12" name="Rounded Rectangle 11"/>
          <p:cNvSpPr/>
          <p:nvPr/>
        </p:nvSpPr>
        <p:spPr>
          <a:xfrm>
            <a:off x="571500" y="3923552"/>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4078262"/>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4078262"/>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3</a:t>
            </a:r>
          </a:p>
        </p:txBody>
      </p:sp>
      <p:sp>
        <p:nvSpPr>
          <p:cNvPr id="15" name="TextBox 14"/>
          <p:cNvSpPr txBox="1"/>
          <p:nvPr/>
        </p:nvSpPr>
        <p:spPr>
          <a:xfrm>
            <a:off x="1161098" y="4037852"/>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끝나면 만들어진 파일을 열어서 눈으로 봅니다</a:t>
            </a:r>
          </a:p>
        </p:txBody>
      </p:sp>
      <p:sp>
        <p:nvSpPr>
          <p:cNvPr id="16" name="TextBox 15"/>
          <p:cNvSpPr txBox="1"/>
          <p:nvPr/>
        </p:nvSpPr>
        <p:spPr>
          <a:xfrm>
            <a:off x="571500" y="4671122"/>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첫날은 원본 폴더를 복사해두고 사본으로 실습하세요.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8681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실습 ② · 10분</a:t>
            </a:r>
          </a:p>
        </p:txBody>
      </p:sp>
      <p:sp>
        <p:nvSpPr>
          <p:cNvPr id="4" name="TextBox 3"/>
          <p:cNvSpPr txBox="1"/>
          <p:nvPr/>
        </p:nvSpPr>
        <p:spPr>
          <a:xfrm>
            <a:off x="571500" y="2059191"/>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폴더 연결하고 파일 하나 만들기</a:t>
            </a:r>
          </a:p>
        </p:txBody>
      </p:sp>
      <p:sp>
        <p:nvSpPr>
          <p:cNvPr id="5" name="Rounded Rectangle 4"/>
          <p:cNvSpPr/>
          <p:nvPr/>
        </p:nvSpPr>
        <p:spPr>
          <a:xfrm>
            <a:off x="571500" y="278518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2950" y="289948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289948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8" name="TextBox 7"/>
          <p:cNvSpPr txBox="1"/>
          <p:nvPr/>
        </p:nvSpPr>
        <p:spPr>
          <a:xfrm>
            <a:off x="1162050" y="289955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바탕화면의 </a:t>
            </a:r>
            <a:r>
              <a:rPr sz="1551" b="1" i="0" u="none">
                <a:solidFill>
                  <a:srgbClr val="21334A"/>
                </a:solidFill>
                <a:latin typeface="Noto Sans KR"/>
                <a:ea typeface="Noto Sans KR"/>
                <a:cs typeface="Noto Sans KR"/>
              </a:rPr>
              <a:t>코워크실습</a:t>
            </a:r>
            <a:r>
              <a:rPr sz="1551" b="0" i="0" u="none">
                <a:solidFill>
                  <a:srgbClr val="3E3D39"/>
                </a:solidFill>
                <a:latin typeface="Noto Sans KR"/>
                <a:ea typeface="Noto Sans KR"/>
                <a:cs typeface="Noto Sans KR"/>
              </a:rPr>
              <a:t> 폴더를 연결합니다</a:t>
            </a:r>
          </a:p>
        </p:txBody>
      </p:sp>
      <p:sp>
        <p:nvSpPr>
          <p:cNvPr id="9" name="Rounded Rectangle 8"/>
          <p:cNvSpPr/>
          <p:nvPr/>
        </p:nvSpPr>
        <p:spPr>
          <a:xfrm>
            <a:off x="571500" y="337573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950" y="349003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349003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2" name="TextBox 11"/>
          <p:cNvSpPr txBox="1"/>
          <p:nvPr/>
        </p:nvSpPr>
        <p:spPr>
          <a:xfrm>
            <a:off x="1162050" y="349010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"이 폴더에 뭐가 들어 있는지 정리해줘"라고 시킵니다</a:t>
            </a:r>
          </a:p>
        </p:txBody>
      </p:sp>
      <p:sp>
        <p:nvSpPr>
          <p:cNvPr id="13" name="Rounded Rectangle 12"/>
          <p:cNvSpPr/>
          <p:nvPr/>
        </p:nvSpPr>
        <p:spPr>
          <a:xfrm>
            <a:off x="571500" y="396628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950" y="408058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2950" y="408058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6" name="TextBox 15"/>
          <p:cNvSpPr txBox="1"/>
          <p:nvPr/>
        </p:nvSpPr>
        <p:spPr>
          <a:xfrm>
            <a:off x="1162050" y="408065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"목록을 폴더목록.md 파일로 저장해줘"를 이어서 시킵니다</a:t>
            </a:r>
          </a:p>
        </p:txBody>
      </p:sp>
      <p:sp>
        <p:nvSpPr>
          <p:cNvPr id="17" name="Rounded Rectangle 16"/>
          <p:cNvSpPr/>
          <p:nvPr/>
        </p:nvSpPr>
        <p:spPr>
          <a:xfrm>
            <a:off x="571500" y="455683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2950" y="467113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950" y="467113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20" name="TextBox 19"/>
          <p:cNvSpPr txBox="1"/>
          <p:nvPr/>
        </p:nvSpPr>
        <p:spPr>
          <a:xfrm>
            <a:off x="1162050" y="467120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탐색기에서 그 파일이 생겼는지 직접 확인합니다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035529"/>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PART 2 · 업무 자동화</a:t>
            </a:r>
          </a:p>
        </p:txBody>
      </p:sp>
      <p:sp>
        <p:nvSpPr>
          <p:cNvPr id="4" name="TextBox 3"/>
          <p:cNvSpPr txBox="1"/>
          <p:nvPr/>
        </p:nvSpPr>
        <p:spPr>
          <a:xfrm>
            <a:off x="571500" y="2307906"/>
            <a:ext cx="11049000" cy="391858"/>
          </a:xfrm>
          <a:prstGeom prst="rect">
            <a:avLst/>
          </a:prstGeom>
          <a:noFill/>
        </p:spPr>
        <p:txBody>
          <a:bodyPr wrap="square" lIns="0" rIns="0" tIns="0" bIns="0" anchor="t">
            <a:noAutofit/>
          </a:bodyPr>
          <a:lstStyle/>
          <a:p>
            <a:pPr algn="ctr">
              <a:lnSpc>
                <a:spcPts val="3085"/>
              </a:lnSpc>
              <a:spcBef>
                <a:spcPts val="0"/>
              </a:spcBef>
              <a:spcAft>
                <a:spcPts val="0"/>
              </a:spcAft>
            </a:pPr>
            <a:r>
              <a:rPr sz="2804" b="1" i="0" u="none">
                <a:solidFill>
                  <a:srgbClr val="21334A"/>
                </a:solidFill>
                <a:latin typeface="Noto Sans KR"/>
                <a:ea typeface="Noto Sans KR"/>
                <a:cs typeface="Noto Sans KR"/>
              </a:rPr>
              <a:t>어디에 쓸까 </a:t>
            </a:r>
            <a:r>
              <a:rPr sz="2804" b="1" i="0" u="none">
                <a:solidFill>
                  <a:srgbClr val="B0745C"/>
                </a:solidFill>
                <a:latin typeface="Noto Sans KR"/>
                <a:ea typeface="Noto Sans KR"/>
                <a:cs typeface="Noto Sans KR"/>
              </a:rPr>
              <a:t>여덟 자리</a:t>
            </a:r>
          </a:p>
        </p:txBody>
      </p:sp>
      <p:sp>
        <p:nvSpPr>
          <p:cNvPr id="5" name="Rounded Rectangle 4"/>
          <p:cNvSpPr/>
          <p:nvPr/>
        </p:nvSpPr>
        <p:spPr>
          <a:xfrm>
            <a:off x="571500" y="2852165"/>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2966465"/>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7" name="TextBox 6"/>
          <p:cNvSpPr txBox="1"/>
          <p:nvPr/>
        </p:nvSpPr>
        <p:spPr>
          <a:xfrm>
            <a:off x="666750" y="3271265"/>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가정통신문</a:t>
            </a:r>
          </a:p>
        </p:txBody>
      </p:sp>
      <p:sp>
        <p:nvSpPr>
          <p:cNvPr id="8" name="Rounded Rectangle 7"/>
          <p:cNvSpPr/>
          <p:nvPr/>
        </p:nvSpPr>
        <p:spPr>
          <a:xfrm>
            <a:off x="3352800" y="2852165"/>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52800" y="2966465"/>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0" name="TextBox 9"/>
          <p:cNvSpPr txBox="1"/>
          <p:nvPr/>
        </p:nvSpPr>
        <p:spPr>
          <a:xfrm>
            <a:off x="3448050" y="3271265"/>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공문 요약</a:t>
            </a:r>
          </a:p>
        </p:txBody>
      </p:sp>
      <p:sp>
        <p:nvSpPr>
          <p:cNvPr id="11" name="Rounded Rectangle 10"/>
          <p:cNvSpPr/>
          <p:nvPr/>
        </p:nvSpPr>
        <p:spPr>
          <a:xfrm>
            <a:off x="6134100" y="2852165"/>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4100" y="2966465"/>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3" name="TextBox 12"/>
          <p:cNvSpPr txBox="1"/>
          <p:nvPr/>
        </p:nvSpPr>
        <p:spPr>
          <a:xfrm>
            <a:off x="6229350" y="3271265"/>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회의록 정리</a:t>
            </a:r>
          </a:p>
        </p:txBody>
      </p:sp>
      <p:sp>
        <p:nvSpPr>
          <p:cNvPr id="14" name="Rounded Rectangle 13"/>
          <p:cNvSpPr/>
          <p:nvPr/>
        </p:nvSpPr>
        <p:spPr>
          <a:xfrm>
            <a:off x="8915400" y="2852165"/>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2966465"/>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6" name="TextBox 15"/>
          <p:cNvSpPr txBox="1"/>
          <p:nvPr/>
        </p:nvSpPr>
        <p:spPr>
          <a:xfrm>
            <a:off x="9010650" y="3271265"/>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명단·표 정리</a:t>
            </a:r>
          </a:p>
        </p:txBody>
      </p:sp>
      <p:sp>
        <p:nvSpPr>
          <p:cNvPr id="17" name="Rounded Rectangle 16"/>
          <p:cNvSpPr/>
          <p:nvPr/>
        </p:nvSpPr>
        <p:spPr>
          <a:xfrm>
            <a:off x="571500" y="3652237"/>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 y="3766537"/>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19" name="TextBox 18"/>
          <p:cNvSpPr txBox="1"/>
          <p:nvPr/>
        </p:nvSpPr>
        <p:spPr>
          <a:xfrm>
            <a:off x="666750" y="4071337"/>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행사 계획서</a:t>
            </a:r>
          </a:p>
        </p:txBody>
      </p:sp>
      <p:sp>
        <p:nvSpPr>
          <p:cNvPr id="20" name="Rounded Rectangle 19"/>
          <p:cNvSpPr/>
          <p:nvPr/>
        </p:nvSpPr>
        <p:spPr>
          <a:xfrm>
            <a:off x="3352800" y="3652237"/>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52800" y="3766537"/>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22" name="TextBox 21"/>
          <p:cNvSpPr txBox="1"/>
          <p:nvPr/>
        </p:nvSpPr>
        <p:spPr>
          <a:xfrm>
            <a:off x="3448050" y="4071337"/>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안내 문자 초안</a:t>
            </a:r>
          </a:p>
        </p:txBody>
      </p:sp>
      <p:sp>
        <p:nvSpPr>
          <p:cNvPr id="23" name="Rounded Rectangle 22"/>
          <p:cNvSpPr/>
          <p:nvPr/>
        </p:nvSpPr>
        <p:spPr>
          <a:xfrm>
            <a:off x="6134100" y="3652237"/>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4100" y="3766537"/>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25" name="TextBox 24"/>
          <p:cNvSpPr txBox="1"/>
          <p:nvPr/>
        </p:nvSpPr>
        <p:spPr>
          <a:xfrm>
            <a:off x="6229350" y="4071337"/>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물품 정리</a:t>
            </a:r>
          </a:p>
        </p:txBody>
      </p:sp>
      <p:sp>
        <p:nvSpPr>
          <p:cNvPr id="26" name="Rounded Rectangle 25"/>
          <p:cNvSpPr/>
          <p:nvPr/>
        </p:nvSpPr>
        <p:spPr>
          <a:xfrm>
            <a:off x="8915400" y="3652237"/>
            <a:ext cx="2705100" cy="723873"/>
          </a:xfrm>
          <a:prstGeom prst="roundRect">
            <a:avLst>
              <a:gd name="adj" fmla="val 5263"/>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15400" y="3766537"/>
            <a:ext cx="2705100" cy="284798"/>
          </a:xfrm>
          <a:prstGeom prst="rect">
            <a:avLst/>
          </a:prstGeom>
          <a:noFill/>
        </p:spPr>
        <p:txBody>
          <a:bodyPr wrap="square" lIns="0" rIns="0" tIns="0" bIns="0" anchor="t">
            <a:noAutofit/>
          </a:bodyPr>
          <a:lstStyle/>
          <a:p>
            <a:pPr algn="ctr">
              <a:lnSpc>
                <a:spcPts val="1560"/>
              </a:lnSpc>
              <a:spcBef>
                <a:spcPts val="0"/>
              </a:spcBef>
              <a:spcAft>
                <a:spcPts val="0"/>
              </a:spcAft>
            </a:pPr>
            <a:r>
              <a:rPr sz="1560" b="0" i="0" u="none">
                <a:solidFill>
                  <a:srgbClr val="B0745C"/>
                </a:solidFill>
                <a:latin typeface="Segoe UI Emoji"/>
                <a:ea typeface="Segoe UI Emoji"/>
                <a:cs typeface="Segoe UI Emoji"/>
              </a:rPr>
              <a:t>🗂️</a:t>
            </a:r>
          </a:p>
        </p:txBody>
      </p:sp>
      <p:sp>
        <p:nvSpPr>
          <p:cNvPr id="28" name="TextBox 27"/>
          <p:cNvSpPr txBox="1"/>
          <p:nvPr/>
        </p:nvSpPr>
        <p:spPr>
          <a:xfrm>
            <a:off x="9010650" y="4071337"/>
            <a:ext cx="2514600" cy="304773"/>
          </a:xfrm>
          <a:prstGeom prst="rect">
            <a:avLst/>
          </a:prstGeom>
          <a:noFill/>
        </p:spPr>
        <p:txBody>
          <a:bodyPr wrap="square" lIns="0" rIns="0" tIns="0" bIns="0" anchor="t">
            <a:noAutofit/>
          </a:bodyPr>
          <a:lstStyle/>
          <a:p>
            <a:pPr algn="ctr">
              <a:lnSpc>
                <a:spcPts val="1499"/>
              </a:lnSpc>
              <a:spcBef>
                <a:spcPts val="0"/>
              </a:spcBef>
              <a:spcAft>
                <a:spcPts val="0"/>
              </a:spcAft>
            </a:pPr>
            <a:r>
              <a:rPr sz="1153" b="0" i="0" u="none">
                <a:solidFill>
                  <a:srgbClr val="7A756C"/>
                </a:solidFill>
                <a:latin typeface="Consolas"/>
                <a:ea typeface="Consolas"/>
                <a:cs typeface="Consolas"/>
              </a:rPr>
              <a:t>파일 정리</a:t>
            </a:r>
          </a:p>
        </p:txBody>
      </p:sp>
      <p:sp>
        <p:nvSpPr>
          <p:cNvPr id="29" name="TextBox 28"/>
          <p:cNvSpPr txBox="1"/>
          <p:nvPr/>
        </p:nvSpPr>
        <p:spPr>
          <a:xfrm>
            <a:off x="571500" y="4566610"/>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공통점은 하나입니다. 매번 같은 모양으로 반복되는 일입니다.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0127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가정통신문 한 장</a:t>
            </a:r>
          </a:p>
        </p:txBody>
      </p:sp>
      <p:sp>
        <p:nvSpPr>
          <p:cNvPr id="4" name="Rounded Rectangle 3"/>
          <p:cNvSpPr/>
          <p:nvPr/>
        </p:nvSpPr>
        <p:spPr>
          <a:xfrm>
            <a:off x="571500" y="2527268"/>
            <a:ext cx="11049000" cy="1041844"/>
          </a:xfrm>
          <a:prstGeom prst="roundRect">
            <a:avLst>
              <a:gd name="adj" fmla="val 365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527268"/>
            <a:ext cx="47625" cy="104184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717768"/>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넣는 것</a:t>
            </a:r>
          </a:p>
        </p:txBody>
      </p:sp>
      <p:sp>
        <p:nvSpPr>
          <p:cNvPr id="7" name="Rounded Rectangle 6"/>
          <p:cNvSpPr/>
          <p:nvPr/>
        </p:nvSpPr>
        <p:spPr>
          <a:xfrm>
            <a:off x="10048494" y="2717768"/>
            <a:ext cx="1343406"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48494" y="2717768"/>
            <a:ext cx="1343406"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폴더 안 자료</a:t>
            </a:r>
          </a:p>
        </p:txBody>
      </p:sp>
      <p:sp>
        <p:nvSpPr>
          <p:cNvPr id="9" name="TextBox 8"/>
          <p:cNvSpPr txBox="1"/>
          <p:nvPr/>
        </p:nvSpPr>
        <p:spPr>
          <a:xfrm>
            <a:off x="800100" y="3102007"/>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체험학습 계획서, 작년에 보낸 통신문, 학교 서식 파일을 폴더에 넣어둡니다.</a:t>
            </a:r>
          </a:p>
        </p:txBody>
      </p:sp>
      <p:sp>
        <p:nvSpPr>
          <p:cNvPr id="10" name="Rounded Rectangle 9"/>
          <p:cNvSpPr/>
          <p:nvPr/>
        </p:nvSpPr>
        <p:spPr>
          <a:xfrm>
            <a:off x="571500" y="3664363"/>
            <a:ext cx="11049000" cy="1392364"/>
          </a:xfrm>
          <a:prstGeom prst="roundRect">
            <a:avLst>
              <a:gd name="adj" fmla="val 273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3664363"/>
            <a:ext cx="47625" cy="139236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3854863"/>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받는 것</a:t>
            </a:r>
          </a:p>
        </p:txBody>
      </p:sp>
      <p:sp>
        <p:nvSpPr>
          <p:cNvPr id="13" name="Rounded Rectangle 12"/>
          <p:cNvSpPr/>
          <p:nvPr/>
        </p:nvSpPr>
        <p:spPr>
          <a:xfrm>
            <a:off x="10307288" y="3854863"/>
            <a:ext cx="1084612"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07288" y="3854863"/>
            <a:ext cx="1084612"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워드 파일</a:t>
            </a:r>
          </a:p>
        </p:txBody>
      </p:sp>
      <p:sp>
        <p:nvSpPr>
          <p:cNvPr id="15" name="TextBox 14"/>
          <p:cNvSpPr txBox="1"/>
          <p:nvPr/>
        </p:nvSpPr>
        <p:spPr>
          <a:xfrm>
            <a:off x="800100" y="4239101"/>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날짜와 준비물이 계획서와 일치하는 A4 한 장짜리 초안이 폴더에 생깁니다.</a:t>
            </a:r>
          </a:p>
        </p:txBody>
      </p:sp>
      <p:sp>
        <p:nvSpPr>
          <p:cNvPr id="16" name="TextBox 15"/>
          <p:cNvSpPr txBox="1"/>
          <p:nvPr/>
        </p:nvSpPr>
        <p:spPr>
          <a:xfrm>
            <a:off x="800100" y="4572857"/>
            <a:ext cx="10591800" cy="29337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B0745C"/>
                </a:solidFill>
                <a:latin typeface="Noto Sans KR"/>
                <a:ea typeface="Noto Sans KR"/>
                <a:cs typeface="Noto Sans KR"/>
              </a:rPr>
              <a:t>작년 통신문을 같이 넣으면 우리 학교 말투를 따라갑니다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691545"/>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복사해서 쓰는 지시문</a:t>
            </a:r>
          </a:p>
        </p:txBody>
      </p:sp>
      <p:sp>
        <p:nvSpPr>
          <p:cNvPr id="4" name="TextBox 3"/>
          <p:cNvSpPr txBox="1"/>
          <p:nvPr/>
        </p:nvSpPr>
        <p:spPr>
          <a:xfrm>
            <a:off x="571500" y="1963922"/>
            <a:ext cx="11049000" cy="322707"/>
          </a:xfrm>
          <a:prstGeom prst="rect">
            <a:avLst/>
          </a:prstGeom>
          <a:noFill/>
        </p:spPr>
        <p:txBody>
          <a:bodyPr wrap="square" lIns="0" rIns="0" tIns="0" bIns="0" anchor="t">
            <a:noAutofit/>
          </a:bodyPr>
          <a:lstStyle/>
          <a:p>
            <a:pPr algn="ctr">
              <a:lnSpc>
                <a:spcPts val="2541"/>
              </a:lnSpc>
              <a:spcBef>
                <a:spcPts val="0"/>
              </a:spcBef>
              <a:spcAft>
                <a:spcPts val="0"/>
              </a:spcAft>
            </a:pPr>
            <a:r>
              <a:rPr sz="2310" b="0" i="0" u="none">
                <a:solidFill>
                  <a:srgbClr val="7A756C"/>
                </a:solidFill>
                <a:latin typeface="Noto Sans KR"/>
                <a:ea typeface="Noto Sans KR"/>
                <a:cs typeface="Noto Sans KR"/>
              </a:rPr>
              <a:t>그대로 붙여 넣으세요</a:t>
            </a:r>
          </a:p>
        </p:txBody>
      </p:sp>
      <p:sp>
        <p:nvSpPr>
          <p:cNvPr id="5" name="Rounded Rectangle 4"/>
          <p:cNvSpPr/>
          <p:nvPr/>
        </p:nvSpPr>
        <p:spPr>
          <a:xfrm>
            <a:off x="571500" y="2448554"/>
            <a:ext cx="11049000" cy="2717902"/>
          </a:xfrm>
          <a:prstGeom prst="roundRect">
            <a:avLst>
              <a:gd name="adj" fmla="val 1401"/>
            </a:avLst>
          </a:prstGeom>
          <a:solidFill>
            <a:srgbClr val="21334A"/>
          </a:solidFill>
          <a:ln w="9525">
            <a:solidFill>
              <a:srgbClr val="21334A">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639054"/>
            <a:ext cx="10591800" cy="2336902"/>
          </a:xfrm>
          <a:prstGeom prst="rect">
            <a:avLst/>
          </a:prstGeom>
          <a:noFill/>
        </p:spPr>
        <p:txBody>
          <a:bodyPr wrap="square" lIns="0" rIns="0" tIns="0" bIns="0" anchor="t">
            <a:noAutofit/>
          </a:bodyPr>
          <a:lstStyle/>
          <a:p>
            <a:pPr algn="l">
              <a:lnSpc>
                <a:spcPts val="2300"/>
              </a:lnSpc>
              <a:spcBef>
                <a:spcPts val="0"/>
              </a:spcBef>
              <a:spcAft>
                <a:spcPts val="0"/>
              </a:spcAft>
            </a:pPr>
            <a:r>
              <a:rPr sz="1353" b="0" i="0" u="none">
                <a:solidFill>
                  <a:srgbClr val="EFEAE0"/>
                </a:solidFill>
                <a:latin typeface="Consolas"/>
                <a:ea typeface="Consolas"/>
                <a:cs typeface="Consolas"/>
              </a:rPr>
              <a:t>이 폴더의 체험학습_계획.pdf 를 읽고</a:t>
            </a:r>
          </a:p>
          <a:p>
            <a:pPr algn="l">
              <a:lnSpc>
                <a:spcPts val="2300"/>
              </a:lnSpc>
              <a:spcBef>
                <a:spcPts val="0"/>
              </a:spcBef>
              <a:spcAft>
                <a:spcPts val="0"/>
              </a:spcAft>
            </a:pPr>
            <a:r>
              <a:rPr sz="1353" b="0" i="0" u="none">
                <a:solidFill>
                  <a:srgbClr val="EFEAE0"/>
                </a:solidFill>
                <a:latin typeface="Consolas"/>
                <a:ea typeface="Consolas"/>
                <a:cs typeface="Consolas"/>
              </a:rPr>
              <a:t>3학년 학부모에게 보낼 가정통신문 초안을 만들어줘.</a:t>
            </a:r>
          </a:p>
          <a:p>
            <a:pPr algn="l">
              <a:lnSpc>
                <a:spcPts val="2300"/>
              </a:lnSpc>
              <a:spcBef>
                <a:spcPts val="0"/>
              </a:spcBef>
              <a:spcAft>
                <a:spcPts val="0"/>
              </a:spcAft>
            </a:pPr>
            <a:r>
              <a:rPr sz="1353" b="0" i="0" u="none">
                <a:solidFill>
                  <a:srgbClr val="EFEAE0"/>
                </a:solidFill>
                <a:latin typeface="Consolas"/>
                <a:ea typeface="Consolas"/>
                <a:cs typeface="Consolas"/>
              </a:rPr>
              <a:t> </a:t>
            </a:r>
          </a:p>
          <a:p>
            <a:pPr algn="l">
              <a:lnSpc>
                <a:spcPts val="2300"/>
              </a:lnSpc>
              <a:spcBef>
                <a:spcPts val="0"/>
              </a:spcBef>
              <a:spcAft>
                <a:spcPts val="0"/>
              </a:spcAft>
            </a:pPr>
            <a:r>
              <a:rPr sz="1353" b="0" i="0" u="none">
                <a:solidFill>
                  <a:srgbClr val="EFEAE0"/>
                </a:solidFill>
                <a:latin typeface="Consolas"/>
                <a:ea typeface="Consolas"/>
                <a:cs typeface="Consolas"/>
              </a:rPr>
              <a:t>같은 폴더의 작년통신문.docx 형식과 말투를 따라가고,</a:t>
            </a:r>
          </a:p>
          <a:p>
            <a:pPr algn="l">
              <a:lnSpc>
                <a:spcPts val="2300"/>
              </a:lnSpc>
              <a:spcBef>
                <a:spcPts val="0"/>
              </a:spcBef>
              <a:spcAft>
                <a:spcPts val="0"/>
              </a:spcAft>
            </a:pPr>
            <a:r>
              <a:rPr sz="1353" b="0" i="0" u="none">
                <a:solidFill>
                  <a:srgbClr val="EFEAE0"/>
                </a:solidFill>
                <a:latin typeface="Consolas"/>
                <a:ea typeface="Consolas"/>
                <a:cs typeface="Consolas"/>
              </a:rPr>
              <a:t>A4 한 장 분량 워드 파일로 저장해줘.</a:t>
            </a:r>
          </a:p>
          <a:p>
            <a:pPr algn="l">
              <a:lnSpc>
                <a:spcPts val="2300"/>
              </a:lnSpc>
              <a:spcBef>
                <a:spcPts val="0"/>
              </a:spcBef>
              <a:spcAft>
                <a:spcPts val="0"/>
              </a:spcAft>
            </a:pPr>
            <a:r>
              <a:rPr sz="1353" b="0" i="0" u="none">
                <a:solidFill>
                  <a:srgbClr val="EFEAE0"/>
                </a:solidFill>
                <a:latin typeface="Consolas"/>
                <a:ea typeface="Consolas"/>
                <a:cs typeface="Consolas"/>
              </a:rPr>
              <a:t> </a:t>
            </a:r>
          </a:p>
          <a:p>
            <a:pPr algn="l">
              <a:lnSpc>
                <a:spcPts val="2300"/>
              </a:lnSpc>
              <a:spcBef>
                <a:spcPts val="0"/>
              </a:spcBef>
              <a:spcAft>
                <a:spcPts val="0"/>
              </a:spcAft>
            </a:pPr>
            <a:r>
              <a:rPr sz="1353" b="0" i="0" u="none">
                <a:solidFill>
                  <a:srgbClr val="EFEAE0"/>
                </a:solidFill>
                <a:latin typeface="Consolas"/>
                <a:ea typeface="Consolas"/>
                <a:cs typeface="Consolas"/>
              </a:rPr>
              <a:t>날짜, 장소, 준비물, 비용은 계획서 원문 그대로 옮겨.</a:t>
            </a:r>
          </a:p>
          <a:p>
            <a:pPr algn="l">
              <a:lnSpc>
                <a:spcPts val="2300"/>
              </a:lnSpc>
              <a:spcBef>
                <a:spcPts val="0"/>
              </a:spcBef>
              <a:spcAft>
                <a:spcPts val="0"/>
              </a:spcAft>
            </a:pPr>
            <a:r>
              <a:rPr sz="1353" b="0" i="0" u="none">
                <a:solidFill>
                  <a:srgbClr val="EFEAE0"/>
                </a:solidFill>
                <a:latin typeface="Consolas"/>
                <a:ea typeface="Consolas"/>
                <a:cs typeface="Consolas"/>
              </a:rPr>
              <a:t>계획서에 없는 내용은 넣지 말고 빈칸으로 남겨줘.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8681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실습 ③ · 12분</a:t>
            </a:r>
          </a:p>
        </p:txBody>
      </p:sp>
      <p:sp>
        <p:nvSpPr>
          <p:cNvPr id="4" name="TextBox 3"/>
          <p:cNvSpPr txBox="1"/>
          <p:nvPr/>
        </p:nvSpPr>
        <p:spPr>
          <a:xfrm>
            <a:off x="571500" y="2059191"/>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업무 산출물 하나 만들기</a:t>
            </a:r>
          </a:p>
        </p:txBody>
      </p:sp>
      <p:sp>
        <p:nvSpPr>
          <p:cNvPr id="5" name="Rounded Rectangle 4"/>
          <p:cNvSpPr/>
          <p:nvPr/>
        </p:nvSpPr>
        <p:spPr>
          <a:xfrm>
            <a:off x="571500" y="278518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2950" y="289948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289948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8" name="TextBox 7"/>
          <p:cNvSpPr txBox="1"/>
          <p:nvPr/>
        </p:nvSpPr>
        <p:spPr>
          <a:xfrm>
            <a:off x="1162050" y="289955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예제 폴더에서 </a:t>
            </a:r>
            <a:r>
              <a:rPr sz="1551" b="1" i="0" u="none">
                <a:solidFill>
                  <a:srgbClr val="21334A"/>
                </a:solidFill>
                <a:latin typeface="Noto Sans KR"/>
                <a:ea typeface="Noto Sans KR"/>
                <a:cs typeface="Noto Sans KR"/>
              </a:rPr>
              <a:t>체험학습_계획.pdf</a:t>
            </a:r>
            <a:r>
              <a:rPr sz="1551" b="0" i="0" u="none">
                <a:solidFill>
                  <a:srgbClr val="3E3D39"/>
                </a:solidFill>
                <a:latin typeface="Noto Sans KR"/>
                <a:ea typeface="Noto Sans KR"/>
                <a:cs typeface="Noto Sans KR"/>
              </a:rPr>
              <a:t> 를 확인합니다</a:t>
            </a:r>
          </a:p>
        </p:txBody>
      </p:sp>
      <p:sp>
        <p:nvSpPr>
          <p:cNvPr id="9" name="Rounded Rectangle 8"/>
          <p:cNvSpPr/>
          <p:nvPr/>
        </p:nvSpPr>
        <p:spPr>
          <a:xfrm>
            <a:off x="571500" y="337573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950" y="349003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349003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2" name="TextBox 11"/>
          <p:cNvSpPr txBox="1"/>
          <p:nvPr/>
        </p:nvSpPr>
        <p:spPr>
          <a:xfrm>
            <a:off x="1162050" y="349010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앞 슬라이드 지시문을 붙여 넣습니다</a:t>
            </a:r>
          </a:p>
        </p:txBody>
      </p:sp>
      <p:sp>
        <p:nvSpPr>
          <p:cNvPr id="13" name="Rounded Rectangle 12"/>
          <p:cNvSpPr/>
          <p:nvPr/>
        </p:nvSpPr>
        <p:spPr>
          <a:xfrm>
            <a:off x="571500" y="396628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950" y="408058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2950" y="408058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6" name="TextBox 15"/>
          <p:cNvSpPr txBox="1"/>
          <p:nvPr/>
        </p:nvSpPr>
        <p:spPr>
          <a:xfrm>
            <a:off x="1162050" y="408065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만들어진 워드 파일을 열어 날짜와 준비물을 원문과 대조합니다</a:t>
            </a:r>
          </a:p>
        </p:txBody>
      </p:sp>
      <p:sp>
        <p:nvSpPr>
          <p:cNvPr id="17" name="Rounded Rectangle 16"/>
          <p:cNvSpPr/>
          <p:nvPr/>
        </p:nvSpPr>
        <p:spPr>
          <a:xfrm>
            <a:off x="571500" y="455683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2950" y="467113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950" y="467113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20" name="TextBox 19"/>
          <p:cNvSpPr txBox="1"/>
          <p:nvPr/>
        </p:nvSpPr>
        <p:spPr>
          <a:xfrm>
            <a:off x="1162050" y="467120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빈칸으로 남은 자리를 찾아 표시합니다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90936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명단과 표는 이렇게 시킵니다</a:t>
            </a:r>
          </a:p>
        </p:txBody>
      </p:sp>
      <p:sp>
        <p:nvSpPr>
          <p:cNvPr id="4" name="Rounded Rectangle 3"/>
          <p:cNvSpPr/>
          <p:nvPr/>
        </p:nvSpPr>
        <p:spPr>
          <a:xfrm>
            <a:off x="571500" y="2635358"/>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635358"/>
            <a:ext cx="5419725" cy="438379"/>
          </a:xfrm>
          <a:prstGeom prst="rect">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2635358"/>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결과가 흐린 지시</a:t>
            </a:r>
          </a:p>
        </p:txBody>
      </p:sp>
      <p:sp>
        <p:nvSpPr>
          <p:cNvPr id="7" name="TextBox 6"/>
          <p:cNvSpPr txBox="1"/>
          <p:nvPr/>
        </p:nvSpPr>
        <p:spPr>
          <a:xfrm>
            <a:off x="762000" y="318803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8" name="TextBox 7"/>
          <p:cNvSpPr txBox="1"/>
          <p:nvPr/>
        </p:nvSpPr>
        <p:spPr>
          <a:xfrm>
            <a:off x="933450" y="318803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명단 좀 정리해줘</a:t>
            </a:r>
          </a:p>
        </p:txBody>
      </p:sp>
      <p:sp>
        <p:nvSpPr>
          <p:cNvPr id="9" name="TextBox 8"/>
          <p:cNvSpPr txBox="1"/>
          <p:nvPr/>
        </p:nvSpPr>
        <p:spPr>
          <a:xfrm>
            <a:off x="762000" y="3534042"/>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0" name="TextBox 9"/>
          <p:cNvSpPr txBox="1"/>
          <p:nvPr/>
        </p:nvSpPr>
        <p:spPr>
          <a:xfrm>
            <a:off x="933450" y="3534042"/>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표로 만들어줘</a:t>
            </a:r>
          </a:p>
        </p:txBody>
      </p:sp>
      <p:sp>
        <p:nvSpPr>
          <p:cNvPr id="11" name="TextBox 10"/>
          <p:cNvSpPr txBox="1"/>
          <p:nvPr/>
        </p:nvSpPr>
        <p:spPr>
          <a:xfrm>
            <a:off x="762000" y="388004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2" name="TextBox 11"/>
          <p:cNvSpPr txBox="1"/>
          <p:nvPr/>
        </p:nvSpPr>
        <p:spPr>
          <a:xfrm>
            <a:off x="933450" y="388004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보기 좋게 바꿔줘</a:t>
            </a:r>
          </a:p>
        </p:txBody>
      </p:sp>
      <p:sp>
        <p:nvSpPr>
          <p:cNvPr id="13" name="Rounded Rectangle 12"/>
          <p:cNvSpPr/>
          <p:nvPr/>
        </p:nvSpPr>
        <p:spPr>
          <a:xfrm>
            <a:off x="6200775" y="2635358"/>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0775" y="2635358"/>
            <a:ext cx="5419725" cy="438379"/>
          </a:xfrm>
          <a:prstGeom prst="rect">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0775" y="2635358"/>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결과가 뾰족한 지시</a:t>
            </a:r>
          </a:p>
        </p:txBody>
      </p:sp>
      <p:sp>
        <p:nvSpPr>
          <p:cNvPr id="16" name="TextBox 15"/>
          <p:cNvSpPr txBox="1"/>
          <p:nvPr/>
        </p:nvSpPr>
        <p:spPr>
          <a:xfrm>
            <a:off x="6391275" y="318803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7" name="TextBox 16"/>
          <p:cNvSpPr txBox="1"/>
          <p:nvPr/>
        </p:nvSpPr>
        <p:spPr>
          <a:xfrm>
            <a:off x="6562725" y="318803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반별로 나눠 엑셀 시트를 따로 만들어줘</a:t>
            </a:r>
          </a:p>
        </p:txBody>
      </p:sp>
      <p:sp>
        <p:nvSpPr>
          <p:cNvPr id="18" name="TextBox 17"/>
          <p:cNvSpPr txBox="1"/>
          <p:nvPr/>
        </p:nvSpPr>
        <p:spPr>
          <a:xfrm>
            <a:off x="6391275" y="3534042"/>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9" name="TextBox 18"/>
          <p:cNvSpPr txBox="1"/>
          <p:nvPr/>
        </p:nvSpPr>
        <p:spPr>
          <a:xfrm>
            <a:off x="6562725" y="3534042"/>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제출 안 한 학생만 걸러 한 장으로 줘</a:t>
            </a:r>
          </a:p>
        </p:txBody>
      </p:sp>
      <p:sp>
        <p:nvSpPr>
          <p:cNvPr id="20" name="TextBox 19"/>
          <p:cNvSpPr txBox="1"/>
          <p:nvPr/>
        </p:nvSpPr>
        <p:spPr>
          <a:xfrm>
            <a:off x="6391275" y="388004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21" name="TextBox 20"/>
          <p:cNvSpPr txBox="1"/>
          <p:nvPr/>
        </p:nvSpPr>
        <p:spPr>
          <a:xfrm>
            <a:off x="6562725" y="388004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두 명단에서 이름이 어긋난 곳을 찾아줘</a:t>
            </a:r>
          </a:p>
        </p:txBody>
      </p:sp>
      <p:sp>
        <p:nvSpPr>
          <p:cNvPr id="22" name="TextBox 21"/>
          <p:cNvSpPr txBox="1"/>
          <p:nvPr/>
        </p:nvSpPr>
        <p:spPr>
          <a:xfrm>
            <a:off x="571500" y="469277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오른쪽 세 번째가 특히 유용합니다. 사람이 놓치는 걸 잘 찾습니다.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0127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긴 공문을 읽는 시간을 줄입니다</a:t>
            </a:r>
          </a:p>
        </p:txBody>
      </p:sp>
      <p:sp>
        <p:nvSpPr>
          <p:cNvPr id="4" name="Rounded Rectangle 3"/>
          <p:cNvSpPr/>
          <p:nvPr/>
        </p:nvSpPr>
        <p:spPr>
          <a:xfrm>
            <a:off x="571500" y="2527268"/>
            <a:ext cx="11049000" cy="1392364"/>
          </a:xfrm>
          <a:prstGeom prst="roundRect">
            <a:avLst>
              <a:gd name="adj" fmla="val 273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527268"/>
            <a:ext cx="47625" cy="139236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717768"/>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공문 한 건 요약</a:t>
            </a:r>
          </a:p>
        </p:txBody>
      </p:sp>
      <p:sp>
        <p:nvSpPr>
          <p:cNvPr id="7" name="Rounded Rectangle 6"/>
          <p:cNvSpPr/>
          <p:nvPr/>
        </p:nvSpPr>
        <p:spPr>
          <a:xfrm>
            <a:off x="9998726" y="2717768"/>
            <a:ext cx="1393174"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98726" y="2717768"/>
            <a:ext cx="1393174"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3분이면 충분</a:t>
            </a:r>
          </a:p>
        </p:txBody>
      </p:sp>
      <p:sp>
        <p:nvSpPr>
          <p:cNvPr id="9" name="TextBox 8"/>
          <p:cNvSpPr txBox="1"/>
          <p:nvPr/>
        </p:nvSpPr>
        <p:spPr>
          <a:xfrm>
            <a:off x="800100" y="3102007"/>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우리 학교가 실제로 해야 할 일, 기한, 담당만 뽑아 표로 정리하게 합니다.</a:t>
            </a:r>
          </a:p>
        </p:txBody>
      </p:sp>
      <p:sp>
        <p:nvSpPr>
          <p:cNvPr id="10" name="TextBox 9"/>
          <p:cNvSpPr txBox="1"/>
          <p:nvPr/>
        </p:nvSpPr>
        <p:spPr>
          <a:xfrm>
            <a:off x="800100" y="3435763"/>
            <a:ext cx="10591800" cy="29337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B0745C"/>
                </a:solidFill>
                <a:latin typeface="Noto Sans KR"/>
                <a:ea typeface="Noto Sans KR"/>
                <a:cs typeface="Noto Sans KR"/>
              </a:rPr>
              <a:t>범위를 우리 학교로 좁히는 게 요령입니다</a:t>
            </a:r>
          </a:p>
        </p:txBody>
      </p:sp>
      <p:sp>
        <p:nvSpPr>
          <p:cNvPr id="11" name="Rounded Rectangle 10"/>
          <p:cNvSpPr/>
          <p:nvPr/>
        </p:nvSpPr>
        <p:spPr>
          <a:xfrm>
            <a:off x="571500" y="4014883"/>
            <a:ext cx="11049000" cy="1041844"/>
          </a:xfrm>
          <a:prstGeom prst="roundRect">
            <a:avLst>
              <a:gd name="adj" fmla="val 365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4014883"/>
            <a:ext cx="47625" cy="104184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 y="4205383"/>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회의 기록 정리</a:t>
            </a:r>
          </a:p>
        </p:txBody>
      </p:sp>
      <p:sp>
        <p:nvSpPr>
          <p:cNvPr id="14" name="Rounded Rectangle 13"/>
          <p:cNvSpPr/>
          <p:nvPr/>
        </p:nvSpPr>
        <p:spPr>
          <a:xfrm>
            <a:off x="9909143" y="4205383"/>
            <a:ext cx="1482757"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9143" y="4205383"/>
            <a:ext cx="1482757"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결정만 남기기</a:t>
            </a:r>
          </a:p>
        </p:txBody>
      </p:sp>
      <p:sp>
        <p:nvSpPr>
          <p:cNvPr id="16" name="TextBox 15"/>
          <p:cNvSpPr txBox="1"/>
          <p:nvPr/>
        </p:nvSpPr>
        <p:spPr>
          <a:xfrm>
            <a:off x="800100" y="4589621"/>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협의회 기록에서 결정 사항, 담당자, 기한을 표로 뽑습니다. 발언자 이름은 빼도록 지시합니다.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90936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한글 파일은 우회해야 합니다</a:t>
            </a:r>
          </a:p>
        </p:txBody>
      </p:sp>
      <p:sp>
        <p:nvSpPr>
          <p:cNvPr id="4" name="Rounded Rectangle 3"/>
          <p:cNvSpPr/>
          <p:nvPr/>
        </p:nvSpPr>
        <p:spPr>
          <a:xfrm>
            <a:off x="571500" y="2635358"/>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635358"/>
            <a:ext cx="5419725" cy="438379"/>
          </a:xfrm>
          <a:prstGeom prst="rect">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2635358"/>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공식 지원 목록에 없는 것</a:t>
            </a:r>
          </a:p>
        </p:txBody>
      </p:sp>
      <p:sp>
        <p:nvSpPr>
          <p:cNvPr id="7" name="TextBox 6"/>
          <p:cNvSpPr txBox="1"/>
          <p:nvPr/>
        </p:nvSpPr>
        <p:spPr>
          <a:xfrm>
            <a:off x="762000" y="318803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8" name="TextBox 7"/>
          <p:cNvSpPr txBox="1"/>
          <p:nvPr/>
        </p:nvSpPr>
        <p:spPr>
          <a:xfrm>
            <a:off x="933450" y="318803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HWP, HWPX 직접 처리</a:t>
            </a:r>
          </a:p>
        </p:txBody>
      </p:sp>
      <p:sp>
        <p:nvSpPr>
          <p:cNvPr id="9" name="TextBox 8"/>
          <p:cNvSpPr txBox="1"/>
          <p:nvPr/>
        </p:nvSpPr>
        <p:spPr>
          <a:xfrm>
            <a:off x="762000" y="3534042"/>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0" name="TextBox 9"/>
          <p:cNvSpPr txBox="1"/>
          <p:nvPr/>
        </p:nvSpPr>
        <p:spPr>
          <a:xfrm>
            <a:off x="933450" y="3534042"/>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한글 파일 미리보기</a:t>
            </a:r>
          </a:p>
        </p:txBody>
      </p:sp>
      <p:sp>
        <p:nvSpPr>
          <p:cNvPr id="11" name="Rounded Rectangle 10"/>
          <p:cNvSpPr/>
          <p:nvPr/>
        </p:nvSpPr>
        <p:spPr>
          <a:xfrm>
            <a:off x="6200775" y="2635358"/>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0775" y="2635358"/>
            <a:ext cx="5419725" cy="438379"/>
          </a:xfrm>
          <a:prstGeom prst="rect">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0775" y="2635358"/>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되는 우회로</a:t>
            </a:r>
          </a:p>
        </p:txBody>
      </p:sp>
      <p:sp>
        <p:nvSpPr>
          <p:cNvPr id="14" name="TextBox 13"/>
          <p:cNvSpPr txBox="1"/>
          <p:nvPr/>
        </p:nvSpPr>
        <p:spPr>
          <a:xfrm>
            <a:off x="6391275" y="318803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5" name="TextBox 14"/>
          <p:cNvSpPr txBox="1"/>
          <p:nvPr/>
        </p:nvSpPr>
        <p:spPr>
          <a:xfrm>
            <a:off x="6562725" y="318803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한글에서 </a:t>
            </a:r>
            <a:r>
              <a:rPr sz="1418" b="1" i="0" u="none">
                <a:solidFill>
                  <a:srgbClr val="21334A"/>
                </a:solidFill>
                <a:latin typeface="Noto Sans KR"/>
                <a:ea typeface="Noto Sans KR"/>
                <a:cs typeface="Noto Sans KR"/>
              </a:rPr>
              <a:t>PDF로 저장</a:t>
            </a:r>
            <a:r>
              <a:rPr sz="1418" b="0" i="0" u="none">
                <a:solidFill>
                  <a:srgbClr val="3E3D39"/>
                </a:solidFill>
                <a:latin typeface="Noto Sans KR"/>
                <a:ea typeface="Noto Sans KR"/>
                <a:cs typeface="Noto Sans KR"/>
              </a:rPr>
              <a:t> 후 폴더에 넣기</a:t>
            </a:r>
          </a:p>
        </p:txBody>
      </p:sp>
      <p:sp>
        <p:nvSpPr>
          <p:cNvPr id="16" name="TextBox 15"/>
          <p:cNvSpPr txBox="1"/>
          <p:nvPr/>
        </p:nvSpPr>
        <p:spPr>
          <a:xfrm>
            <a:off x="6391275" y="3534042"/>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7" name="TextBox 16"/>
          <p:cNvSpPr txBox="1"/>
          <p:nvPr/>
        </p:nvSpPr>
        <p:spPr>
          <a:xfrm>
            <a:off x="6562725" y="3534042"/>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표가 많으면 DOCX로 저장하는 쪽이 덜 깨집니다</a:t>
            </a:r>
          </a:p>
        </p:txBody>
      </p:sp>
      <p:sp>
        <p:nvSpPr>
          <p:cNvPr id="18" name="TextBox 17"/>
          <p:cNvSpPr txBox="1"/>
          <p:nvPr/>
        </p:nvSpPr>
        <p:spPr>
          <a:xfrm>
            <a:off x="6391275" y="3880047"/>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9" name="TextBox 18"/>
          <p:cNvSpPr txBox="1"/>
          <p:nvPr/>
        </p:nvSpPr>
        <p:spPr>
          <a:xfrm>
            <a:off x="6562725" y="3880047"/>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결과를 워드로 받아 한글에서 열어 마무리</a:t>
            </a:r>
          </a:p>
        </p:txBody>
      </p:sp>
      <p:sp>
        <p:nvSpPr>
          <p:cNvPr id="20" name="TextBox 19"/>
          <p:cNvSpPr txBox="1"/>
          <p:nvPr/>
        </p:nvSpPr>
        <p:spPr>
          <a:xfrm>
            <a:off x="571500" y="469277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공식 지원 형식 목록에 한글 확장자가 없습니다. 2026-08-04 확인 기준입니다.</a:t>
            </a:r>
            <a:r>
              <a:rPr sz="1023" b="0" i="0" u="none">
                <a:solidFill>
                  <a:srgbClr val="B0745C"/>
                </a:solidFill>
                <a:latin typeface="Noto Sans KR"/>
                <a:ea typeface="Noto Sans KR"/>
                <a:cs typeface="Noto Sans KR"/>
                <a:hlinkClick r:id="rId3"/>
              </a:rPr>
              <a:t>[R6]</a:t>
            </a:r>
            <a:r>
              <a:rPr sz="1023" b="0" i="0" u="none">
                <a:solidFill>
                  <a:srgbClr val="B0745C"/>
                </a:solidFill>
                <a:latin typeface="Noto Sans KR"/>
                <a:ea typeface="Noto Sans KR"/>
                <a:cs typeface="Noto Sans KR"/>
                <a:hlinkClick r:id="rId4"/>
              </a:rPr>
              <a:t>[R11]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61438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내보내기 전에 네 줄만 확인</a:t>
            </a:r>
          </a:p>
        </p:txBody>
      </p:sp>
      <p:sp>
        <p:nvSpPr>
          <p:cNvPr id="4" name="Rounded Rectangle 3"/>
          <p:cNvSpPr/>
          <p:nvPr/>
        </p:nvSpPr>
        <p:spPr>
          <a:xfrm>
            <a:off x="571500" y="2340378"/>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495088"/>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495088"/>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1</a:t>
            </a:r>
          </a:p>
        </p:txBody>
      </p:sp>
      <p:sp>
        <p:nvSpPr>
          <p:cNvPr id="7" name="TextBox 6"/>
          <p:cNvSpPr txBox="1"/>
          <p:nvPr/>
        </p:nvSpPr>
        <p:spPr>
          <a:xfrm>
            <a:off x="1161098" y="2454678"/>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날짜와 숫자는 원문을 열어 눈으로 대조합니다</a:t>
            </a:r>
          </a:p>
        </p:txBody>
      </p:sp>
      <p:sp>
        <p:nvSpPr>
          <p:cNvPr id="8" name="Rounded Rectangle 7"/>
          <p:cNvSpPr/>
          <p:nvPr/>
        </p:nvSpPr>
        <p:spPr>
          <a:xfrm>
            <a:off x="571500" y="2973648"/>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128358"/>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128358"/>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2</a:t>
            </a:r>
          </a:p>
        </p:txBody>
      </p:sp>
      <p:sp>
        <p:nvSpPr>
          <p:cNvPr id="11" name="TextBox 10"/>
          <p:cNvSpPr txBox="1"/>
          <p:nvPr/>
        </p:nvSpPr>
        <p:spPr>
          <a:xfrm>
            <a:off x="1161098" y="3087948"/>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빈칸으로 남긴 자리를 내가 채웁니다</a:t>
            </a:r>
          </a:p>
        </p:txBody>
      </p:sp>
      <p:sp>
        <p:nvSpPr>
          <p:cNvPr id="12" name="Rounded Rectangle 11"/>
          <p:cNvSpPr/>
          <p:nvPr/>
        </p:nvSpPr>
        <p:spPr>
          <a:xfrm>
            <a:off x="571500" y="3606917"/>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3761627"/>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761627"/>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3</a:t>
            </a:r>
          </a:p>
        </p:txBody>
      </p:sp>
      <p:sp>
        <p:nvSpPr>
          <p:cNvPr id="15" name="TextBox 14"/>
          <p:cNvSpPr txBox="1"/>
          <p:nvPr/>
        </p:nvSpPr>
        <p:spPr>
          <a:xfrm>
            <a:off x="1161098" y="3721217"/>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학생 이름과 연락처가 섞여 들어갔는지 훑습니다</a:t>
            </a:r>
          </a:p>
        </p:txBody>
      </p:sp>
      <p:sp>
        <p:nvSpPr>
          <p:cNvPr id="16" name="Rounded Rectangle 15"/>
          <p:cNvSpPr/>
          <p:nvPr/>
        </p:nvSpPr>
        <p:spPr>
          <a:xfrm>
            <a:off x="571500" y="4240187"/>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2950" y="4394897"/>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950" y="4394897"/>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4</a:t>
            </a:r>
          </a:p>
        </p:txBody>
      </p:sp>
      <p:sp>
        <p:nvSpPr>
          <p:cNvPr id="19" name="TextBox 18"/>
          <p:cNvSpPr txBox="1"/>
          <p:nvPr/>
        </p:nvSpPr>
        <p:spPr>
          <a:xfrm>
            <a:off x="1161098" y="4354487"/>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문장 두세 군데를 내 말투로 고칩니다</a:t>
            </a:r>
          </a:p>
        </p:txBody>
      </p:sp>
      <p:sp>
        <p:nvSpPr>
          <p:cNvPr id="20" name="TextBox 19"/>
          <p:cNvSpPr txBox="1"/>
          <p:nvPr/>
        </p:nvSpPr>
        <p:spPr>
          <a:xfrm>
            <a:off x="571500" y="498775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4번을 하는 이유는 마지막 파트에서 규정과 함께 말씀드리겠습니다.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18701"/>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PART 3 · 수업 자동화</a:t>
            </a:r>
          </a:p>
        </p:txBody>
      </p:sp>
      <p:sp>
        <p:nvSpPr>
          <p:cNvPr id="4" name="TextBox 3"/>
          <p:cNvSpPr txBox="1"/>
          <p:nvPr/>
        </p:nvSpPr>
        <p:spPr>
          <a:xfrm>
            <a:off x="571500" y="1991077"/>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수업 준비에서 반복되는 자리</a:t>
            </a:r>
          </a:p>
        </p:txBody>
      </p:sp>
      <p:sp>
        <p:nvSpPr>
          <p:cNvPr id="5" name="TextBox 4"/>
          <p:cNvSpPr txBox="1"/>
          <p:nvPr/>
        </p:nvSpPr>
        <p:spPr>
          <a:xfrm>
            <a:off x="609600" y="2793273"/>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주말</a:t>
            </a:r>
          </a:p>
        </p:txBody>
      </p:sp>
      <p:sp>
        <p:nvSpPr>
          <p:cNvPr id="6" name="TextBox 5"/>
          <p:cNvSpPr txBox="1"/>
          <p:nvPr/>
        </p:nvSpPr>
        <p:spPr>
          <a:xfrm>
            <a:off x="1295400" y="2793273"/>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다음 주 진도 확인하고 자료 찾기</a:t>
            </a:r>
          </a:p>
        </p:txBody>
      </p:sp>
      <p:sp>
        <p:nvSpPr>
          <p:cNvPr id="7" name="Rectangle 6"/>
          <p:cNvSpPr/>
          <p:nvPr/>
        </p:nvSpPr>
        <p:spPr>
          <a:xfrm>
            <a:off x="571500" y="3158652"/>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3301527"/>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월</a:t>
            </a:r>
          </a:p>
        </p:txBody>
      </p:sp>
      <p:sp>
        <p:nvSpPr>
          <p:cNvPr id="9" name="TextBox 8"/>
          <p:cNvSpPr txBox="1"/>
          <p:nvPr/>
        </p:nvSpPr>
        <p:spPr>
          <a:xfrm>
            <a:off x="1295400" y="3301527"/>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학습지와 활동지 만들기</a:t>
            </a:r>
          </a:p>
        </p:txBody>
      </p:sp>
      <p:sp>
        <p:nvSpPr>
          <p:cNvPr id="10" name="Rectangle 9"/>
          <p:cNvSpPr/>
          <p:nvPr/>
        </p:nvSpPr>
        <p:spPr>
          <a:xfrm>
            <a:off x="571500" y="3666906"/>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3809781"/>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수</a:t>
            </a:r>
          </a:p>
        </p:txBody>
      </p:sp>
      <p:sp>
        <p:nvSpPr>
          <p:cNvPr id="12" name="TextBox 11"/>
          <p:cNvSpPr txBox="1"/>
          <p:nvPr/>
        </p:nvSpPr>
        <p:spPr>
          <a:xfrm>
            <a:off x="1295400" y="3809781"/>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수준이 다른 학생용 자료 따로 만들기</a:t>
            </a:r>
          </a:p>
        </p:txBody>
      </p:sp>
      <p:sp>
        <p:nvSpPr>
          <p:cNvPr id="13" name="Rectangle 12"/>
          <p:cNvSpPr/>
          <p:nvPr/>
        </p:nvSpPr>
        <p:spPr>
          <a:xfrm>
            <a:off x="571500" y="4175160"/>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 y="4318035"/>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금</a:t>
            </a:r>
          </a:p>
        </p:txBody>
      </p:sp>
      <p:sp>
        <p:nvSpPr>
          <p:cNvPr id="15" name="TextBox 14"/>
          <p:cNvSpPr txBox="1"/>
          <p:nvPr/>
        </p:nvSpPr>
        <p:spPr>
          <a:xfrm>
            <a:off x="1295400" y="4318035"/>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21334A"/>
                </a:solidFill>
                <a:latin typeface="Noto Sans KR"/>
                <a:ea typeface="Noto Sans KR"/>
                <a:cs typeface="Noto Sans KR"/>
              </a:rPr>
              <a:t>평가 문항과 </a:t>
            </a:r>
            <a:r>
              <a:rPr sz="1518" b="1" i="0" u="none">
                <a:solidFill>
                  <a:srgbClr val="21334A"/>
                </a:solidFill>
                <a:latin typeface="Noto Sans KR"/>
                <a:ea typeface="Noto Sans KR"/>
                <a:cs typeface="Noto Sans KR"/>
              </a:rPr>
              <a:t>채점 기준</a:t>
            </a:r>
            <a:r>
              <a:rPr sz="1518" b="0" i="0" u="none">
                <a:solidFill>
                  <a:srgbClr val="21334A"/>
                </a:solidFill>
                <a:latin typeface="Noto Sans KR"/>
                <a:ea typeface="Noto Sans KR"/>
                <a:cs typeface="Noto Sans KR"/>
              </a:rPr>
              <a:t> 짜기</a:t>
            </a:r>
          </a:p>
        </p:txBody>
      </p:sp>
      <p:sp>
        <p:nvSpPr>
          <p:cNvPr id="16" name="Rectangle 15"/>
          <p:cNvSpPr/>
          <p:nvPr/>
        </p:nvSpPr>
        <p:spPr>
          <a:xfrm>
            <a:off x="571500" y="4683414"/>
            <a:ext cx="11049000" cy="9525"/>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 y="4883439"/>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네 자리 다 매주 같은 모양으로 반복됩니다. 그래서 자동화가 붙습니다.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0127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학습지와 활동지</a:t>
            </a:r>
          </a:p>
        </p:txBody>
      </p:sp>
      <p:sp>
        <p:nvSpPr>
          <p:cNvPr id="4" name="Rounded Rectangle 3"/>
          <p:cNvSpPr/>
          <p:nvPr/>
        </p:nvSpPr>
        <p:spPr>
          <a:xfrm>
            <a:off x="571500" y="2527268"/>
            <a:ext cx="11049000" cy="1041844"/>
          </a:xfrm>
          <a:prstGeom prst="roundRect">
            <a:avLst>
              <a:gd name="adj" fmla="val 365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527268"/>
            <a:ext cx="47625" cy="104184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717768"/>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넣는 것</a:t>
            </a:r>
          </a:p>
        </p:txBody>
      </p:sp>
      <p:sp>
        <p:nvSpPr>
          <p:cNvPr id="7" name="Rounded Rectangle 6"/>
          <p:cNvSpPr/>
          <p:nvPr/>
        </p:nvSpPr>
        <p:spPr>
          <a:xfrm>
            <a:off x="10048494" y="2717768"/>
            <a:ext cx="1343406"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48494" y="2717768"/>
            <a:ext cx="1343406"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내 수업 자료</a:t>
            </a:r>
          </a:p>
        </p:txBody>
      </p:sp>
      <p:sp>
        <p:nvSpPr>
          <p:cNvPr id="9" name="TextBox 8"/>
          <p:cNvSpPr txBox="1"/>
          <p:nvPr/>
        </p:nvSpPr>
        <p:spPr>
          <a:xfrm>
            <a:off x="800100" y="3102007"/>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교과서 해당 단원 PDF, 성취기준, 지난주에 쓴 학습지를 폴더에 넣습니다.</a:t>
            </a:r>
          </a:p>
        </p:txBody>
      </p:sp>
      <p:sp>
        <p:nvSpPr>
          <p:cNvPr id="10" name="Rounded Rectangle 9"/>
          <p:cNvSpPr/>
          <p:nvPr/>
        </p:nvSpPr>
        <p:spPr>
          <a:xfrm>
            <a:off x="571500" y="3664363"/>
            <a:ext cx="11049000" cy="1392364"/>
          </a:xfrm>
          <a:prstGeom prst="roundRect">
            <a:avLst>
              <a:gd name="adj" fmla="val 273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3664363"/>
            <a:ext cx="47625" cy="139236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3854863"/>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받는 것</a:t>
            </a:r>
          </a:p>
        </p:txBody>
      </p:sp>
      <p:sp>
        <p:nvSpPr>
          <p:cNvPr id="13" name="Rounded Rectangle 12"/>
          <p:cNvSpPr/>
          <p:nvPr/>
        </p:nvSpPr>
        <p:spPr>
          <a:xfrm>
            <a:off x="10307288" y="3854863"/>
            <a:ext cx="1084612"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07288" y="3854863"/>
            <a:ext cx="1084612"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워드 파일</a:t>
            </a:r>
          </a:p>
        </p:txBody>
      </p:sp>
      <p:sp>
        <p:nvSpPr>
          <p:cNvPr id="15" name="TextBox 14"/>
          <p:cNvSpPr txBox="1"/>
          <p:nvPr/>
        </p:nvSpPr>
        <p:spPr>
          <a:xfrm>
            <a:off x="800100" y="4239101"/>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학습 목표, 활동 순서, 관찰 기록란, 마무리 질문이 들어간 A4 한 장 학습지가 나옵니다.</a:t>
            </a:r>
          </a:p>
        </p:txBody>
      </p:sp>
      <p:sp>
        <p:nvSpPr>
          <p:cNvPr id="16" name="TextBox 15"/>
          <p:cNvSpPr txBox="1"/>
          <p:nvPr/>
        </p:nvSpPr>
        <p:spPr>
          <a:xfrm>
            <a:off x="800100" y="4572857"/>
            <a:ext cx="10591800" cy="29337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B0745C"/>
                </a:solidFill>
                <a:latin typeface="Noto Sans KR"/>
                <a:ea typeface="Noto Sans KR"/>
                <a:cs typeface="Noto Sans KR"/>
              </a:rPr>
              <a:t>지난주 학습지를 넣으면 내 수업 틀을 그대로 따라옵니다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0127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평가 문항과 채점 기준</a:t>
            </a:r>
          </a:p>
        </p:txBody>
      </p:sp>
      <p:sp>
        <p:nvSpPr>
          <p:cNvPr id="4" name="Rounded Rectangle 3"/>
          <p:cNvSpPr/>
          <p:nvPr/>
        </p:nvSpPr>
        <p:spPr>
          <a:xfrm>
            <a:off x="571500" y="2527268"/>
            <a:ext cx="11049000" cy="1041844"/>
          </a:xfrm>
          <a:prstGeom prst="roundRect">
            <a:avLst>
              <a:gd name="adj" fmla="val 365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527268"/>
            <a:ext cx="47625" cy="104184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717768"/>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문항 만들기</a:t>
            </a:r>
          </a:p>
        </p:txBody>
      </p:sp>
      <p:sp>
        <p:nvSpPr>
          <p:cNvPr id="7" name="Rounded Rectangle 6"/>
          <p:cNvSpPr/>
          <p:nvPr/>
        </p:nvSpPr>
        <p:spPr>
          <a:xfrm>
            <a:off x="9909143" y="2717768"/>
            <a:ext cx="1482757"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9143" y="2717768"/>
            <a:ext cx="1482757"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성취기준 연결</a:t>
            </a:r>
          </a:p>
        </p:txBody>
      </p:sp>
      <p:sp>
        <p:nvSpPr>
          <p:cNvPr id="9" name="TextBox 8"/>
          <p:cNvSpPr txBox="1"/>
          <p:nvPr/>
        </p:nvSpPr>
        <p:spPr>
          <a:xfrm>
            <a:off x="800100" y="3102007"/>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성취기준을 주고 그에 맞는 문항을 만들게 합니다. 문항마다 어느 성취기준인지 표시하도록 시킵니다.</a:t>
            </a:r>
          </a:p>
        </p:txBody>
      </p:sp>
      <p:sp>
        <p:nvSpPr>
          <p:cNvPr id="10" name="Rounded Rectangle 9"/>
          <p:cNvSpPr/>
          <p:nvPr/>
        </p:nvSpPr>
        <p:spPr>
          <a:xfrm>
            <a:off x="571500" y="3664363"/>
            <a:ext cx="11049000" cy="1392364"/>
          </a:xfrm>
          <a:prstGeom prst="roundRect">
            <a:avLst>
              <a:gd name="adj" fmla="val 273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3664363"/>
            <a:ext cx="47625" cy="139236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3854863"/>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채점 기준표</a:t>
            </a:r>
          </a:p>
        </p:txBody>
      </p:sp>
      <p:sp>
        <p:nvSpPr>
          <p:cNvPr id="13" name="Rounded Rectangle 12"/>
          <p:cNvSpPr/>
          <p:nvPr/>
        </p:nvSpPr>
        <p:spPr>
          <a:xfrm>
            <a:off x="10655665" y="3854863"/>
            <a:ext cx="736235"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55665" y="3854863"/>
            <a:ext cx="736235"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3단계</a:t>
            </a:r>
          </a:p>
        </p:txBody>
      </p:sp>
      <p:sp>
        <p:nvSpPr>
          <p:cNvPr id="15" name="TextBox 14"/>
          <p:cNvSpPr txBox="1"/>
          <p:nvPr/>
        </p:nvSpPr>
        <p:spPr>
          <a:xfrm>
            <a:off x="800100" y="4239101"/>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같은 문항으로 잘함, 보통, 노력 요함 세 단계 서술을 만듭니다. 표로 받으면 그대로 쓰기 좋습니다.</a:t>
            </a:r>
          </a:p>
        </p:txBody>
      </p:sp>
      <p:sp>
        <p:nvSpPr>
          <p:cNvPr id="16" name="TextBox 15"/>
          <p:cNvSpPr txBox="1"/>
          <p:nvPr/>
        </p:nvSpPr>
        <p:spPr>
          <a:xfrm>
            <a:off x="800100" y="4572857"/>
            <a:ext cx="10591800" cy="29337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B0745C"/>
                </a:solidFill>
                <a:latin typeface="Noto Sans KR"/>
                <a:ea typeface="Noto Sans KR"/>
                <a:cs typeface="Noto Sans KR"/>
              </a:rPr>
              <a:t>기준표가 먼저 있으면 채점 시간이 크게 줄어듭니다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614421"/>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코워크가 특히 잘하는 것</a:t>
            </a:r>
          </a:p>
        </p:txBody>
      </p:sp>
      <p:sp>
        <p:nvSpPr>
          <p:cNvPr id="4" name="TextBox 3"/>
          <p:cNvSpPr txBox="1"/>
          <p:nvPr/>
        </p:nvSpPr>
        <p:spPr>
          <a:xfrm>
            <a:off x="571500" y="1886798"/>
            <a:ext cx="11049000" cy="322707"/>
          </a:xfrm>
          <a:prstGeom prst="rect">
            <a:avLst/>
          </a:prstGeom>
          <a:noFill/>
        </p:spPr>
        <p:txBody>
          <a:bodyPr wrap="square" lIns="0" rIns="0" tIns="0" bIns="0" anchor="t">
            <a:noAutofit/>
          </a:bodyPr>
          <a:lstStyle/>
          <a:p>
            <a:pPr algn="ctr">
              <a:lnSpc>
                <a:spcPts val="2541"/>
              </a:lnSpc>
              <a:spcBef>
                <a:spcPts val="0"/>
              </a:spcBef>
              <a:spcAft>
                <a:spcPts val="0"/>
              </a:spcAft>
            </a:pPr>
            <a:r>
              <a:rPr sz="2310" b="0" i="0" u="none">
                <a:solidFill>
                  <a:srgbClr val="7A756C"/>
                </a:solidFill>
                <a:latin typeface="Noto Sans KR"/>
                <a:ea typeface="Noto Sans KR"/>
                <a:cs typeface="Noto Sans KR"/>
              </a:rPr>
              <a:t>같은 자료를 세 벌로</a:t>
            </a:r>
          </a:p>
        </p:txBody>
      </p:sp>
      <p:sp>
        <p:nvSpPr>
          <p:cNvPr id="5" name="Rounded Rectangle 4"/>
          <p:cNvSpPr/>
          <p:nvPr/>
        </p:nvSpPr>
        <p:spPr>
          <a:xfrm>
            <a:off x="571500" y="2371430"/>
            <a:ext cx="11049000" cy="2425789"/>
          </a:xfrm>
          <a:prstGeom prst="roundRect">
            <a:avLst>
              <a:gd name="adj" fmla="val 1570"/>
            </a:avLst>
          </a:prstGeom>
          <a:solidFill>
            <a:srgbClr val="21334A"/>
          </a:solidFill>
          <a:ln w="9525">
            <a:solidFill>
              <a:srgbClr val="21334A">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561930"/>
            <a:ext cx="10591800" cy="2044789"/>
          </a:xfrm>
          <a:prstGeom prst="rect">
            <a:avLst/>
          </a:prstGeom>
          <a:noFill/>
        </p:spPr>
        <p:txBody>
          <a:bodyPr wrap="square" lIns="0" rIns="0" tIns="0" bIns="0" anchor="t">
            <a:noAutofit/>
          </a:bodyPr>
          <a:lstStyle/>
          <a:p>
            <a:pPr algn="l">
              <a:lnSpc>
                <a:spcPts val="2300"/>
              </a:lnSpc>
              <a:spcBef>
                <a:spcPts val="0"/>
              </a:spcBef>
              <a:spcAft>
                <a:spcPts val="0"/>
              </a:spcAft>
            </a:pPr>
            <a:r>
              <a:rPr sz="1353" b="0" i="0" u="none">
                <a:solidFill>
                  <a:srgbClr val="EFEAE0"/>
                </a:solidFill>
                <a:latin typeface="Consolas"/>
                <a:ea typeface="Consolas"/>
                <a:cs typeface="Consolas"/>
              </a:rPr>
              <a:t>방금 만든 학습지를 세 가지 버전으로 나눠 저장해줘.</a:t>
            </a:r>
          </a:p>
          <a:p>
            <a:pPr algn="l">
              <a:lnSpc>
                <a:spcPts val="2300"/>
              </a:lnSpc>
              <a:spcBef>
                <a:spcPts val="0"/>
              </a:spcBef>
              <a:spcAft>
                <a:spcPts val="0"/>
              </a:spcAft>
            </a:pPr>
            <a:r>
              <a:rPr sz="1353" b="0" i="0" u="none">
                <a:solidFill>
                  <a:srgbClr val="EFEAE0"/>
                </a:solidFill>
                <a:latin typeface="Consolas"/>
                <a:ea typeface="Consolas"/>
                <a:cs typeface="Consolas"/>
              </a:rPr>
              <a:t> </a:t>
            </a:r>
          </a:p>
          <a:p>
            <a:pPr algn="l">
              <a:lnSpc>
                <a:spcPts val="2300"/>
              </a:lnSpc>
              <a:spcBef>
                <a:spcPts val="0"/>
              </a:spcBef>
              <a:spcAft>
                <a:spcPts val="0"/>
              </a:spcAft>
            </a:pPr>
            <a:r>
              <a:rPr sz="1353" b="0" i="0" u="none">
                <a:solidFill>
                  <a:srgbClr val="EFEAE0"/>
                </a:solidFill>
                <a:latin typeface="Consolas"/>
                <a:ea typeface="Consolas"/>
                <a:cs typeface="Consolas"/>
              </a:rPr>
              <a:t>기초: 글자 수를 줄이고 예시를 하나 더 넣어줘.</a:t>
            </a:r>
          </a:p>
          <a:p>
            <a:pPr algn="l">
              <a:lnSpc>
                <a:spcPts val="2300"/>
              </a:lnSpc>
              <a:spcBef>
                <a:spcPts val="0"/>
              </a:spcBef>
              <a:spcAft>
                <a:spcPts val="0"/>
              </a:spcAft>
            </a:pPr>
            <a:r>
              <a:rPr sz="1353" b="0" i="0" u="none">
                <a:solidFill>
                  <a:srgbClr val="EFEAE0"/>
                </a:solidFill>
                <a:latin typeface="Consolas"/>
                <a:ea typeface="Consolas"/>
                <a:cs typeface="Consolas"/>
              </a:rPr>
              <a:t>기본: 지금 그대로 둬.</a:t>
            </a:r>
          </a:p>
          <a:p>
            <a:pPr algn="l">
              <a:lnSpc>
                <a:spcPts val="2300"/>
              </a:lnSpc>
              <a:spcBef>
                <a:spcPts val="0"/>
              </a:spcBef>
              <a:spcAft>
                <a:spcPts val="0"/>
              </a:spcAft>
            </a:pPr>
            <a:r>
              <a:rPr sz="1353" b="0" i="0" u="none">
                <a:solidFill>
                  <a:srgbClr val="EFEAE0"/>
                </a:solidFill>
                <a:latin typeface="Consolas"/>
                <a:ea typeface="Consolas"/>
                <a:cs typeface="Consolas"/>
              </a:rPr>
              <a:t>심화: 스스로 생각해볼 질문을 두 개 더 붙여줘.</a:t>
            </a:r>
          </a:p>
          <a:p>
            <a:pPr algn="l">
              <a:lnSpc>
                <a:spcPts val="2300"/>
              </a:lnSpc>
              <a:spcBef>
                <a:spcPts val="0"/>
              </a:spcBef>
              <a:spcAft>
                <a:spcPts val="0"/>
              </a:spcAft>
            </a:pPr>
            <a:r>
              <a:rPr sz="1353" b="0" i="0" u="none">
                <a:solidFill>
                  <a:srgbClr val="EFEAE0"/>
                </a:solidFill>
                <a:latin typeface="Consolas"/>
                <a:ea typeface="Consolas"/>
                <a:cs typeface="Consolas"/>
              </a:rPr>
              <a:t> </a:t>
            </a:r>
          </a:p>
          <a:p>
            <a:pPr algn="l">
              <a:lnSpc>
                <a:spcPts val="2300"/>
              </a:lnSpc>
              <a:spcBef>
                <a:spcPts val="0"/>
              </a:spcBef>
              <a:spcAft>
                <a:spcPts val="0"/>
              </a:spcAft>
            </a:pPr>
            <a:r>
              <a:rPr sz="1353" b="0" i="0" u="none">
                <a:solidFill>
                  <a:srgbClr val="EFEAE0"/>
                </a:solidFill>
                <a:latin typeface="Consolas"/>
                <a:ea typeface="Consolas"/>
                <a:cs typeface="Consolas"/>
              </a:rPr>
              <a:t>파일 이름은 학습지_기초, 학습지_기본, 학습지_심화 로 해줘.</a:t>
            </a:r>
          </a:p>
        </p:txBody>
      </p:sp>
      <p:sp>
        <p:nvSpPr>
          <p:cNvPr id="7" name="TextBox 6"/>
          <p:cNvSpPr txBox="1"/>
          <p:nvPr/>
        </p:nvSpPr>
        <p:spPr>
          <a:xfrm>
            <a:off x="571500" y="4987719"/>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세 파일이 한 번에 폴더에 생깁니다. 손으로 하면 가장 지루한 작업입니다.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8681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실습 ④ · 12분</a:t>
            </a:r>
          </a:p>
        </p:txBody>
      </p:sp>
      <p:sp>
        <p:nvSpPr>
          <p:cNvPr id="4" name="TextBox 3"/>
          <p:cNvSpPr txBox="1"/>
          <p:nvPr/>
        </p:nvSpPr>
        <p:spPr>
          <a:xfrm>
            <a:off x="571500" y="2059191"/>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수업 산출물 하나 만들기</a:t>
            </a:r>
          </a:p>
        </p:txBody>
      </p:sp>
      <p:sp>
        <p:nvSpPr>
          <p:cNvPr id="5" name="Rounded Rectangle 4"/>
          <p:cNvSpPr/>
          <p:nvPr/>
        </p:nvSpPr>
        <p:spPr>
          <a:xfrm>
            <a:off x="571500" y="278518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2950" y="289948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289948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8" name="TextBox 7"/>
          <p:cNvSpPr txBox="1"/>
          <p:nvPr/>
        </p:nvSpPr>
        <p:spPr>
          <a:xfrm>
            <a:off x="1162050" y="289955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예제 폴더의 </a:t>
            </a:r>
            <a:r>
              <a:rPr sz="1551" b="1" i="0" u="none">
                <a:solidFill>
                  <a:srgbClr val="21334A"/>
                </a:solidFill>
                <a:latin typeface="Noto Sans KR"/>
                <a:ea typeface="Noto Sans KR"/>
                <a:cs typeface="Noto Sans KR"/>
              </a:rPr>
              <a:t>단원자료.pdf</a:t>
            </a:r>
            <a:r>
              <a:rPr sz="1551" b="0" i="0" u="none">
                <a:solidFill>
                  <a:srgbClr val="3E3D39"/>
                </a:solidFill>
                <a:latin typeface="Noto Sans KR"/>
                <a:ea typeface="Noto Sans KR"/>
                <a:cs typeface="Noto Sans KR"/>
              </a:rPr>
              <a:t> 와 성취기준 파일을 확인합니다</a:t>
            </a:r>
          </a:p>
        </p:txBody>
      </p:sp>
      <p:sp>
        <p:nvSpPr>
          <p:cNvPr id="9" name="Rounded Rectangle 8"/>
          <p:cNvSpPr/>
          <p:nvPr/>
        </p:nvSpPr>
        <p:spPr>
          <a:xfrm>
            <a:off x="571500" y="337573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950" y="349003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349003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2" name="TextBox 11"/>
          <p:cNvSpPr txBox="1"/>
          <p:nvPr/>
        </p:nvSpPr>
        <p:spPr>
          <a:xfrm>
            <a:off x="1162050" y="349010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A4 한 장짜리 학습지를 워드로 만들라고 시킵니다</a:t>
            </a:r>
          </a:p>
        </p:txBody>
      </p:sp>
      <p:sp>
        <p:nvSpPr>
          <p:cNvPr id="13" name="Rounded Rectangle 12"/>
          <p:cNvSpPr/>
          <p:nvPr/>
        </p:nvSpPr>
        <p:spPr>
          <a:xfrm>
            <a:off x="571500" y="396628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950" y="408058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2950" y="408058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6" name="TextBox 15"/>
          <p:cNvSpPr txBox="1"/>
          <p:nvPr/>
        </p:nvSpPr>
        <p:spPr>
          <a:xfrm>
            <a:off x="1162050" y="408065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앞 슬라이드 지시문으로 세 수준 버전을 뽑습니다</a:t>
            </a:r>
          </a:p>
        </p:txBody>
      </p:sp>
      <p:sp>
        <p:nvSpPr>
          <p:cNvPr id="17" name="Rounded Rectangle 16"/>
          <p:cNvSpPr/>
          <p:nvPr/>
        </p:nvSpPr>
        <p:spPr>
          <a:xfrm>
            <a:off x="571500" y="455683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2950" y="467113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950" y="467113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20" name="TextBox 19"/>
          <p:cNvSpPr txBox="1"/>
          <p:nvPr/>
        </p:nvSpPr>
        <p:spPr>
          <a:xfrm>
            <a:off x="1162050" y="467120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기초 버전을 열어 우리 반 학생이 읽을 수 있는지 봅니다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0127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내 자료를 물려주면 달라집니다</a:t>
            </a:r>
          </a:p>
        </p:txBody>
      </p:sp>
      <p:sp>
        <p:nvSpPr>
          <p:cNvPr id="4" name="Rounded Rectangle 3"/>
          <p:cNvSpPr/>
          <p:nvPr/>
        </p:nvSpPr>
        <p:spPr>
          <a:xfrm>
            <a:off x="571500" y="2527268"/>
            <a:ext cx="11049000" cy="1041844"/>
          </a:xfrm>
          <a:prstGeom prst="roundRect">
            <a:avLst>
              <a:gd name="adj" fmla="val 365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527268"/>
            <a:ext cx="47625" cy="104184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717768"/>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진도표를 넣으면</a:t>
            </a:r>
          </a:p>
        </p:txBody>
      </p:sp>
      <p:sp>
        <p:nvSpPr>
          <p:cNvPr id="7" name="Rounded Rectangle 6"/>
          <p:cNvSpPr/>
          <p:nvPr/>
        </p:nvSpPr>
        <p:spPr>
          <a:xfrm>
            <a:off x="10108216" y="2717768"/>
            <a:ext cx="1283684"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08216" y="2717768"/>
            <a:ext cx="1283684"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차시 단위로</a:t>
            </a:r>
          </a:p>
        </p:txBody>
      </p:sp>
      <p:sp>
        <p:nvSpPr>
          <p:cNvPr id="9" name="TextBox 8"/>
          <p:cNvSpPr txBox="1"/>
          <p:nvPr/>
        </p:nvSpPr>
        <p:spPr>
          <a:xfrm>
            <a:off x="800100" y="3102007"/>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몇 주차에 어느 단원인지 알기 때문에, 다음 차시 자료를 미리 만들어달라고 시킬 수 있습니다.</a:t>
            </a:r>
          </a:p>
        </p:txBody>
      </p:sp>
      <p:sp>
        <p:nvSpPr>
          <p:cNvPr id="10" name="Rounded Rectangle 9"/>
          <p:cNvSpPr/>
          <p:nvPr/>
        </p:nvSpPr>
        <p:spPr>
          <a:xfrm>
            <a:off x="571500" y="3664363"/>
            <a:ext cx="11049000" cy="1392364"/>
          </a:xfrm>
          <a:prstGeom prst="roundRect">
            <a:avLst>
              <a:gd name="adj" fmla="val 2736"/>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3664363"/>
            <a:ext cx="47625" cy="1392364"/>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3854863"/>
            <a:ext cx="7202424" cy="308039"/>
          </a:xfrm>
          <a:prstGeom prst="rect">
            <a:avLst/>
          </a:prstGeom>
          <a:noFill/>
        </p:spPr>
        <p:txBody>
          <a:bodyPr wrap="square" lIns="0" rIns="0" tIns="0" bIns="0" anchor="t">
            <a:noAutofit/>
          </a:bodyPr>
          <a:lstStyle/>
          <a:p>
            <a:pPr algn="l">
              <a:lnSpc>
                <a:spcPts val="2425"/>
              </a:lnSpc>
              <a:spcBef>
                <a:spcPts val="0"/>
              </a:spcBef>
              <a:spcAft>
                <a:spcPts val="0"/>
              </a:spcAft>
            </a:pPr>
            <a:r>
              <a:rPr sz="1732" b="1" i="0" u="none">
                <a:solidFill>
                  <a:srgbClr val="21334A"/>
                </a:solidFill>
                <a:latin typeface="Noto Sans KR"/>
                <a:ea typeface="Noto Sans KR"/>
                <a:cs typeface="Noto Sans KR"/>
              </a:rPr>
              <a:t>지난 자료를 넣으면</a:t>
            </a:r>
          </a:p>
        </p:txBody>
      </p:sp>
      <p:sp>
        <p:nvSpPr>
          <p:cNvPr id="13" name="Rounded Rectangle 12"/>
          <p:cNvSpPr/>
          <p:nvPr/>
        </p:nvSpPr>
        <p:spPr>
          <a:xfrm>
            <a:off x="10247567" y="3854863"/>
            <a:ext cx="1144333" cy="318516"/>
          </a:xfrm>
          <a:prstGeom prst="roundRect">
            <a:avLst>
              <a:gd name="adj" fmla="val 50000"/>
            </a:avLst>
          </a:prstGeom>
          <a:solidFill>
            <a:srgbClr val="90966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7567" y="3854863"/>
            <a:ext cx="1144333" cy="318516"/>
          </a:xfrm>
          <a:prstGeom prst="rect">
            <a:avLst/>
          </a:prstGeom>
          <a:noFill/>
        </p:spPr>
        <p:txBody>
          <a:bodyPr wrap="square" lIns="0" rIns="0" tIns="0" bIns="0" anchor="ctr">
            <a:noAutofit/>
          </a:bodyPr>
          <a:lstStyle/>
          <a:p>
            <a:pPr algn="ctr">
              <a:lnSpc>
                <a:spcPts val="1567"/>
              </a:lnSpc>
              <a:spcBef>
                <a:spcPts val="0"/>
              </a:spcBef>
              <a:spcAft>
                <a:spcPts val="0"/>
              </a:spcAft>
            </a:pPr>
            <a:r>
              <a:rPr sz="1567" b="1" i="0" u="none">
                <a:solidFill>
                  <a:srgbClr val="909666"/>
                </a:solidFill>
                <a:latin typeface="Consolas"/>
                <a:ea typeface="Consolas"/>
                <a:cs typeface="Consolas"/>
              </a:rPr>
              <a:t>내 틀 유지</a:t>
            </a:r>
          </a:p>
        </p:txBody>
      </p:sp>
      <p:sp>
        <p:nvSpPr>
          <p:cNvPr id="15" name="TextBox 14"/>
          <p:cNvSpPr txBox="1"/>
          <p:nvPr/>
        </p:nvSpPr>
        <p:spPr>
          <a:xfrm>
            <a:off x="800100" y="4239101"/>
            <a:ext cx="10591800" cy="276606"/>
          </a:xfrm>
          <a:prstGeom prst="rect">
            <a:avLst/>
          </a:prstGeom>
          <a:noFill/>
        </p:spPr>
        <p:txBody>
          <a:bodyPr wrap="square" lIns="0" rIns="0" tIns="0" bIns="0" anchor="t">
            <a:noAutofit/>
          </a:bodyPr>
          <a:lstStyle/>
          <a:p>
            <a:pPr algn="l">
              <a:lnSpc>
                <a:spcPts val="2178"/>
              </a:lnSpc>
              <a:spcBef>
                <a:spcPts val="0"/>
              </a:spcBef>
              <a:spcAft>
                <a:spcPts val="0"/>
              </a:spcAft>
            </a:pPr>
            <a:r>
              <a:rPr sz="1452" b="0" i="0" u="none">
                <a:solidFill>
                  <a:srgbClr val="3E3D39"/>
                </a:solidFill>
                <a:latin typeface="Noto Sans KR"/>
                <a:ea typeface="Noto Sans KR"/>
                <a:cs typeface="Noto Sans KR"/>
              </a:rPr>
              <a:t>내가 쓰던 서식과 말투를 따라갑니다. 폴더가 쌓일수록 손볼 곳이 줄어듭니다.</a:t>
            </a:r>
          </a:p>
        </p:txBody>
      </p:sp>
      <p:sp>
        <p:nvSpPr>
          <p:cNvPr id="16" name="TextBox 15"/>
          <p:cNvSpPr txBox="1"/>
          <p:nvPr/>
        </p:nvSpPr>
        <p:spPr>
          <a:xfrm>
            <a:off x="800100" y="4572857"/>
            <a:ext cx="10591800" cy="293370"/>
          </a:xfrm>
          <a:prstGeom prst="rect">
            <a:avLst/>
          </a:prstGeom>
          <a:noFill/>
        </p:spPr>
        <p:txBody>
          <a:bodyPr wrap="square" lIns="0" rIns="0" tIns="0" bIns="0" anchor="t">
            <a:noAutofit/>
          </a:bodyPr>
          <a:lstStyle/>
          <a:p>
            <a:pPr algn="l">
              <a:lnSpc>
                <a:spcPts val="2310"/>
              </a:lnSpc>
              <a:spcBef>
                <a:spcPts val="0"/>
              </a:spcBef>
              <a:spcAft>
                <a:spcPts val="0"/>
              </a:spcAft>
            </a:pPr>
            <a:r>
              <a:rPr sz="1650" b="1" i="0" u="none">
                <a:solidFill>
                  <a:srgbClr val="B0745C"/>
                </a:solidFill>
                <a:latin typeface="Noto Sans KR"/>
                <a:ea typeface="Noto Sans KR"/>
                <a:cs typeface="Noto Sans KR"/>
              </a:rPr>
              <a:t>한 학기 자료가 모인 폴더 하나가 가장 강한 준비물입니다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61438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수업 자료는 이 네 가지를 봅니다</a:t>
            </a:r>
          </a:p>
        </p:txBody>
      </p:sp>
      <p:sp>
        <p:nvSpPr>
          <p:cNvPr id="4" name="Rounded Rectangle 3"/>
          <p:cNvSpPr/>
          <p:nvPr/>
        </p:nvSpPr>
        <p:spPr>
          <a:xfrm>
            <a:off x="571500" y="2340378"/>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495088"/>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495088"/>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1</a:t>
            </a:r>
          </a:p>
        </p:txBody>
      </p:sp>
      <p:sp>
        <p:nvSpPr>
          <p:cNvPr id="7" name="TextBox 6"/>
          <p:cNvSpPr txBox="1"/>
          <p:nvPr/>
        </p:nvSpPr>
        <p:spPr>
          <a:xfrm>
            <a:off x="1161098" y="2454678"/>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성취기준과 실제로 맞는지 확인합니다</a:t>
            </a:r>
          </a:p>
        </p:txBody>
      </p:sp>
      <p:sp>
        <p:nvSpPr>
          <p:cNvPr id="8" name="Rounded Rectangle 7"/>
          <p:cNvSpPr/>
          <p:nvPr/>
        </p:nvSpPr>
        <p:spPr>
          <a:xfrm>
            <a:off x="571500" y="2973648"/>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128358"/>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128358"/>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2</a:t>
            </a:r>
          </a:p>
        </p:txBody>
      </p:sp>
      <p:sp>
        <p:nvSpPr>
          <p:cNvPr id="11" name="TextBox 10"/>
          <p:cNvSpPr txBox="1"/>
          <p:nvPr/>
        </p:nvSpPr>
        <p:spPr>
          <a:xfrm>
            <a:off x="1161098" y="3087948"/>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우리 반 아이들 수준에서 읽히는지 소리 내어 읽어봅니다</a:t>
            </a:r>
          </a:p>
        </p:txBody>
      </p:sp>
      <p:sp>
        <p:nvSpPr>
          <p:cNvPr id="12" name="Rounded Rectangle 11"/>
          <p:cNvSpPr/>
          <p:nvPr/>
        </p:nvSpPr>
        <p:spPr>
          <a:xfrm>
            <a:off x="571500" y="3606917"/>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3761627"/>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761627"/>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3</a:t>
            </a:r>
          </a:p>
        </p:txBody>
      </p:sp>
      <p:sp>
        <p:nvSpPr>
          <p:cNvPr id="15" name="TextBox 14"/>
          <p:cNvSpPr txBox="1"/>
          <p:nvPr/>
        </p:nvSpPr>
        <p:spPr>
          <a:xfrm>
            <a:off x="1161098" y="3721217"/>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사실 관계와 예시가 교과서와 어긋나지 않는지 봅니다</a:t>
            </a:r>
          </a:p>
        </p:txBody>
      </p:sp>
      <p:sp>
        <p:nvSpPr>
          <p:cNvPr id="16" name="Rounded Rectangle 15"/>
          <p:cNvSpPr/>
          <p:nvPr/>
        </p:nvSpPr>
        <p:spPr>
          <a:xfrm>
            <a:off x="571500" y="4240187"/>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2950" y="4394897"/>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950" y="4394897"/>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4</a:t>
            </a:r>
          </a:p>
        </p:txBody>
      </p:sp>
      <p:sp>
        <p:nvSpPr>
          <p:cNvPr id="19" name="TextBox 18"/>
          <p:cNvSpPr txBox="1"/>
          <p:nvPr/>
        </p:nvSpPr>
        <p:spPr>
          <a:xfrm>
            <a:off x="1161098" y="4354487"/>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활동 시간이 40분 안에 들어가는지 계산합니다</a:t>
            </a:r>
          </a:p>
        </p:txBody>
      </p:sp>
      <p:sp>
        <p:nvSpPr>
          <p:cNvPr id="20" name="TextBox 19"/>
          <p:cNvSpPr txBox="1"/>
          <p:nvPr/>
        </p:nvSpPr>
        <p:spPr>
          <a:xfrm>
            <a:off x="571500" y="498775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4번은 자주 틀립니다. 활동을 넉넉하게 잡는 경향이 있습니다.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540688"/>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PART 4 · 반복 가능하게 만들기</a:t>
            </a:r>
          </a:p>
        </p:txBody>
      </p:sp>
      <p:sp>
        <p:nvSpPr>
          <p:cNvPr id="4" name="TextBox 3"/>
          <p:cNvSpPr txBox="1"/>
          <p:nvPr/>
        </p:nvSpPr>
        <p:spPr>
          <a:xfrm>
            <a:off x="571500" y="1813065"/>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자동화라는 말의 뜻</a:t>
            </a:r>
          </a:p>
        </p:txBody>
      </p:sp>
      <p:sp>
        <p:nvSpPr>
          <p:cNvPr id="5" name="TextBox 4"/>
          <p:cNvSpPr txBox="1"/>
          <p:nvPr/>
        </p:nvSpPr>
        <p:spPr>
          <a:xfrm>
            <a:off x="1809750" y="2548585"/>
            <a:ext cx="8572500" cy="1307592"/>
          </a:xfrm>
          <a:prstGeom prst="rect">
            <a:avLst/>
          </a:prstGeom>
          <a:noFill/>
        </p:spPr>
        <p:txBody>
          <a:bodyPr wrap="square" lIns="0" rIns="0" tIns="0" bIns="0" anchor="t">
            <a:noAutofit/>
          </a:bodyPr>
          <a:lstStyle/>
          <a:p>
            <a:pPr algn="ctr">
              <a:lnSpc>
                <a:spcPts val="5148"/>
              </a:lnSpc>
              <a:spcBef>
                <a:spcPts val="0"/>
              </a:spcBef>
              <a:spcAft>
                <a:spcPts val="0"/>
              </a:spcAft>
            </a:pPr>
            <a:r>
              <a:rPr sz="3959" b="1" i="0" u="none">
                <a:solidFill>
                  <a:srgbClr val="B0745C"/>
                </a:solidFill>
                <a:latin typeface="Noto Sans KR"/>
                <a:ea typeface="Noto Sans KR"/>
                <a:cs typeface="Noto Sans KR"/>
              </a:rPr>
              <a:t>“</a:t>
            </a:r>
            <a:r>
              <a:rPr sz="3959" b="1" i="0" u="none">
                <a:solidFill>
                  <a:srgbClr val="21334A"/>
                </a:solidFill>
                <a:latin typeface="Noto Sans KR"/>
                <a:ea typeface="Noto Sans KR"/>
                <a:cs typeface="Noto Sans KR"/>
              </a:rPr>
              <a:t>버튼 한 번이 아니라, 매번 같은 순서로 하는 것</a:t>
            </a:r>
            <a:r>
              <a:rPr sz="3959" b="1" i="0" u="none">
                <a:solidFill>
                  <a:srgbClr val="B0745C"/>
                </a:solidFill>
                <a:latin typeface="Noto Sans KR"/>
                <a:ea typeface="Noto Sans KR"/>
                <a:cs typeface="Noto Sans KR"/>
              </a:rPr>
              <a:t>”</a:t>
            </a:r>
          </a:p>
        </p:txBody>
      </p:sp>
      <p:sp>
        <p:nvSpPr>
          <p:cNvPr id="6" name="TextBox 5"/>
          <p:cNvSpPr txBox="1"/>
          <p:nvPr/>
        </p:nvSpPr>
        <p:spPr>
          <a:xfrm>
            <a:off x="571500" y="4032390"/>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7" name="TextBox 6"/>
          <p:cNvSpPr txBox="1"/>
          <p:nvPr/>
        </p:nvSpPr>
        <p:spPr>
          <a:xfrm>
            <a:off x="838200" y="4032390"/>
            <a:ext cx="107823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같은 자료를 매번 같은 폴더에 모읍니다</a:t>
            </a:r>
          </a:p>
        </p:txBody>
      </p:sp>
      <p:sp>
        <p:nvSpPr>
          <p:cNvPr id="8" name="TextBox 7"/>
          <p:cNvSpPr txBox="1"/>
          <p:nvPr/>
        </p:nvSpPr>
        <p:spPr>
          <a:xfrm>
            <a:off x="571500" y="4501972"/>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9" name="TextBox 8"/>
          <p:cNvSpPr txBox="1"/>
          <p:nvPr/>
        </p:nvSpPr>
        <p:spPr>
          <a:xfrm>
            <a:off x="838200" y="4501972"/>
            <a:ext cx="107823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같은 지시문을 매번 같은 순서로 넣습니다</a:t>
            </a:r>
          </a:p>
        </p:txBody>
      </p:sp>
      <p:sp>
        <p:nvSpPr>
          <p:cNvPr id="10" name="TextBox 9"/>
          <p:cNvSpPr txBox="1"/>
          <p:nvPr/>
        </p:nvSpPr>
        <p:spPr>
          <a:xfrm>
            <a:off x="571500" y="4971555"/>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11" name="TextBox 10"/>
          <p:cNvSpPr txBox="1"/>
          <p:nvPr/>
        </p:nvSpPr>
        <p:spPr>
          <a:xfrm>
            <a:off x="838200" y="4971555"/>
            <a:ext cx="107823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같은 기준으로 매번 검수합니다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322308"/>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실습 ⑤ 준비</a:t>
            </a:r>
          </a:p>
        </p:txBody>
      </p:sp>
      <p:sp>
        <p:nvSpPr>
          <p:cNvPr id="4" name="TextBox 3"/>
          <p:cNvSpPr txBox="1"/>
          <p:nvPr/>
        </p:nvSpPr>
        <p:spPr>
          <a:xfrm>
            <a:off x="571500" y="1594685"/>
            <a:ext cx="11049000" cy="322707"/>
          </a:xfrm>
          <a:prstGeom prst="rect">
            <a:avLst/>
          </a:prstGeom>
          <a:noFill/>
        </p:spPr>
        <p:txBody>
          <a:bodyPr wrap="square" lIns="0" rIns="0" tIns="0" bIns="0" anchor="t">
            <a:noAutofit/>
          </a:bodyPr>
          <a:lstStyle/>
          <a:p>
            <a:pPr algn="ctr">
              <a:lnSpc>
                <a:spcPts val="2541"/>
              </a:lnSpc>
              <a:spcBef>
                <a:spcPts val="0"/>
              </a:spcBef>
              <a:spcAft>
                <a:spcPts val="0"/>
              </a:spcAft>
            </a:pPr>
            <a:r>
              <a:rPr sz="2310" b="0" i="0" u="none">
                <a:solidFill>
                  <a:srgbClr val="7A756C"/>
                </a:solidFill>
                <a:latin typeface="Noto Sans KR"/>
                <a:ea typeface="Noto Sans KR"/>
                <a:cs typeface="Noto Sans KR"/>
              </a:rPr>
              <a:t>이 칸을 채워보세요</a:t>
            </a:r>
          </a:p>
        </p:txBody>
      </p:sp>
      <p:sp>
        <p:nvSpPr>
          <p:cNvPr id="5" name="Rounded Rectangle 4"/>
          <p:cNvSpPr/>
          <p:nvPr/>
        </p:nvSpPr>
        <p:spPr>
          <a:xfrm>
            <a:off x="571500" y="2079317"/>
            <a:ext cx="11049000" cy="3010014"/>
          </a:xfrm>
          <a:prstGeom prst="roundRect">
            <a:avLst>
              <a:gd name="adj" fmla="val 1265"/>
            </a:avLst>
          </a:prstGeom>
          <a:solidFill>
            <a:srgbClr val="21334A"/>
          </a:solidFill>
          <a:ln w="9525">
            <a:solidFill>
              <a:srgbClr val="21334A">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269817"/>
            <a:ext cx="10591800" cy="2629014"/>
          </a:xfrm>
          <a:prstGeom prst="rect">
            <a:avLst/>
          </a:prstGeom>
          <a:noFill/>
        </p:spPr>
        <p:txBody>
          <a:bodyPr wrap="square" lIns="0" rIns="0" tIns="0" bIns="0" anchor="t">
            <a:noAutofit/>
          </a:bodyPr>
          <a:lstStyle/>
          <a:p>
            <a:pPr algn="l">
              <a:lnSpc>
                <a:spcPts val="2300"/>
              </a:lnSpc>
              <a:spcBef>
                <a:spcPts val="0"/>
              </a:spcBef>
              <a:spcAft>
                <a:spcPts val="0"/>
              </a:spcAft>
            </a:pPr>
            <a:r>
              <a:rPr sz="1353" b="0" i="0" u="none">
                <a:solidFill>
                  <a:srgbClr val="EFEAE0"/>
                </a:solidFill>
                <a:latin typeface="Consolas"/>
                <a:ea typeface="Consolas"/>
                <a:cs typeface="Consolas"/>
              </a:rPr>
              <a:t>반복 업무 이름:</a:t>
            </a:r>
          </a:p>
          <a:p>
            <a:pPr algn="l">
              <a:lnSpc>
                <a:spcPts val="2300"/>
              </a:lnSpc>
              <a:spcBef>
                <a:spcPts val="0"/>
              </a:spcBef>
              <a:spcAft>
                <a:spcPts val="0"/>
              </a:spcAft>
            </a:pPr>
            <a:r>
              <a:rPr sz="1353" b="0" i="0" u="none">
                <a:solidFill>
                  <a:srgbClr val="EFEAE0"/>
                </a:solidFill>
                <a:latin typeface="Consolas"/>
                <a:ea typeface="Consolas"/>
                <a:cs typeface="Consolas"/>
              </a:rPr>
              <a:t>얼마나 자주:            (매주 / 매월 / 학기마다)</a:t>
            </a:r>
          </a:p>
          <a:p>
            <a:pPr algn="l">
              <a:lnSpc>
                <a:spcPts val="2300"/>
              </a:lnSpc>
              <a:spcBef>
                <a:spcPts val="0"/>
              </a:spcBef>
              <a:spcAft>
                <a:spcPts val="0"/>
              </a:spcAft>
            </a:pPr>
            <a:r>
              <a:rPr sz="1353" b="0" i="0" u="none">
                <a:solidFill>
                  <a:srgbClr val="EFEAE0"/>
                </a:solidFill>
                <a:latin typeface="Consolas"/>
                <a:ea typeface="Consolas"/>
                <a:cs typeface="Consolas"/>
              </a:rPr>
              <a:t> </a:t>
            </a:r>
          </a:p>
          <a:p>
            <a:pPr algn="l">
              <a:lnSpc>
                <a:spcPts val="2300"/>
              </a:lnSpc>
              <a:spcBef>
                <a:spcPts val="0"/>
              </a:spcBef>
              <a:spcAft>
                <a:spcPts val="0"/>
              </a:spcAft>
            </a:pPr>
            <a:r>
              <a:rPr sz="1353" b="0" i="0" u="none">
                <a:solidFill>
                  <a:srgbClr val="EFEAE0"/>
                </a:solidFill>
                <a:latin typeface="Consolas"/>
                <a:ea typeface="Consolas"/>
                <a:cs typeface="Consolas"/>
              </a:rPr>
              <a:t>1. 모을 자료:          (어느 폴더에 무슨 파일인가)</a:t>
            </a:r>
          </a:p>
          <a:p>
            <a:pPr algn="l">
              <a:lnSpc>
                <a:spcPts val="2300"/>
              </a:lnSpc>
              <a:spcBef>
                <a:spcPts val="0"/>
              </a:spcBef>
              <a:spcAft>
                <a:spcPts val="0"/>
              </a:spcAft>
            </a:pPr>
            <a:r>
              <a:rPr sz="1353" b="0" i="0" u="none">
                <a:solidFill>
                  <a:srgbClr val="EFEAE0"/>
                </a:solidFill>
                <a:latin typeface="Consolas"/>
                <a:ea typeface="Consolas"/>
                <a:cs typeface="Consolas"/>
              </a:rPr>
              <a:t>2. 넣을 지시문:        (네 가지를 채운 한 덩어리)</a:t>
            </a:r>
          </a:p>
          <a:p>
            <a:pPr algn="l">
              <a:lnSpc>
                <a:spcPts val="2300"/>
              </a:lnSpc>
              <a:spcBef>
                <a:spcPts val="0"/>
              </a:spcBef>
              <a:spcAft>
                <a:spcPts val="0"/>
              </a:spcAft>
            </a:pPr>
            <a:r>
              <a:rPr sz="1353" b="0" i="0" u="none">
                <a:solidFill>
                  <a:srgbClr val="EFEAE0"/>
                </a:solidFill>
                <a:latin typeface="Consolas"/>
                <a:ea typeface="Consolas"/>
                <a:cs typeface="Consolas"/>
              </a:rPr>
              <a:t>3. 받을 산출물:        (워드 / 엑셀 / 표)</a:t>
            </a:r>
          </a:p>
          <a:p>
            <a:pPr algn="l">
              <a:lnSpc>
                <a:spcPts val="2300"/>
              </a:lnSpc>
              <a:spcBef>
                <a:spcPts val="0"/>
              </a:spcBef>
              <a:spcAft>
                <a:spcPts val="0"/>
              </a:spcAft>
            </a:pPr>
            <a:r>
              <a:rPr sz="1353" b="0" i="0" u="none">
                <a:solidFill>
                  <a:srgbClr val="EFEAE0"/>
                </a:solidFill>
                <a:latin typeface="Consolas"/>
                <a:ea typeface="Consolas"/>
                <a:cs typeface="Consolas"/>
              </a:rPr>
              <a:t>4. 검수할 것:          (숫자? 이름? 말투?)</a:t>
            </a:r>
          </a:p>
          <a:p>
            <a:pPr algn="l">
              <a:lnSpc>
                <a:spcPts val="2300"/>
              </a:lnSpc>
              <a:spcBef>
                <a:spcPts val="0"/>
              </a:spcBef>
              <a:spcAft>
                <a:spcPts val="0"/>
              </a:spcAft>
            </a:pPr>
            <a:r>
              <a:rPr sz="1353" b="0" i="0" u="none">
                <a:solidFill>
                  <a:srgbClr val="EFEAE0"/>
                </a:solidFill>
                <a:latin typeface="Consolas"/>
                <a:ea typeface="Consolas"/>
                <a:cs typeface="Consolas"/>
              </a:rPr>
              <a:t> </a:t>
            </a:r>
          </a:p>
          <a:p>
            <a:pPr algn="l">
              <a:lnSpc>
                <a:spcPts val="2300"/>
              </a:lnSpc>
              <a:spcBef>
                <a:spcPts val="0"/>
              </a:spcBef>
              <a:spcAft>
                <a:spcPts val="0"/>
              </a:spcAft>
            </a:pPr>
            <a:r>
              <a:rPr sz="1353" b="0" i="0" u="none">
                <a:solidFill>
                  <a:srgbClr val="EFEAE0"/>
                </a:solidFill>
                <a:latin typeface="Consolas"/>
                <a:ea typeface="Consolas"/>
                <a:cs typeface="Consolas"/>
              </a:rPr>
              <a:t>폴더 이름:             (학년도 + 목적)</a:t>
            </a:r>
          </a:p>
        </p:txBody>
      </p:sp>
      <p:sp>
        <p:nvSpPr>
          <p:cNvPr id="7" name="TextBox 6"/>
          <p:cNvSpPr txBox="1"/>
          <p:nvPr/>
        </p:nvSpPr>
        <p:spPr>
          <a:xfrm>
            <a:off x="571500" y="5279831"/>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다 채우면 이 문서가 다음 학기의 복제 버튼입니다.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092747"/>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한 번 만들고 계속 쓰기</a:t>
            </a:r>
          </a:p>
        </p:txBody>
      </p:sp>
      <p:sp>
        <p:nvSpPr>
          <p:cNvPr id="4" name="Rounded Rectangle 3"/>
          <p:cNvSpPr/>
          <p:nvPr/>
        </p:nvSpPr>
        <p:spPr>
          <a:xfrm>
            <a:off x="571500" y="2818743"/>
            <a:ext cx="3619500" cy="1481099"/>
          </a:xfrm>
          <a:prstGeom prst="roundRect">
            <a:avLst>
              <a:gd name="adj" fmla="val 2572"/>
            </a:avLst>
          </a:prstGeom>
          <a:solidFill>
            <a:srgbClr val="B0745C">
              <a:alpha val="10000"/>
            </a:srgbClr>
          </a:solidFill>
          <a:ln w="9525">
            <a:solidFill>
              <a:srgbClr val="B0745C"/>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3900" y="2990193"/>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스킬</a:t>
            </a:r>
          </a:p>
        </p:txBody>
      </p:sp>
      <p:sp>
        <p:nvSpPr>
          <p:cNvPr id="6" name="TextBox 5"/>
          <p:cNvSpPr txBox="1"/>
          <p:nvPr/>
        </p:nvSpPr>
        <p:spPr>
          <a:xfrm>
            <a:off x="723900" y="3248282"/>
            <a:ext cx="3314700" cy="88011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자주 쓰는 지시문 한 덩어리를 이름 붙여 저장합니다. 다음부터 이름만 부릅니다.</a:t>
            </a:r>
          </a:p>
        </p:txBody>
      </p:sp>
      <p:sp>
        <p:nvSpPr>
          <p:cNvPr id="7" name="Rounded Rectangle 6"/>
          <p:cNvSpPr/>
          <p:nvPr/>
        </p:nvSpPr>
        <p:spPr>
          <a:xfrm>
            <a:off x="4286250" y="2818743"/>
            <a:ext cx="3619500" cy="1481099"/>
          </a:xfrm>
          <a:prstGeom prst="roundRect">
            <a:avLst>
              <a:gd name="adj" fmla="val 2572"/>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8650" y="2990193"/>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커넥터</a:t>
            </a:r>
          </a:p>
        </p:txBody>
      </p:sp>
      <p:sp>
        <p:nvSpPr>
          <p:cNvPr id="9" name="TextBox 8"/>
          <p:cNvSpPr txBox="1"/>
          <p:nvPr/>
        </p:nvSpPr>
        <p:spPr>
          <a:xfrm>
            <a:off x="4438650" y="3248282"/>
            <a:ext cx="3314700" cy="58674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드라이브나 메일 같은 다른 도구를 연결합니다.</a:t>
            </a:r>
          </a:p>
        </p:txBody>
      </p:sp>
      <p:sp>
        <p:nvSpPr>
          <p:cNvPr id="10" name="Rounded Rectangle 9"/>
          <p:cNvSpPr/>
          <p:nvPr/>
        </p:nvSpPr>
        <p:spPr>
          <a:xfrm>
            <a:off x="8001000" y="2818743"/>
            <a:ext cx="3619500" cy="1481099"/>
          </a:xfrm>
          <a:prstGeom prst="roundRect">
            <a:avLst>
              <a:gd name="adj" fmla="val 2572"/>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3400" y="2990193"/>
            <a:ext cx="3314700" cy="181889"/>
          </a:xfrm>
          <a:prstGeom prst="rect">
            <a:avLst/>
          </a:prstGeom>
          <a:noFill/>
        </p:spPr>
        <p:txBody>
          <a:bodyPr wrap="square" lIns="0" rIns="0" tIns="0" bIns="0" anchor="t">
            <a:noAutofit/>
          </a:bodyPr>
          <a:lstStyle/>
          <a:p>
            <a:pPr algn="l">
              <a:lnSpc>
                <a:spcPts val="1432"/>
              </a:lnSpc>
              <a:spcBef>
                <a:spcPts val="0"/>
              </a:spcBef>
              <a:spcAft>
                <a:spcPts val="0"/>
              </a:spcAft>
            </a:pPr>
            <a:r>
              <a:rPr sz="1023" b="0" i="0" u="none" spc="123">
                <a:solidFill>
                  <a:srgbClr val="B0745C"/>
                </a:solidFill>
                <a:latin typeface="Consolas"/>
                <a:ea typeface="Consolas"/>
                <a:cs typeface="Consolas"/>
              </a:rPr>
              <a:t>플러그인</a:t>
            </a:r>
          </a:p>
        </p:txBody>
      </p:sp>
      <p:sp>
        <p:nvSpPr>
          <p:cNvPr id="12" name="TextBox 11"/>
          <p:cNvSpPr txBox="1"/>
          <p:nvPr/>
        </p:nvSpPr>
        <p:spPr>
          <a:xfrm>
            <a:off x="8153400" y="3248282"/>
            <a:ext cx="3314700" cy="880110"/>
          </a:xfrm>
          <a:prstGeom prst="rect">
            <a:avLst/>
          </a:prstGeom>
          <a:noFill/>
        </p:spPr>
        <p:txBody>
          <a:bodyPr wrap="square" lIns="0" rIns="0" tIns="0" bIns="0" anchor="t">
            <a:noAutofit/>
          </a:bodyPr>
          <a:lstStyle/>
          <a:p>
            <a:pPr algn="l">
              <a:lnSpc>
                <a:spcPts val="2310"/>
              </a:lnSpc>
              <a:spcBef>
                <a:spcPts val="0"/>
              </a:spcBef>
              <a:spcAft>
                <a:spcPts val="0"/>
              </a:spcAft>
            </a:pPr>
            <a:r>
              <a:rPr sz="1650" b="0" i="0" u="none">
                <a:solidFill>
                  <a:srgbClr val="3E3D39"/>
                </a:solidFill>
                <a:latin typeface="Noto Sans KR"/>
                <a:ea typeface="Noto Sans KR"/>
                <a:cs typeface="Noto Sans KR"/>
              </a:rPr>
              <a:t>스킬과 커넥터를 한 꾸러미로 묶은 것입니다. 설치하면 바로 쓸 수 있습니다.</a:t>
            </a:r>
          </a:p>
        </p:txBody>
      </p:sp>
      <p:sp>
        <p:nvSpPr>
          <p:cNvPr id="13" name="TextBox 12"/>
          <p:cNvSpPr txBox="1"/>
          <p:nvPr/>
        </p:nvSpPr>
        <p:spPr>
          <a:xfrm>
            <a:off x="571500" y="4509392"/>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셋 다 유료 플랜에 들어 있습니다. 일부 기능은 코워크에서만 동작하고 일반 채팅에서는 비활성입니다.</a:t>
            </a:r>
            <a:r>
              <a:rPr sz="1023" b="0" i="0" u="none">
                <a:solidFill>
                  <a:srgbClr val="B0745C"/>
                </a:solidFill>
                <a:latin typeface="Noto Sans KR"/>
                <a:ea typeface="Noto Sans KR"/>
                <a:cs typeface="Noto Sans KR"/>
                <a:hlinkClick r:id="rId3"/>
              </a:rPr>
              <a:t>[R4]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82394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한 주를 이렇게 돌립니다</a:t>
            </a:r>
          </a:p>
        </p:txBody>
      </p:sp>
      <p:sp>
        <p:nvSpPr>
          <p:cNvPr id="4" name="TextBox 3"/>
          <p:cNvSpPr txBox="1"/>
          <p:nvPr/>
        </p:nvSpPr>
        <p:spPr>
          <a:xfrm>
            <a:off x="609600" y="2626138"/>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월</a:t>
            </a:r>
          </a:p>
        </p:txBody>
      </p:sp>
      <p:sp>
        <p:nvSpPr>
          <p:cNvPr id="5" name="TextBox 4"/>
          <p:cNvSpPr txBox="1"/>
          <p:nvPr/>
        </p:nvSpPr>
        <p:spPr>
          <a:xfrm>
            <a:off x="1295400" y="2626138"/>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이번 주 공문을 </a:t>
            </a:r>
            <a:r>
              <a:rPr sz="1518" b="1" i="0" u="none">
                <a:solidFill>
                  <a:srgbClr val="21334A"/>
                </a:solidFill>
                <a:latin typeface="Noto Sans KR"/>
                <a:ea typeface="Noto Sans KR"/>
                <a:cs typeface="Noto Sans KR"/>
              </a:rPr>
              <a:t>업무 폴더</a:t>
            </a:r>
            <a:r>
              <a:rPr sz="1518" b="0" i="0" u="none">
                <a:solidFill>
                  <a:srgbClr val="3E3D39"/>
                </a:solidFill>
                <a:latin typeface="Noto Sans KR"/>
                <a:ea typeface="Noto Sans KR"/>
                <a:cs typeface="Noto Sans KR"/>
              </a:rPr>
              <a:t>에 넣고 할 일 표 하나 뽑기</a:t>
            </a:r>
          </a:p>
        </p:txBody>
      </p:sp>
      <p:sp>
        <p:nvSpPr>
          <p:cNvPr id="6" name="Rectangle 5"/>
          <p:cNvSpPr/>
          <p:nvPr/>
        </p:nvSpPr>
        <p:spPr>
          <a:xfrm>
            <a:off x="571500" y="2991517"/>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3134392"/>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화</a:t>
            </a:r>
          </a:p>
        </p:txBody>
      </p:sp>
      <p:sp>
        <p:nvSpPr>
          <p:cNvPr id="8" name="TextBox 7"/>
          <p:cNvSpPr txBox="1"/>
          <p:nvPr/>
        </p:nvSpPr>
        <p:spPr>
          <a:xfrm>
            <a:off x="1295400" y="3134392"/>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다음 단원 자료로 학습지와 수준별 세 벌 만들기</a:t>
            </a:r>
          </a:p>
        </p:txBody>
      </p:sp>
      <p:sp>
        <p:nvSpPr>
          <p:cNvPr id="9" name="Rectangle 8"/>
          <p:cNvSpPr/>
          <p:nvPr/>
        </p:nvSpPr>
        <p:spPr>
          <a:xfrm>
            <a:off x="571500" y="3499771"/>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3642646"/>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수</a:t>
            </a:r>
          </a:p>
        </p:txBody>
      </p:sp>
      <p:sp>
        <p:nvSpPr>
          <p:cNvPr id="11" name="TextBox 10"/>
          <p:cNvSpPr txBox="1"/>
          <p:nvPr/>
        </p:nvSpPr>
        <p:spPr>
          <a:xfrm>
            <a:off x="1295400" y="3642646"/>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협의회 기록에서 결정 사항만 표로 정리하기</a:t>
            </a:r>
          </a:p>
        </p:txBody>
      </p:sp>
      <p:sp>
        <p:nvSpPr>
          <p:cNvPr id="12" name="Rectangle 11"/>
          <p:cNvSpPr/>
          <p:nvPr/>
        </p:nvSpPr>
        <p:spPr>
          <a:xfrm>
            <a:off x="571500" y="4008025"/>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600" y="4150900"/>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목</a:t>
            </a:r>
          </a:p>
        </p:txBody>
      </p:sp>
      <p:sp>
        <p:nvSpPr>
          <p:cNvPr id="14" name="TextBox 13"/>
          <p:cNvSpPr txBox="1"/>
          <p:nvPr/>
        </p:nvSpPr>
        <p:spPr>
          <a:xfrm>
            <a:off x="1295400" y="4150900"/>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3E3D39"/>
                </a:solidFill>
                <a:latin typeface="Noto Sans KR"/>
                <a:ea typeface="Noto Sans KR"/>
                <a:cs typeface="Noto Sans KR"/>
              </a:rPr>
              <a:t>평가 문항과 채점 기준표 뽑아두기</a:t>
            </a:r>
          </a:p>
        </p:txBody>
      </p:sp>
      <p:sp>
        <p:nvSpPr>
          <p:cNvPr id="15" name="Rectangle 14"/>
          <p:cNvSpPr/>
          <p:nvPr/>
        </p:nvSpPr>
        <p:spPr>
          <a:xfrm>
            <a:off x="571500" y="4516279"/>
            <a:ext cx="11049000" cy="9525"/>
          </a:xfrm>
          <a:prstGeom prst="rect">
            <a:avLst/>
          </a:prstGeom>
          <a:solidFill>
            <a:srgbClr val="D8D0C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600" y="4659154"/>
            <a:ext cx="552450" cy="269900"/>
          </a:xfrm>
          <a:prstGeom prst="rect">
            <a:avLst/>
          </a:prstGeom>
          <a:noFill/>
        </p:spPr>
        <p:txBody>
          <a:bodyPr wrap="none" lIns="0" rIns="0" tIns="0" bIns="0" anchor="t">
            <a:noAutofit/>
          </a:bodyPr>
          <a:lstStyle/>
          <a:p>
            <a:pPr algn="l">
              <a:lnSpc>
                <a:spcPts val="2277"/>
              </a:lnSpc>
              <a:spcBef>
                <a:spcPts val="0"/>
              </a:spcBef>
              <a:spcAft>
                <a:spcPts val="0"/>
              </a:spcAft>
            </a:pPr>
            <a:r>
              <a:rPr sz="1518" b="1" i="0" u="none">
                <a:solidFill>
                  <a:srgbClr val="B0745C"/>
                </a:solidFill>
                <a:latin typeface="Consolas"/>
                <a:ea typeface="Consolas"/>
                <a:cs typeface="Consolas"/>
              </a:rPr>
              <a:t>금</a:t>
            </a:r>
          </a:p>
        </p:txBody>
      </p:sp>
      <p:sp>
        <p:nvSpPr>
          <p:cNvPr id="17" name="TextBox 16"/>
          <p:cNvSpPr txBox="1"/>
          <p:nvPr/>
        </p:nvSpPr>
        <p:spPr>
          <a:xfrm>
            <a:off x="1295400" y="4659154"/>
            <a:ext cx="10325100" cy="441579"/>
          </a:xfrm>
          <a:prstGeom prst="rect">
            <a:avLst/>
          </a:prstGeom>
          <a:noFill/>
        </p:spPr>
        <p:txBody>
          <a:bodyPr wrap="square" lIns="0" rIns="0" tIns="0" bIns="0" anchor="t">
            <a:noAutofit/>
          </a:bodyPr>
          <a:lstStyle/>
          <a:p>
            <a:pPr algn="l">
              <a:lnSpc>
                <a:spcPts val="2277"/>
              </a:lnSpc>
              <a:spcBef>
                <a:spcPts val="0"/>
              </a:spcBef>
              <a:spcAft>
                <a:spcPts val="0"/>
              </a:spcAft>
            </a:pPr>
            <a:r>
              <a:rPr sz="1518" b="0" i="0" u="none">
                <a:solidFill>
                  <a:srgbClr val="21334A"/>
                </a:solidFill>
                <a:latin typeface="Noto Sans KR"/>
                <a:ea typeface="Noto Sans KR"/>
                <a:cs typeface="Noto Sans KR"/>
              </a:rPr>
              <a:t>이번 주 만든 자료를 폴더에 정리해 다음 주 재료로 남기기</a:t>
            </a:r>
          </a:p>
        </p:txBody>
      </p:sp>
      <p:sp>
        <p:nvSpPr>
          <p:cNvPr id="18" name="Rectangle 17"/>
          <p:cNvSpPr/>
          <p:nvPr/>
        </p:nvSpPr>
        <p:spPr>
          <a:xfrm>
            <a:off x="571500" y="5024533"/>
            <a:ext cx="11049000" cy="9525"/>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56363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실습 ⑤ · 15분 · 유일하게 내 업무로</a:t>
            </a:r>
          </a:p>
        </p:txBody>
      </p:sp>
      <p:sp>
        <p:nvSpPr>
          <p:cNvPr id="4" name="TextBox 3"/>
          <p:cNvSpPr txBox="1"/>
          <p:nvPr/>
        </p:nvSpPr>
        <p:spPr>
          <a:xfrm>
            <a:off x="571500" y="1836010"/>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내 반복 업무 하나 설계하기</a:t>
            </a:r>
          </a:p>
        </p:txBody>
      </p:sp>
      <p:sp>
        <p:nvSpPr>
          <p:cNvPr id="5" name="Rounded Rectangle 4"/>
          <p:cNvSpPr/>
          <p:nvPr/>
        </p:nvSpPr>
        <p:spPr>
          <a:xfrm>
            <a:off x="571500" y="256200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2950" y="267630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267630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8" name="TextBox 7"/>
          <p:cNvSpPr txBox="1"/>
          <p:nvPr/>
        </p:nvSpPr>
        <p:spPr>
          <a:xfrm>
            <a:off x="1162050" y="267637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내 업무 중 매주 또는 매달 반복되는 것 </a:t>
            </a:r>
            <a:r>
              <a:rPr sz="1551" b="1" i="0" u="none">
                <a:solidFill>
                  <a:srgbClr val="21334A"/>
                </a:solidFill>
                <a:latin typeface="Noto Sans KR"/>
                <a:ea typeface="Noto Sans KR"/>
                <a:cs typeface="Noto Sans KR"/>
              </a:rPr>
              <a:t>하나</a:t>
            </a:r>
            <a:r>
              <a:rPr sz="1551" b="0" i="0" u="none">
                <a:solidFill>
                  <a:srgbClr val="3E3D39"/>
                </a:solidFill>
                <a:latin typeface="Noto Sans KR"/>
                <a:ea typeface="Noto Sans KR"/>
                <a:cs typeface="Noto Sans KR"/>
              </a:rPr>
              <a:t>를 고릅니다</a:t>
            </a:r>
          </a:p>
        </p:txBody>
      </p:sp>
      <p:sp>
        <p:nvSpPr>
          <p:cNvPr id="9" name="Rounded Rectangle 8"/>
          <p:cNvSpPr/>
          <p:nvPr/>
        </p:nvSpPr>
        <p:spPr>
          <a:xfrm>
            <a:off x="571500" y="315255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950" y="326685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326685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2" name="TextBox 11"/>
          <p:cNvSpPr txBox="1"/>
          <p:nvPr/>
        </p:nvSpPr>
        <p:spPr>
          <a:xfrm>
            <a:off x="1162050" y="326692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앞 양식의 네 칸을 채웁니다</a:t>
            </a:r>
          </a:p>
        </p:txBody>
      </p:sp>
      <p:sp>
        <p:nvSpPr>
          <p:cNvPr id="13" name="Rounded Rectangle 12"/>
          <p:cNvSpPr/>
          <p:nvPr/>
        </p:nvSpPr>
        <p:spPr>
          <a:xfrm>
            <a:off x="571500" y="374310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950" y="385740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2950" y="385740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6" name="TextBox 15"/>
          <p:cNvSpPr txBox="1"/>
          <p:nvPr/>
        </p:nvSpPr>
        <p:spPr>
          <a:xfrm>
            <a:off x="1162050" y="385747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지시문을 실제로 넣어 한 번 돌려봅니다</a:t>
            </a:r>
          </a:p>
        </p:txBody>
      </p:sp>
      <p:sp>
        <p:nvSpPr>
          <p:cNvPr id="17" name="Rounded Rectangle 16"/>
          <p:cNvSpPr/>
          <p:nvPr/>
        </p:nvSpPr>
        <p:spPr>
          <a:xfrm>
            <a:off x="571500" y="4333656"/>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2950" y="4447956"/>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950" y="4447956"/>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20" name="TextBox 19"/>
          <p:cNvSpPr txBox="1"/>
          <p:nvPr/>
        </p:nvSpPr>
        <p:spPr>
          <a:xfrm>
            <a:off x="1162050" y="4448023"/>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결과를 보고 지시문을 고친 뒤 문서로 저장합니다</a:t>
            </a:r>
          </a:p>
        </p:txBody>
      </p:sp>
      <p:sp>
        <p:nvSpPr>
          <p:cNvPr id="21" name="TextBox 20"/>
          <p:cNvSpPr txBox="1"/>
          <p:nvPr/>
        </p:nvSpPr>
        <p:spPr>
          <a:xfrm>
            <a:off x="571500" y="5038506"/>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학생 이름이 든 실제 파일은 아직 쓰지 마세요. 다음 장에서 이유를 말씀드립니다.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69982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다시 쓰이는 폴더의 조건</a:t>
            </a:r>
          </a:p>
        </p:txBody>
      </p:sp>
      <p:sp>
        <p:nvSpPr>
          <p:cNvPr id="4" name="Rounded Rectangle 3"/>
          <p:cNvSpPr/>
          <p:nvPr/>
        </p:nvSpPr>
        <p:spPr>
          <a:xfrm>
            <a:off x="571500" y="2425817"/>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540117"/>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540117"/>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7" name="TextBox 6"/>
          <p:cNvSpPr txBox="1"/>
          <p:nvPr/>
        </p:nvSpPr>
        <p:spPr>
          <a:xfrm>
            <a:off x="1162050" y="254018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한 폴더에 한 가지 목적만 담습니다</a:t>
            </a:r>
          </a:p>
        </p:txBody>
      </p:sp>
      <p:sp>
        <p:nvSpPr>
          <p:cNvPr id="8" name="Rounded Rectangle 7"/>
          <p:cNvSpPr/>
          <p:nvPr/>
        </p:nvSpPr>
        <p:spPr>
          <a:xfrm>
            <a:off x="571500" y="3016367"/>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130667"/>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130667"/>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1" name="TextBox 10"/>
          <p:cNvSpPr txBox="1"/>
          <p:nvPr/>
        </p:nvSpPr>
        <p:spPr>
          <a:xfrm>
            <a:off x="1162050" y="313073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지시문 문서를 폴더 안에 같이 둡니다</a:t>
            </a:r>
          </a:p>
        </p:txBody>
      </p:sp>
      <p:sp>
        <p:nvSpPr>
          <p:cNvPr id="12" name="Rounded Rectangle 11"/>
          <p:cNvSpPr/>
          <p:nvPr/>
        </p:nvSpPr>
        <p:spPr>
          <a:xfrm>
            <a:off x="571500" y="3606917"/>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3721217"/>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721217"/>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5" name="TextBox 14"/>
          <p:cNvSpPr txBox="1"/>
          <p:nvPr/>
        </p:nvSpPr>
        <p:spPr>
          <a:xfrm>
            <a:off x="1162050" y="372128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이름에 </a:t>
            </a:r>
            <a:r>
              <a:rPr sz="1551" b="1" i="0" u="none">
                <a:solidFill>
                  <a:srgbClr val="21334A"/>
                </a:solidFill>
                <a:latin typeface="Noto Sans KR"/>
                <a:ea typeface="Noto Sans KR"/>
                <a:cs typeface="Noto Sans KR"/>
              </a:rPr>
              <a:t>학년도와 목적</a:t>
            </a:r>
            <a:r>
              <a:rPr sz="1551" b="0" i="0" u="none">
                <a:solidFill>
                  <a:srgbClr val="3E3D39"/>
                </a:solidFill>
                <a:latin typeface="Noto Sans KR"/>
                <a:ea typeface="Noto Sans KR"/>
                <a:cs typeface="Noto Sans KR"/>
              </a:rPr>
              <a:t>을 넣습니다</a:t>
            </a:r>
          </a:p>
        </p:txBody>
      </p:sp>
      <p:sp>
        <p:nvSpPr>
          <p:cNvPr id="16" name="Rounded Rectangle 15"/>
          <p:cNvSpPr/>
          <p:nvPr/>
        </p:nvSpPr>
        <p:spPr>
          <a:xfrm>
            <a:off x="571500" y="4197467"/>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2950" y="4311767"/>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950" y="4311767"/>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19" name="TextBox 18"/>
          <p:cNvSpPr txBox="1"/>
          <p:nvPr/>
        </p:nvSpPr>
        <p:spPr>
          <a:xfrm>
            <a:off x="1162050" y="431183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학생 개인정보가 든 파일은 넣지 않습니다</a:t>
            </a:r>
          </a:p>
        </p:txBody>
      </p:sp>
      <p:sp>
        <p:nvSpPr>
          <p:cNvPr id="20" name="TextBox 19"/>
          <p:cNvSpPr txBox="1"/>
          <p:nvPr/>
        </p:nvSpPr>
        <p:spPr>
          <a:xfrm>
            <a:off x="571500" y="490231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2번이 핵심입니다. 지시문이 폴더 밖에 있으면 다음 학기에 못 찾습니다.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73174"/>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마무리 · 하면 안 되는 것</a:t>
            </a:r>
          </a:p>
        </p:txBody>
      </p:sp>
      <p:sp>
        <p:nvSpPr>
          <p:cNvPr id="4" name="TextBox 3"/>
          <p:cNvSpPr txBox="1"/>
          <p:nvPr/>
        </p:nvSpPr>
        <p:spPr>
          <a:xfrm>
            <a:off x="571500" y="2045551"/>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학생 개인정보는 넣지 않습니다</a:t>
            </a:r>
          </a:p>
        </p:txBody>
      </p:sp>
      <p:sp>
        <p:nvSpPr>
          <p:cNvPr id="5" name="Rounded Rectangle 4"/>
          <p:cNvSpPr/>
          <p:nvPr/>
        </p:nvSpPr>
        <p:spPr>
          <a:xfrm>
            <a:off x="571500" y="2771546"/>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2771546"/>
            <a:ext cx="5419725" cy="438379"/>
          </a:xfrm>
          <a:prstGeom prst="rect">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2771546"/>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폴더에 두면 안 되는 것</a:t>
            </a:r>
          </a:p>
        </p:txBody>
      </p:sp>
      <p:sp>
        <p:nvSpPr>
          <p:cNvPr id="8" name="TextBox 7"/>
          <p:cNvSpPr txBox="1"/>
          <p:nvPr/>
        </p:nvSpPr>
        <p:spPr>
          <a:xfrm>
            <a:off x="762000" y="3324225"/>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9" name="TextBox 8"/>
          <p:cNvSpPr txBox="1"/>
          <p:nvPr/>
        </p:nvSpPr>
        <p:spPr>
          <a:xfrm>
            <a:off x="933450" y="3324225"/>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이름과 학번이 붙은 명단</a:t>
            </a:r>
          </a:p>
        </p:txBody>
      </p:sp>
      <p:sp>
        <p:nvSpPr>
          <p:cNvPr id="10" name="TextBox 9"/>
          <p:cNvSpPr txBox="1"/>
          <p:nvPr/>
        </p:nvSpPr>
        <p:spPr>
          <a:xfrm>
            <a:off x="762000" y="3670230"/>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1" name="TextBox 10"/>
          <p:cNvSpPr txBox="1"/>
          <p:nvPr/>
        </p:nvSpPr>
        <p:spPr>
          <a:xfrm>
            <a:off x="933450" y="3670230"/>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연락처, 주소, 가정 상황 기록</a:t>
            </a:r>
          </a:p>
        </p:txBody>
      </p:sp>
      <p:sp>
        <p:nvSpPr>
          <p:cNvPr id="12" name="TextBox 11"/>
          <p:cNvSpPr txBox="1"/>
          <p:nvPr/>
        </p:nvSpPr>
        <p:spPr>
          <a:xfrm>
            <a:off x="762000" y="4016235"/>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3" name="TextBox 12"/>
          <p:cNvSpPr txBox="1"/>
          <p:nvPr/>
        </p:nvSpPr>
        <p:spPr>
          <a:xfrm>
            <a:off x="933450" y="4016235"/>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상담 기록과 개별 학생 관찰 메모</a:t>
            </a:r>
          </a:p>
        </p:txBody>
      </p:sp>
      <p:sp>
        <p:nvSpPr>
          <p:cNvPr id="14" name="Rounded Rectangle 13"/>
          <p:cNvSpPr/>
          <p:nvPr/>
        </p:nvSpPr>
        <p:spPr>
          <a:xfrm>
            <a:off x="6200775" y="2771546"/>
            <a:ext cx="5419725" cy="1866919"/>
          </a:xfrm>
          <a:prstGeom prst="roundRect">
            <a:avLst>
              <a:gd name="adj" fmla="val 2040"/>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0775" y="2771546"/>
            <a:ext cx="5419725" cy="438379"/>
          </a:xfrm>
          <a:prstGeom prst="rect">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0775" y="2771546"/>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그래도 써야 한다면</a:t>
            </a:r>
          </a:p>
        </p:txBody>
      </p:sp>
      <p:sp>
        <p:nvSpPr>
          <p:cNvPr id="17" name="TextBox 16"/>
          <p:cNvSpPr txBox="1"/>
          <p:nvPr/>
        </p:nvSpPr>
        <p:spPr>
          <a:xfrm>
            <a:off x="6391275" y="3324225"/>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8" name="TextBox 17"/>
          <p:cNvSpPr txBox="1"/>
          <p:nvPr/>
        </p:nvSpPr>
        <p:spPr>
          <a:xfrm>
            <a:off x="6562725" y="3324225"/>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이름을 학생1, 학생2로 바꾼 뒤 넣기</a:t>
            </a:r>
          </a:p>
        </p:txBody>
      </p:sp>
      <p:sp>
        <p:nvSpPr>
          <p:cNvPr id="19" name="TextBox 18"/>
          <p:cNvSpPr txBox="1"/>
          <p:nvPr/>
        </p:nvSpPr>
        <p:spPr>
          <a:xfrm>
            <a:off x="6391275" y="3670230"/>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20" name="TextBox 19"/>
          <p:cNvSpPr txBox="1"/>
          <p:nvPr/>
        </p:nvSpPr>
        <p:spPr>
          <a:xfrm>
            <a:off x="6562725" y="3670230"/>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숫자만 남기고 식별 정보는 지우기</a:t>
            </a:r>
          </a:p>
        </p:txBody>
      </p:sp>
      <p:sp>
        <p:nvSpPr>
          <p:cNvPr id="21" name="TextBox 20"/>
          <p:cNvSpPr txBox="1"/>
          <p:nvPr/>
        </p:nvSpPr>
        <p:spPr>
          <a:xfrm>
            <a:off x="6391275" y="4016235"/>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22" name="TextBox 21"/>
          <p:cNvSpPr txBox="1"/>
          <p:nvPr/>
        </p:nvSpPr>
        <p:spPr>
          <a:xfrm>
            <a:off x="6562725" y="4016235"/>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작업이 끝나면 사본 폴더를 삭제하기</a:t>
            </a:r>
          </a:p>
        </p:txBody>
      </p:sp>
      <p:sp>
        <p:nvSpPr>
          <p:cNvPr id="23" name="TextBox 22"/>
          <p:cNvSpPr txBox="1"/>
          <p:nvPr/>
        </p:nvSpPr>
        <p:spPr>
          <a:xfrm>
            <a:off x="571500" y="4828965"/>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가장 안전한 선택은 애초에 안 넣는 것입니다.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082365"/>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생활기록부에는 쓰지 않습니다</a:t>
            </a:r>
          </a:p>
        </p:txBody>
      </p:sp>
      <p:sp>
        <p:nvSpPr>
          <p:cNvPr id="4" name="Rounded Rectangle 3"/>
          <p:cNvSpPr/>
          <p:nvPr/>
        </p:nvSpPr>
        <p:spPr>
          <a:xfrm>
            <a:off x="571500" y="2808361"/>
            <a:ext cx="5419725" cy="1520914"/>
          </a:xfrm>
          <a:prstGeom prst="roundRect">
            <a:avLst>
              <a:gd name="adj" fmla="val 2505"/>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808361"/>
            <a:ext cx="5419725" cy="438379"/>
          </a:xfrm>
          <a:prstGeom prst="rect">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2808361"/>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금지된 것</a:t>
            </a:r>
          </a:p>
        </p:txBody>
      </p:sp>
      <p:sp>
        <p:nvSpPr>
          <p:cNvPr id="7" name="TextBox 6"/>
          <p:cNvSpPr txBox="1"/>
          <p:nvPr/>
        </p:nvSpPr>
        <p:spPr>
          <a:xfrm>
            <a:off x="762000" y="3361039"/>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8" name="TextBox 7"/>
          <p:cNvSpPr txBox="1"/>
          <p:nvPr/>
        </p:nvSpPr>
        <p:spPr>
          <a:xfrm>
            <a:off x="933450" y="3361039"/>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AI가 만든 문장을 학생부에 </a:t>
            </a:r>
            <a:r>
              <a:rPr sz="1418" b="1" i="0" u="none">
                <a:solidFill>
                  <a:srgbClr val="21334A"/>
                </a:solidFill>
                <a:latin typeface="Noto Sans KR"/>
                <a:ea typeface="Noto Sans KR"/>
                <a:cs typeface="Noto Sans KR"/>
              </a:rPr>
              <a:t>그대로 옮겨 적기</a:t>
            </a:r>
          </a:p>
        </p:txBody>
      </p:sp>
      <p:sp>
        <p:nvSpPr>
          <p:cNvPr id="9" name="TextBox 8"/>
          <p:cNvSpPr txBox="1"/>
          <p:nvPr/>
        </p:nvSpPr>
        <p:spPr>
          <a:xfrm>
            <a:off x="762000" y="3707044"/>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0" name="TextBox 9"/>
          <p:cNvSpPr txBox="1"/>
          <p:nvPr/>
        </p:nvSpPr>
        <p:spPr>
          <a:xfrm>
            <a:off x="933450" y="3707044"/>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학생 결과물에 AI 정황이 있는데 평가에 반영하기</a:t>
            </a:r>
          </a:p>
        </p:txBody>
      </p:sp>
      <p:sp>
        <p:nvSpPr>
          <p:cNvPr id="11" name="Rounded Rectangle 10"/>
          <p:cNvSpPr/>
          <p:nvPr/>
        </p:nvSpPr>
        <p:spPr>
          <a:xfrm>
            <a:off x="6200775" y="2808361"/>
            <a:ext cx="5419725" cy="1520914"/>
          </a:xfrm>
          <a:prstGeom prst="roundRect">
            <a:avLst>
              <a:gd name="adj" fmla="val 2505"/>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0775" y="2808361"/>
            <a:ext cx="5419725" cy="438379"/>
          </a:xfrm>
          <a:prstGeom prst="rect">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0775" y="2808361"/>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확인해야 할 것</a:t>
            </a:r>
          </a:p>
        </p:txBody>
      </p:sp>
      <p:sp>
        <p:nvSpPr>
          <p:cNvPr id="14" name="TextBox 13"/>
          <p:cNvSpPr txBox="1"/>
          <p:nvPr/>
        </p:nvSpPr>
        <p:spPr>
          <a:xfrm>
            <a:off x="6391275" y="3361039"/>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5" name="TextBox 14"/>
          <p:cNvSpPr txBox="1"/>
          <p:nvPr/>
        </p:nvSpPr>
        <p:spPr>
          <a:xfrm>
            <a:off x="6562725" y="3361039"/>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기록의 근거는 수업 중 실제 관찰이어야 합니다</a:t>
            </a:r>
          </a:p>
        </p:txBody>
      </p:sp>
      <p:sp>
        <p:nvSpPr>
          <p:cNvPr id="16" name="TextBox 15"/>
          <p:cNvSpPr txBox="1"/>
          <p:nvPr/>
        </p:nvSpPr>
        <p:spPr>
          <a:xfrm>
            <a:off x="6391275" y="3707044"/>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7" name="TextBox 16"/>
          <p:cNvSpPr txBox="1"/>
          <p:nvPr/>
        </p:nvSpPr>
        <p:spPr>
          <a:xfrm>
            <a:off x="6562725" y="3707044"/>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수행평가 AI 지침은 소속 교육청 시행지침을 확인하세요</a:t>
            </a:r>
          </a:p>
        </p:txBody>
      </p:sp>
      <p:sp>
        <p:nvSpPr>
          <p:cNvPr id="18" name="TextBox 17"/>
          <p:cNvSpPr txBox="1"/>
          <p:nvPr/>
        </p:nvSpPr>
        <p:spPr>
          <a:xfrm>
            <a:off x="571500" y="4519774"/>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훈령 본문에는 AI 조항이 없습니다. 제한은 학년도별 기재요령에 있습니다. 강의일 기준으로 소속 교육청 원문을 다시 확인하세요.</a:t>
            </a:r>
            <a:r>
              <a:rPr sz="1023" b="0" i="0" u="none">
                <a:solidFill>
                  <a:srgbClr val="B0745C"/>
                </a:solidFill>
                <a:latin typeface="Noto Sans KR"/>
                <a:ea typeface="Noto Sans KR"/>
                <a:cs typeface="Noto Sans KR"/>
                <a:hlinkClick r:id="rId3"/>
              </a:rPr>
              <a:t>[R8]</a:t>
            </a:r>
            <a:r>
              <a:rPr sz="1023" b="0" i="0" u="none">
                <a:solidFill>
                  <a:srgbClr val="B0745C"/>
                </a:solidFill>
                <a:latin typeface="Noto Sans KR"/>
                <a:ea typeface="Noto Sans KR"/>
                <a:cs typeface="Noto Sans KR"/>
                <a:hlinkClick r:id="rId4"/>
              </a:rPr>
              <a:t>[R9]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2082365"/>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내 대화는 학습에 쓰이나</a:t>
            </a:r>
          </a:p>
        </p:txBody>
      </p:sp>
      <p:sp>
        <p:nvSpPr>
          <p:cNvPr id="4" name="Rounded Rectangle 3"/>
          <p:cNvSpPr/>
          <p:nvPr/>
        </p:nvSpPr>
        <p:spPr>
          <a:xfrm>
            <a:off x="571500" y="2808361"/>
            <a:ext cx="5419725" cy="1520914"/>
          </a:xfrm>
          <a:prstGeom prst="roundRect">
            <a:avLst>
              <a:gd name="adj" fmla="val 2505"/>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2808361"/>
            <a:ext cx="5419725" cy="438379"/>
          </a:xfrm>
          <a:prstGeom prst="rect">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2808361"/>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확인된 것</a:t>
            </a:r>
          </a:p>
        </p:txBody>
      </p:sp>
      <p:sp>
        <p:nvSpPr>
          <p:cNvPr id="7" name="TextBox 6"/>
          <p:cNvSpPr txBox="1"/>
          <p:nvPr/>
        </p:nvSpPr>
        <p:spPr>
          <a:xfrm>
            <a:off x="762000" y="3361039"/>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8" name="TextBox 7"/>
          <p:cNvSpPr txBox="1"/>
          <p:nvPr/>
        </p:nvSpPr>
        <p:spPr>
          <a:xfrm>
            <a:off x="933450" y="3361039"/>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개인 계정은 </a:t>
            </a:r>
            <a:r>
              <a:rPr sz="1418" b="1" i="0" u="none">
                <a:solidFill>
                  <a:srgbClr val="21334A"/>
                </a:solidFill>
                <a:latin typeface="Noto Sans KR"/>
                <a:ea typeface="Noto Sans KR"/>
                <a:cs typeface="Noto Sans KR"/>
              </a:rPr>
              <a:t>내가 켠 경우에만</a:t>
            </a:r>
            <a:r>
              <a:rPr sz="1418" b="0" i="0" u="none">
                <a:solidFill>
                  <a:srgbClr val="3E3D39"/>
                </a:solidFill>
                <a:latin typeface="Noto Sans KR"/>
                <a:ea typeface="Noto Sans KR"/>
                <a:cs typeface="Noto Sans KR"/>
              </a:rPr>
              <a:t> 학습에 쓰입니다</a:t>
            </a:r>
          </a:p>
        </p:txBody>
      </p:sp>
      <p:sp>
        <p:nvSpPr>
          <p:cNvPr id="9" name="TextBox 8"/>
          <p:cNvSpPr txBox="1"/>
          <p:nvPr/>
        </p:nvSpPr>
        <p:spPr>
          <a:xfrm>
            <a:off x="762000" y="3707044"/>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a:t>
            </a:r>
          </a:p>
        </p:txBody>
      </p:sp>
      <p:sp>
        <p:nvSpPr>
          <p:cNvPr id="10" name="TextBox 9"/>
          <p:cNvSpPr txBox="1"/>
          <p:nvPr/>
        </p:nvSpPr>
        <p:spPr>
          <a:xfrm>
            <a:off x="933450" y="3707044"/>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3E3D39"/>
                </a:solidFill>
                <a:latin typeface="Noto Sans KR"/>
                <a:ea typeface="Noto Sans KR"/>
                <a:cs typeface="Noto Sans KR"/>
              </a:rPr>
              <a:t>설정에서 끌 수 있습니다</a:t>
            </a:r>
          </a:p>
        </p:txBody>
      </p:sp>
      <p:sp>
        <p:nvSpPr>
          <p:cNvPr id="11" name="Rounded Rectangle 10"/>
          <p:cNvSpPr/>
          <p:nvPr/>
        </p:nvSpPr>
        <p:spPr>
          <a:xfrm>
            <a:off x="6200775" y="2808361"/>
            <a:ext cx="5419725" cy="1520914"/>
          </a:xfrm>
          <a:prstGeom prst="roundRect">
            <a:avLst>
              <a:gd name="adj" fmla="val 2505"/>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0775" y="2808361"/>
            <a:ext cx="5419725" cy="438379"/>
          </a:xfrm>
          <a:prstGeom prst="rect">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0775" y="2808361"/>
            <a:ext cx="5419725" cy="438379"/>
          </a:xfrm>
          <a:prstGeom prst="rect">
            <a:avLst/>
          </a:prstGeom>
          <a:noFill/>
        </p:spPr>
        <p:txBody>
          <a:bodyPr wrap="square" lIns="0" rIns="0" tIns="0" bIns="0" anchor="ctr">
            <a:noAutofit/>
          </a:bodyPr>
          <a:lstStyle/>
          <a:p>
            <a:pPr algn="ctr">
              <a:lnSpc>
                <a:spcPts val="1801"/>
              </a:lnSpc>
              <a:spcBef>
                <a:spcPts val="0"/>
              </a:spcBef>
              <a:spcAft>
                <a:spcPts val="0"/>
              </a:spcAft>
            </a:pPr>
            <a:r>
              <a:rPr sz="1287" b="1" i="0" u="none">
                <a:solidFill>
                  <a:srgbClr val="FFFFFF"/>
                </a:solidFill>
                <a:latin typeface="Noto Sans KR"/>
                <a:ea typeface="Noto Sans KR"/>
                <a:cs typeface="Noto Sans KR"/>
              </a:rPr>
              <a:t>확인이 필요한 것</a:t>
            </a:r>
          </a:p>
        </p:txBody>
      </p:sp>
      <p:sp>
        <p:nvSpPr>
          <p:cNvPr id="14" name="TextBox 13"/>
          <p:cNvSpPr txBox="1"/>
          <p:nvPr/>
        </p:nvSpPr>
        <p:spPr>
          <a:xfrm>
            <a:off x="6391275" y="3361039"/>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5" name="TextBox 14"/>
          <p:cNvSpPr txBox="1"/>
          <p:nvPr/>
        </p:nvSpPr>
        <p:spPr>
          <a:xfrm>
            <a:off x="6562725" y="3361039"/>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학교 단위 계정은 별도 약관을 따릅니다</a:t>
            </a:r>
          </a:p>
        </p:txBody>
      </p:sp>
      <p:sp>
        <p:nvSpPr>
          <p:cNvPr id="16" name="TextBox 15"/>
          <p:cNvSpPr txBox="1"/>
          <p:nvPr/>
        </p:nvSpPr>
        <p:spPr>
          <a:xfrm>
            <a:off x="6391275" y="3707044"/>
            <a:ext cx="171450"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a:t>
            </a:r>
          </a:p>
        </p:txBody>
      </p:sp>
      <p:sp>
        <p:nvSpPr>
          <p:cNvPr id="17" name="TextBox 16"/>
          <p:cNvSpPr txBox="1"/>
          <p:nvPr/>
        </p:nvSpPr>
        <p:spPr>
          <a:xfrm>
            <a:off x="6562725" y="3707044"/>
            <a:ext cx="4867275" cy="279330"/>
          </a:xfrm>
          <a:prstGeom prst="rect">
            <a:avLst/>
          </a:prstGeom>
          <a:noFill/>
        </p:spPr>
        <p:txBody>
          <a:bodyPr wrap="square" lIns="0" rIns="0" tIns="0" bIns="0" anchor="t">
            <a:noAutofit/>
          </a:bodyPr>
          <a:lstStyle/>
          <a:p>
            <a:pPr algn="l">
              <a:lnSpc>
                <a:spcPts val="2199"/>
              </a:lnSpc>
              <a:spcBef>
                <a:spcPts val="0"/>
              </a:spcBef>
              <a:spcAft>
                <a:spcPts val="0"/>
              </a:spcAft>
            </a:pPr>
            <a:r>
              <a:rPr sz="1418" b="0" i="0" u="none">
                <a:solidFill>
                  <a:srgbClr val="7A756C"/>
                </a:solidFill>
                <a:latin typeface="Noto Sans KR"/>
                <a:ea typeface="Noto Sans KR"/>
                <a:cs typeface="Noto Sans KR"/>
              </a:rPr>
              <a:t>도입 전에 관리자가 약관 원문을 확인해야 합니다</a:t>
            </a:r>
          </a:p>
        </p:txBody>
      </p:sp>
      <p:sp>
        <p:nvSpPr>
          <p:cNvPr id="18" name="TextBox 17"/>
          <p:cNvSpPr txBox="1"/>
          <p:nvPr/>
        </p:nvSpPr>
        <p:spPr>
          <a:xfrm>
            <a:off x="571500" y="4519774"/>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2026-03-16 기준 개인 계정 정책입니다. 학교 계정 약관은 이번 조사에서 원문을 확인하지 못했습니다.</a:t>
            </a:r>
            <a:r>
              <a:rPr sz="1023" b="0" i="0" u="none">
                <a:solidFill>
                  <a:srgbClr val="B0745C"/>
                </a:solidFill>
                <a:latin typeface="Noto Sans KR"/>
                <a:ea typeface="Noto Sans KR"/>
                <a:cs typeface="Noto Sans KR"/>
                <a:hlinkClick r:id="rId3"/>
              </a:rPr>
              <a:t>[R5]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61438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이 네 줄만 지키면 됩니다</a:t>
            </a:r>
          </a:p>
        </p:txBody>
      </p:sp>
      <p:sp>
        <p:nvSpPr>
          <p:cNvPr id="4" name="Rounded Rectangle 3"/>
          <p:cNvSpPr/>
          <p:nvPr/>
        </p:nvSpPr>
        <p:spPr>
          <a:xfrm>
            <a:off x="571500" y="2340378"/>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495088"/>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495088"/>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1</a:t>
            </a:r>
          </a:p>
        </p:txBody>
      </p:sp>
      <p:sp>
        <p:nvSpPr>
          <p:cNvPr id="7" name="TextBox 6"/>
          <p:cNvSpPr txBox="1"/>
          <p:nvPr/>
        </p:nvSpPr>
        <p:spPr>
          <a:xfrm>
            <a:off x="1161098" y="2454678"/>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학생 이름과 연락처는 폴더에 넣지 않습니다</a:t>
            </a:r>
          </a:p>
        </p:txBody>
      </p:sp>
      <p:sp>
        <p:nvSpPr>
          <p:cNvPr id="8" name="Rounded Rectangle 7"/>
          <p:cNvSpPr/>
          <p:nvPr/>
        </p:nvSpPr>
        <p:spPr>
          <a:xfrm>
            <a:off x="571500" y="2973648"/>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128358"/>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128358"/>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2</a:t>
            </a:r>
          </a:p>
        </p:txBody>
      </p:sp>
      <p:sp>
        <p:nvSpPr>
          <p:cNvPr id="11" name="TextBox 10"/>
          <p:cNvSpPr txBox="1"/>
          <p:nvPr/>
        </p:nvSpPr>
        <p:spPr>
          <a:xfrm>
            <a:off x="1161098" y="3087948"/>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학생부 문장은 AI가 쓴 걸 그대로 옮기지 않습니다</a:t>
            </a:r>
          </a:p>
        </p:txBody>
      </p:sp>
      <p:sp>
        <p:nvSpPr>
          <p:cNvPr id="12" name="Rounded Rectangle 11"/>
          <p:cNvSpPr/>
          <p:nvPr/>
        </p:nvSpPr>
        <p:spPr>
          <a:xfrm>
            <a:off x="571500" y="3606917"/>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3761627"/>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761627"/>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3</a:t>
            </a:r>
          </a:p>
        </p:txBody>
      </p:sp>
      <p:sp>
        <p:nvSpPr>
          <p:cNvPr id="15" name="TextBox 14"/>
          <p:cNvSpPr txBox="1"/>
          <p:nvPr/>
        </p:nvSpPr>
        <p:spPr>
          <a:xfrm>
            <a:off x="1161098" y="3721217"/>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숫자와 날짜는 원문을 열어 대조합니다</a:t>
            </a:r>
          </a:p>
        </p:txBody>
      </p:sp>
      <p:sp>
        <p:nvSpPr>
          <p:cNvPr id="16" name="Rounded Rectangle 15"/>
          <p:cNvSpPr/>
          <p:nvPr/>
        </p:nvSpPr>
        <p:spPr>
          <a:xfrm>
            <a:off x="571500" y="4240187"/>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2950" y="4394897"/>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950" y="4394897"/>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4</a:t>
            </a:r>
          </a:p>
        </p:txBody>
      </p:sp>
      <p:sp>
        <p:nvSpPr>
          <p:cNvPr id="19" name="TextBox 18"/>
          <p:cNvSpPr txBox="1"/>
          <p:nvPr/>
        </p:nvSpPr>
        <p:spPr>
          <a:xfrm>
            <a:off x="1161098" y="4354487"/>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나가는 문서는 내 말투로 두세 군데 고칩니다</a:t>
            </a:r>
          </a:p>
        </p:txBody>
      </p:sp>
      <p:sp>
        <p:nvSpPr>
          <p:cNvPr id="20" name="TextBox 19"/>
          <p:cNvSpPr txBox="1"/>
          <p:nvPr/>
        </p:nvSpPr>
        <p:spPr>
          <a:xfrm>
            <a:off x="571500" y="4987757"/>
            <a:ext cx="11049000" cy="255861"/>
          </a:xfrm>
          <a:prstGeom prst="rect">
            <a:avLst/>
          </a:prstGeom>
          <a:noFill/>
        </p:spPr>
        <p:txBody>
          <a:bodyPr wrap="square" lIns="0" rIns="0" tIns="0" bIns="0" anchor="t">
            <a:noAutofit/>
          </a:bodyPr>
          <a:lstStyle/>
          <a:p>
            <a:pPr algn="ctr">
              <a:lnSpc>
                <a:spcPts val="2014"/>
              </a:lnSpc>
              <a:spcBef>
                <a:spcPts val="0"/>
              </a:spcBef>
              <a:spcAft>
                <a:spcPts val="0"/>
              </a:spcAft>
            </a:pPr>
            <a:r>
              <a:rPr sz="1221" b="0" i="0" u="none">
                <a:solidFill>
                  <a:srgbClr val="7A756C"/>
                </a:solidFill>
                <a:latin typeface="Noto Sans KR"/>
                <a:ea typeface="Noto Sans KR"/>
                <a:cs typeface="Noto Sans KR"/>
              </a:rPr>
              <a:t>이 슬라이드만 캡처해서 책상에 붙여두세요.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22063"/>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얼마나 드나</a:t>
            </a:r>
          </a:p>
        </p:txBody>
      </p:sp>
      <p:sp>
        <p:nvSpPr>
          <p:cNvPr id="4" name="Rounded Rectangle 3"/>
          <p:cNvSpPr/>
          <p:nvPr/>
        </p:nvSpPr>
        <p:spPr>
          <a:xfrm>
            <a:off x="571500" y="2448058"/>
            <a:ext cx="2633662" cy="1258900"/>
          </a:xfrm>
          <a:prstGeom prst="roundRect">
            <a:avLst>
              <a:gd name="adj" fmla="val 3026"/>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2657608"/>
            <a:ext cx="2633662" cy="572072"/>
          </a:xfrm>
          <a:prstGeom prst="rect">
            <a:avLst/>
          </a:prstGeom>
          <a:noFill/>
        </p:spPr>
        <p:txBody>
          <a:bodyPr wrap="square" lIns="0" rIns="0" tIns="0" bIns="0" anchor="t">
            <a:noAutofit/>
          </a:bodyPr>
          <a:lstStyle/>
          <a:p>
            <a:pPr algn="ctr">
              <a:lnSpc>
                <a:spcPts val="4290"/>
              </a:lnSpc>
              <a:spcBef>
                <a:spcPts val="0"/>
              </a:spcBef>
              <a:spcAft>
                <a:spcPts val="0"/>
              </a:spcAft>
            </a:pPr>
            <a:r>
              <a:rPr sz="4290" b="1" i="0" u="none">
                <a:solidFill>
                  <a:srgbClr val="21334A"/>
                </a:solidFill>
                <a:latin typeface="Noto Sans KR Black"/>
                <a:ea typeface="Noto Sans KR Black"/>
                <a:cs typeface="Noto Sans KR Black"/>
              </a:rPr>
              <a:t>$0</a:t>
            </a:r>
          </a:p>
        </p:txBody>
      </p:sp>
      <p:sp>
        <p:nvSpPr>
          <p:cNvPr id="6" name="TextBox 5"/>
          <p:cNvSpPr txBox="1"/>
          <p:nvPr/>
        </p:nvSpPr>
        <p:spPr>
          <a:xfrm>
            <a:off x="742950" y="3278638"/>
            <a:ext cx="2290762" cy="1258900"/>
          </a:xfrm>
          <a:prstGeom prst="rect">
            <a:avLst/>
          </a:prstGeom>
          <a:noFill/>
        </p:spPr>
        <p:txBody>
          <a:bodyPr wrap="square" lIns="0" rIns="0" tIns="0" bIns="0" anchor="t">
            <a:noAutofit/>
          </a:bodyPr>
          <a:lstStyle/>
          <a:p>
            <a:pPr algn="ctr">
              <a:lnSpc>
                <a:spcPts val="1722"/>
              </a:lnSpc>
              <a:spcBef>
                <a:spcPts val="0"/>
              </a:spcBef>
              <a:spcAft>
                <a:spcPts val="0"/>
              </a:spcAft>
            </a:pPr>
            <a:r>
              <a:rPr sz="1188" b="0" i="0" u="none">
                <a:solidFill>
                  <a:srgbClr val="7A756C"/>
                </a:solidFill>
                <a:latin typeface="Consolas"/>
                <a:ea typeface="Consolas"/>
                <a:cs typeface="Consolas"/>
              </a:rPr>
              <a:t>무료 · 코워크 없음</a:t>
            </a:r>
          </a:p>
        </p:txBody>
      </p:sp>
      <p:sp>
        <p:nvSpPr>
          <p:cNvPr id="7" name="Rounded Rectangle 6"/>
          <p:cNvSpPr/>
          <p:nvPr/>
        </p:nvSpPr>
        <p:spPr>
          <a:xfrm>
            <a:off x="3376612" y="2448058"/>
            <a:ext cx="2633662" cy="1258900"/>
          </a:xfrm>
          <a:prstGeom prst="roundRect">
            <a:avLst>
              <a:gd name="adj" fmla="val 3026"/>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6612" y="2657608"/>
            <a:ext cx="2633662" cy="572072"/>
          </a:xfrm>
          <a:prstGeom prst="rect">
            <a:avLst/>
          </a:prstGeom>
          <a:noFill/>
        </p:spPr>
        <p:txBody>
          <a:bodyPr wrap="square" lIns="0" rIns="0" tIns="0" bIns="0" anchor="t">
            <a:noAutofit/>
          </a:bodyPr>
          <a:lstStyle/>
          <a:p>
            <a:pPr algn="ctr">
              <a:lnSpc>
                <a:spcPts val="4290"/>
              </a:lnSpc>
              <a:spcBef>
                <a:spcPts val="0"/>
              </a:spcBef>
              <a:spcAft>
                <a:spcPts val="0"/>
              </a:spcAft>
            </a:pPr>
            <a:r>
              <a:rPr sz="4290" b="1" i="0" u="none">
                <a:solidFill>
                  <a:srgbClr val="21334A"/>
                </a:solidFill>
                <a:latin typeface="Noto Sans KR Black"/>
                <a:ea typeface="Noto Sans KR Black"/>
                <a:cs typeface="Noto Sans KR Black"/>
              </a:rPr>
              <a:t>$20</a:t>
            </a:r>
          </a:p>
        </p:txBody>
      </p:sp>
      <p:sp>
        <p:nvSpPr>
          <p:cNvPr id="9" name="TextBox 8"/>
          <p:cNvSpPr txBox="1"/>
          <p:nvPr/>
        </p:nvSpPr>
        <p:spPr>
          <a:xfrm>
            <a:off x="3548062" y="3278638"/>
            <a:ext cx="2290762" cy="1258900"/>
          </a:xfrm>
          <a:prstGeom prst="rect">
            <a:avLst/>
          </a:prstGeom>
          <a:noFill/>
        </p:spPr>
        <p:txBody>
          <a:bodyPr wrap="square" lIns="0" rIns="0" tIns="0" bIns="0" anchor="t">
            <a:noAutofit/>
          </a:bodyPr>
          <a:lstStyle/>
          <a:p>
            <a:pPr algn="ctr">
              <a:lnSpc>
                <a:spcPts val="1722"/>
              </a:lnSpc>
              <a:spcBef>
                <a:spcPts val="0"/>
              </a:spcBef>
              <a:spcAft>
                <a:spcPts val="0"/>
              </a:spcAft>
            </a:pPr>
            <a:r>
              <a:rPr sz="1188" b="0" i="0" u="none">
                <a:solidFill>
                  <a:srgbClr val="7A756C"/>
                </a:solidFill>
                <a:latin typeface="Consolas"/>
                <a:ea typeface="Consolas"/>
                <a:cs typeface="Consolas"/>
              </a:rPr>
              <a:t>Pro 월 결제</a:t>
            </a:r>
          </a:p>
        </p:txBody>
      </p:sp>
      <p:sp>
        <p:nvSpPr>
          <p:cNvPr id="10" name="Rounded Rectangle 9"/>
          <p:cNvSpPr/>
          <p:nvPr/>
        </p:nvSpPr>
        <p:spPr>
          <a:xfrm>
            <a:off x="6181725" y="2448058"/>
            <a:ext cx="2633662" cy="1258900"/>
          </a:xfrm>
          <a:prstGeom prst="roundRect">
            <a:avLst>
              <a:gd name="adj" fmla="val 3026"/>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1725" y="2657608"/>
            <a:ext cx="2633662" cy="572072"/>
          </a:xfrm>
          <a:prstGeom prst="rect">
            <a:avLst/>
          </a:prstGeom>
          <a:noFill/>
        </p:spPr>
        <p:txBody>
          <a:bodyPr wrap="square" lIns="0" rIns="0" tIns="0" bIns="0" anchor="t">
            <a:noAutofit/>
          </a:bodyPr>
          <a:lstStyle/>
          <a:p>
            <a:pPr algn="ctr">
              <a:lnSpc>
                <a:spcPts val="4290"/>
              </a:lnSpc>
              <a:spcBef>
                <a:spcPts val="0"/>
              </a:spcBef>
              <a:spcAft>
                <a:spcPts val="0"/>
              </a:spcAft>
            </a:pPr>
            <a:r>
              <a:rPr sz="4290" b="1" i="0" u="none">
                <a:solidFill>
                  <a:srgbClr val="21334A"/>
                </a:solidFill>
                <a:latin typeface="Noto Sans KR Black"/>
                <a:ea typeface="Noto Sans KR Black"/>
                <a:cs typeface="Noto Sans KR Black"/>
              </a:rPr>
              <a:t>$17</a:t>
            </a:r>
          </a:p>
        </p:txBody>
      </p:sp>
      <p:sp>
        <p:nvSpPr>
          <p:cNvPr id="12" name="TextBox 11"/>
          <p:cNvSpPr txBox="1"/>
          <p:nvPr/>
        </p:nvSpPr>
        <p:spPr>
          <a:xfrm>
            <a:off x="6353175" y="3278638"/>
            <a:ext cx="2290762" cy="1258900"/>
          </a:xfrm>
          <a:prstGeom prst="rect">
            <a:avLst/>
          </a:prstGeom>
          <a:noFill/>
        </p:spPr>
        <p:txBody>
          <a:bodyPr wrap="square" lIns="0" rIns="0" tIns="0" bIns="0" anchor="t">
            <a:noAutofit/>
          </a:bodyPr>
          <a:lstStyle/>
          <a:p>
            <a:pPr algn="ctr">
              <a:lnSpc>
                <a:spcPts val="1722"/>
              </a:lnSpc>
              <a:spcBef>
                <a:spcPts val="0"/>
              </a:spcBef>
              <a:spcAft>
                <a:spcPts val="0"/>
              </a:spcAft>
            </a:pPr>
            <a:r>
              <a:rPr sz="1188" b="0" i="0" u="none">
                <a:solidFill>
                  <a:srgbClr val="7A756C"/>
                </a:solidFill>
                <a:latin typeface="Consolas"/>
                <a:ea typeface="Consolas"/>
                <a:cs typeface="Consolas"/>
              </a:rPr>
              <a:t>Pro 연간 선결제</a:t>
            </a:r>
          </a:p>
        </p:txBody>
      </p:sp>
      <p:sp>
        <p:nvSpPr>
          <p:cNvPr id="13" name="Rounded Rectangle 12"/>
          <p:cNvSpPr/>
          <p:nvPr/>
        </p:nvSpPr>
        <p:spPr>
          <a:xfrm>
            <a:off x="8986838" y="2448058"/>
            <a:ext cx="2633662" cy="1258900"/>
          </a:xfrm>
          <a:prstGeom prst="roundRect">
            <a:avLst>
              <a:gd name="adj" fmla="val 3026"/>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86838" y="2657608"/>
            <a:ext cx="2633662" cy="572072"/>
          </a:xfrm>
          <a:prstGeom prst="rect">
            <a:avLst/>
          </a:prstGeom>
          <a:noFill/>
        </p:spPr>
        <p:txBody>
          <a:bodyPr wrap="square" lIns="0" rIns="0" tIns="0" bIns="0" anchor="t">
            <a:noAutofit/>
          </a:bodyPr>
          <a:lstStyle/>
          <a:p>
            <a:pPr algn="ctr">
              <a:lnSpc>
                <a:spcPts val="4290"/>
              </a:lnSpc>
              <a:spcBef>
                <a:spcPts val="0"/>
              </a:spcBef>
              <a:spcAft>
                <a:spcPts val="0"/>
              </a:spcAft>
            </a:pPr>
            <a:r>
              <a:rPr sz="4290" b="1" i="0" u="none">
                <a:solidFill>
                  <a:srgbClr val="21334A"/>
                </a:solidFill>
                <a:latin typeface="Noto Sans KR Black"/>
                <a:ea typeface="Noto Sans KR Black"/>
                <a:cs typeface="Noto Sans KR Black"/>
              </a:rPr>
              <a:t>$100</a:t>
            </a:r>
          </a:p>
        </p:txBody>
      </p:sp>
      <p:sp>
        <p:nvSpPr>
          <p:cNvPr id="15" name="TextBox 14"/>
          <p:cNvSpPr txBox="1"/>
          <p:nvPr/>
        </p:nvSpPr>
        <p:spPr>
          <a:xfrm>
            <a:off x="9158288" y="3278638"/>
            <a:ext cx="2290762" cy="1258900"/>
          </a:xfrm>
          <a:prstGeom prst="rect">
            <a:avLst/>
          </a:prstGeom>
          <a:noFill/>
        </p:spPr>
        <p:txBody>
          <a:bodyPr wrap="square" lIns="0" rIns="0" tIns="0" bIns="0" anchor="t">
            <a:noAutofit/>
          </a:bodyPr>
          <a:lstStyle/>
          <a:p>
            <a:pPr algn="ctr">
              <a:lnSpc>
                <a:spcPts val="1722"/>
              </a:lnSpc>
              <a:spcBef>
                <a:spcPts val="0"/>
              </a:spcBef>
              <a:spcAft>
                <a:spcPts val="0"/>
              </a:spcAft>
            </a:pPr>
            <a:r>
              <a:rPr sz="1188" b="0" i="0" u="none">
                <a:solidFill>
                  <a:srgbClr val="7A756C"/>
                </a:solidFill>
                <a:latin typeface="Consolas"/>
                <a:ea typeface="Consolas"/>
                <a:cs typeface="Consolas"/>
              </a:rPr>
              <a:t>Max 시작 가격</a:t>
            </a:r>
          </a:p>
        </p:txBody>
      </p:sp>
      <p:sp>
        <p:nvSpPr>
          <p:cNvPr id="16" name="TextBox 15"/>
          <p:cNvSpPr txBox="1"/>
          <p:nvPr/>
        </p:nvSpPr>
        <p:spPr>
          <a:xfrm>
            <a:off x="571500" y="3897459"/>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대부분 Pro로 충분합니다. 무료 플랜에는 코워크가 들어 있지 않습니다.</a:t>
            </a:r>
            <a:r>
              <a:rPr sz="1023" b="0" i="0" u="none">
                <a:solidFill>
                  <a:srgbClr val="B0745C"/>
                </a:solidFill>
                <a:latin typeface="Noto Sans KR"/>
                <a:ea typeface="Noto Sans KR"/>
                <a:cs typeface="Noto Sans KR"/>
                <a:hlinkClick r:id="rId3"/>
              </a:rPr>
              <a:t>[R3]</a:t>
            </a:r>
            <a:r>
              <a:rPr sz="1023" b="0" i="0" u="none">
                <a:solidFill>
                  <a:srgbClr val="B0745C"/>
                </a:solidFill>
                <a:latin typeface="Noto Sans KR"/>
                <a:ea typeface="Noto Sans KR"/>
                <a:cs typeface="Noto Sans KR"/>
                <a:hlinkClick r:id="rId4"/>
              </a:rPr>
              <a:t>[R2]</a:t>
            </a:r>
          </a:p>
        </p:txBody>
      </p:sp>
      <p:sp>
        <p:nvSpPr>
          <p:cNvPr id="17" name="TextBox 16"/>
          <p:cNvSpPr txBox="1"/>
          <p:nvPr/>
        </p:nvSpPr>
        <p:spPr>
          <a:xfrm>
            <a:off x="571500" y="4343819"/>
            <a:ext cx="11049000" cy="255861"/>
          </a:xfrm>
          <a:prstGeom prst="rect">
            <a:avLst/>
          </a:prstGeom>
          <a:noFill/>
        </p:spPr>
        <p:txBody>
          <a:bodyPr wrap="square" lIns="0" rIns="0" tIns="0" bIns="0" anchor="t">
            <a:noAutofit/>
          </a:bodyPr>
          <a:lstStyle/>
          <a:p>
            <a:pPr algn="l">
              <a:lnSpc>
                <a:spcPts val="2014"/>
              </a:lnSpc>
              <a:spcBef>
                <a:spcPts val="0"/>
              </a:spcBef>
              <a:spcAft>
                <a:spcPts val="0"/>
              </a:spcAft>
            </a:pPr>
            <a:r>
              <a:rPr sz="1221" b="0" i="0" u="none">
                <a:solidFill>
                  <a:srgbClr val="7A756C"/>
                </a:solidFill>
                <a:latin typeface="Noto Sans KR"/>
                <a:ea typeface="Noto Sans KR"/>
                <a:cs typeface="Noto Sans KR"/>
              </a:rPr>
              <a:t>공식 요금 페이지에 원화 표기가 없습니다. 달러로 청구되니 결제 화면에서 최종 금액을 확인하세요.</a:t>
            </a:r>
          </a:p>
        </p:txBody>
      </p:sp>
      <p:sp>
        <p:nvSpPr>
          <p:cNvPr id="18" name="TextBox 17"/>
          <p:cNvSpPr txBox="1"/>
          <p:nvPr/>
        </p:nvSpPr>
        <p:spPr>
          <a:xfrm>
            <a:off x="571500" y="4790180"/>
            <a:ext cx="110490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가격은 2026-08-04 확인 기준입니다. 수시로 바뀝니다.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520928"/>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안 될 때 여기부터 보세요</a:t>
            </a:r>
          </a:p>
        </p:txBody>
      </p:sp>
      <p:sp>
        <p:nvSpPr>
          <p:cNvPr id="4" name="Rounded Rectangle 3"/>
          <p:cNvSpPr/>
          <p:nvPr/>
        </p:nvSpPr>
        <p:spPr>
          <a:xfrm>
            <a:off x="571500" y="2246924"/>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401634"/>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401634"/>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1</a:t>
            </a:r>
          </a:p>
        </p:txBody>
      </p:sp>
      <p:sp>
        <p:nvSpPr>
          <p:cNvPr id="7" name="TextBox 6"/>
          <p:cNvSpPr txBox="1"/>
          <p:nvPr/>
        </p:nvSpPr>
        <p:spPr>
          <a:xfrm>
            <a:off x="1161098" y="2361224"/>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코워크 메뉴가 없다. 무료 계정으로 로그인했을 가능성이 큽니다</a:t>
            </a:r>
          </a:p>
        </p:txBody>
      </p:sp>
      <p:sp>
        <p:nvSpPr>
          <p:cNvPr id="8" name="Rounded Rectangle 7"/>
          <p:cNvSpPr/>
          <p:nvPr/>
        </p:nvSpPr>
        <p:spPr>
          <a:xfrm>
            <a:off x="571500" y="2880193"/>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034903"/>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034903"/>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2</a:t>
            </a:r>
          </a:p>
        </p:txBody>
      </p:sp>
      <p:sp>
        <p:nvSpPr>
          <p:cNvPr id="11" name="TextBox 10"/>
          <p:cNvSpPr txBox="1"/>
          <p:nvPr/>
        </p:nvSpPr>
        <p:spPr>
          <a:xfrm>
            <a:off x="1161098" y="2994493"/>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파일을 못 읽는다. 폴더 연결이 풀렸거나 데스크톱 앱이 꺼져 있습니다</a:t>
            </a:r>
          </a:p>
        </p:txBody>
      </p:sp>
      <p:sp>
        <p:nvSpPr>
          <p:cNvPr id="12" name="Rounded Rectangle 11"/>
          <p:cNvSpPr/>
          <p:nvPr/>
        </p:nvSpPr>
        <p:spPr>
          <a:xfrm>
            <a:off x="571500" y="3513463"/>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3668173"/>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668173"/>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3</a:t>
            </a:r>
          </a:p>
        </p:txBody>
      </p:sp>
      <p:sp>
        <p:nvSpPr>
          <p:cNvPr id="15" name="TextBox 14"/>
          <p:cNvSpPr txBox="1"/>
          <p:nvPr/>
        </p:nvSpPr>
        <p:spPr>
          <a:xfrm>
            <a:off x="1161098" y="3627763"/>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한글 파일을 못 연다. PDF나 워드로 저장해서 다시 넣습니다</a:t>
            </a:r>
          </a:p>
        </p:txBody>
      </p:sp>
      <p:sp>
        <p:nvSpPr>
          <p:cNvPr id="16" name="Rounded Rectangle 15"/>
          <p:cNvSpPr/>
          <p:nvPr/>
        </p:nvSpPr>
        <p:spPr>
          <a:xfrm>
            <a:off x="571500" y="4146733"/>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2950" y="4301442"/>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950" y="4301442"/>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4</a:t>
            </a:r>
          </a:p>
        </p:txBody>
      </p:sp>
      <p:sp>
        <p:nvSpPr>
          <p:cNvPr id="19" name="TextBox 18"/>
          <p:cNvSpPr txBox="1"/>
          <p:nvPr/>
        </p:nvSpPr>
        <p:spPr>
          <a:xfrm>
            <a:off x="1161098" y="4261033"/>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엉뚱한 폴더를 건드린다. 멈추고 폴더를 다시 지정합니다</a:t>
            </a:r>
          </a:p>
        </p:txBody>
      </p:sp>
      <p:sp>
        <p:nvSpPr>
          <p:cNvPr id="20" name="Rounded Rectangle 19"/>
          <p:cNvSpPr/>
          <p:nvPr/>
        </p:nvSpPr>
        <p:spPr>
          <a:xfrm>
            <a:off x="571500" y="4780002"/>
            <a:ext cx="11049000" cy="557070"/>
          </a:xfrm>
          <a:prstGeom prst="roundRect">
            <a:avLst>
              <a:gd name="adj" fmla="val 6839"/>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2950" y="4934712"/>
            <a:ext cx="284798" cy="247650"/>
          </a:xfrm>
          <a:prstGeom prst="roundRect">
            <a:avLst>
              <a:gd name="adj" fmla="val 50000"/>
            </a:avLst>
          </a:prstGeom>
          <a:solidFill>
            <a:srgbClr val="909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950" y="4934712"/>
            <a:ext cx="284798" cy="247650"/>
          </a:xfrm>
          <a:prstGeom prst="rect">
            <a:avLst/>
          </a:prstGeom>
          <a:noFill/>
        </p:spPr>
        <p:txBody>
          <a:bodyPr wrap="square" lIns="0" rIns="0" tIns="0" bIns="0" anchor="ctr">
            <a:noAutofit/>
          </a:bodyPr>
          <a:lstStyle/>
          <a:p>
            <a:pPr algn="ctr">
              <a:lnSpc>
                <a:spcPts val="1128"/>
              </a:lnSpc>
              <a:spcBef>
                <a:spcPts val="0"/>
              </a:spcBef>
              <a:spcAft>
                <a:spcPts val="0"/>
              </a:spcAft>
            </a:pPr>
            <a:r>
              <a:rPr sz="1128" b="1" i="0" u="none">
                <a:solidFill>
                  <a:srgbClr val="FFFFFF"/>
                </a:solidFill>
                <a:latin typeface="Consolas"/>
                <a:ea typeface="Consolas"/>
                <a:cs typeface="Consolas"/>
              </a:rPr>
              <a:t>5</a:t>
            </a:r>
          </a:p>
        </p:txBody>
      </p:sp>
      <p:sp>
        <p:nvSpPr>
          <p:cNvPr id="23" name="TextBox 22"/>
          <p:cNvSpPr txBox="1"/>
          <p:nvPr/>
        </p:nvSpPr>
        <p:spPr>
          <a:xfrm>
            <a:off x="1161098" y="4894302"/>
            <a:ext cx="10287952" cy="328470"/>
          </a:xfrm>
          <a:prstGeom prst="rect">
            <a:avLst/>
          </a:prstGeom>
          <a:noFill/>
        </p:spPr>
        <p:txBody>
          <a:bodyPr wrap="square" lIns="0" rIns="0" tIns="0" bIns="0" anchor="t">
            <a:noAutofit/>
          </a:bodyPr>
          <a:lstStyle/>
          <a:p>
            <a:pPr algn="l">
              <a:lnSpc>
                <a:spcPts val="2586"/>
              </a:lnSpc>
              <a:spcBef>
                <a:spcPts val="0"/>
              </a:spcBef>
              <a:spcAft>
                <a:spcPts val="0"/>
              </a:spcAft>
            </a:pPr>
            <a:r>
              <a:rPr sz="1567" b="0" i="0" u="none">
                <a:solidFill>
                  <a:srgbClr val="3E3D39"/>
                </a:solidFill>
                <a:latin typeface="Noto Sans KR"/>
                <a:ea typeface="Noto Sans KR"/>
                <a:cs typeface="Noto Sans KR"/>
              </a:rPr>
              <a:t>결과가 그럴듯한데 틀렸다. 원문 대조를 건너뛴 경우입니다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92300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다음 30일</a:t>
            </a:r>
          </a:p>
        </p:txBody>
      </p:sp>
      <p:sp>
        <p:nvSpPr>
          <p:cNvPr id="4" name="Rounded Rectangle 3"/>
          <p:cNvSpPr/>
          <p:nvPr/>
        </p:nvSpPr>
        <p:spPr>
          <a:xfrm>
            <a:off x="571500" y="2648998"/>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2950" y="2763298"/>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2763298"/>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1</a:t>
            </a:r>
          </a:p>
        </p:txBody>
      </p:sp>
      <p:sp>
        <p:nvSpPr>
          <p:cNvPr id="7" name="TextBox 6"/>
          <p:cNvSpPr txBox="1"/>
          <p:nvPr/>
        </p:nvSpPr>
        <p:spPr>
          <a:xfrm>
            <a:off x="1162050" y="276336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오늘 저녁, 만든 폴더에 </a:t>
            </a:r>
            <a:r>
              <a:rPr sz="1551" b="1" i="0" u="none">
                <a:solidFill>
                  <a:srgbClr val="21334A"/>
                </a:solidFill>
                <a:latin typeface="Noto Sans KR"/>
                <a:ea typeface="Noto Sans KR"/>
                <a:cs typeface="Noto Sans KR"/>
              </a:rPr>
              <a:t>내 자료 세 개</a:t>
            </a:r>
            <a:r>
              <a:rPr sz="1551" b="0" i="0" u="none">
                <a:solidFill>
                  <a:srgbClr val="3E3D39"/>
                </a:solidFill>
                <a:latin typeface="Noto Sans KR"/>
                <a:ea typeface="Noto Sans KR"/>
                <a:cs typeface="Noto Sans KR"/>
              </a:rPr>
              <a:t>를 더 넣습니다</a:t>
            </a:r>
          </a:p>
        </p:txBody>
      </p:sp>
      <p:sp>
        <p:nvSpPr>
          <p:cNvPr id="8" name="Rounded Rectangle 7"/>
          <p:cNvSpPr/>
          <p:nvPr/>
        </p:nvSpPr>
        <p:spPr>
          <a:xfrm>
            <a:off x="571500" y="3239548"/>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2950" y="3353848"/>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3353848"/>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2</a:t>
            </a:r>
          </a:p>
        </p:txBody>
      </p:sp>
      <p:sp>
        <p:nvSpPr>
          <p:cNvPr id="11" name="TextBox 10"/>
          <p:cNvSpPr txBox="1"/>
          <p:nvPr/>
        </p:nvSpPr>
        <p:spPr>
          <a:xfrm>
            <a:off x="1162050" y="335391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이번 주 안에, 실습 ⑤에서 적은 워크플로를 한 번 그대로 돌립니다</a:t>
            </a:r>
          </a:p>
        </p:txBody>
      </p:sp>
      <p:sp>
        <p:nvSpPr>
          <p:cNvPr id="12" name="Rounded Rectangle 11"/>
          <p:cNvSpPr/>
          <p:nvPr/>
        </p:nvSpPr>
        <p:spPr>
          <a:xfrm>
            <a:off x="571500" y="3830098"/>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950" y="3944398"/>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944398"/>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3</a:t>
            </a:r>
          </a:p>
        </p:txBody>
      </p:sp>
      <p:sp>
        <p:nvSpPr>
          <p:cNvPr id="15" name="TextBox 14"/>
          <p:cNvSpPr txBox="1"/>
          <p:nvPr/>
        </p:nvSpPr>
        <p:spPr>
          <a:xfrm>
            <a:off x="1162050" y="394446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2주 안에, 학교 정보 담당자에게 계정 정책을 확인합니다</a:t>
            </a:r>
          </a:p>
        </p:txBody>
      </p:sp>
      <p:sp>
        <p:nvSpPr>
          <p:cNvPr id="16" name="Rounded Rectangle 15"/>
          <p:cNvSpPr/>
          <p:nvPr/>
        </p:nvSpPr>
        <p:spPr>
          <a:xfrm>
            <a:off x="571500" y="4420648"/>
            <a:ext cx="11049000" cy="514350"/>
          </a:xfrm>
          <a:prstGeom prst="roundRect">
            <a:avLst>
              <a:gd name="adj" fmla="val 7407"/>
            </a:avLst>
          </a:prstGeom>
          <a:solidFill>
            <a:srgbClr val="FFFFFF"/>
          </a:solidFill>
          <a:ln w="9525">
            <a:solidFill>
              <a:srgbClr val="D8D0C2">
                <a:alpha val="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2950" y="4534948"/>
            <a:ext cx="285750" cy="285750"/>
          </a:xfrm>
          <a:prstGeom prst="roundRect">
            <a:avLst>
              <a:gd name="adj" fmla="val 50000"/>
            </a:avLst>
          </a:prstGeom>
          <a:solidFill>
            <a:srgbClr val="21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950" y="4534948"/>
            <a:ext cx="285750" cy="285750"/>
          </a:xfrm>
          <a:prstGeom prst="rect">
            <a:avLst/>
          </a:prstGeom>
          <a:noFill/>
        </p:spPr>
        <p:txBody>
          <a:bodyPr wrap="square" lIns="0" rIns="0" tIns="0" bIns="0" anchor="ctr">
            <a:noAutofit/>
          </a:bodyPr>
          <a:lstStyle/>
          <a:p>
            <a:pPr algn="ctr">
              <a:lnSpc>
                <a:spcPts val="1353"/>
              </a:lnSpc>
              <a:spcBef>
                <a:spcPts val="0"/>
              </a:spcBef>
              <a:spcAft>
                <a:spcPts val="0"/>
              </a:spcAft>
            </a:pPr>
            <a:r>
              <a:rPr sz="1353" b="1" i="0" u="none">
                <a:solidFill>
                  <a:srgbClr val="FFFFFF"/>
                </a:solidFill>
                <a:latin typeface="Consolas"/>
                <a:ea typeface="Consolas"/>
                <a:cs typeface="Consolas"/>
              </a:rPr>
              <a:t>4</a:t>
            </a:r>
          </a:p>
        </p:txBody>
      </p:sp>
      <p:sp>
        <p:nvSpPr>
          <p:cNvPr id="19" name="TextBox 18"/>
          <p:cNvSpPr txBox="1"/>
          <p:nvPr/>
        </p:nvSpPr>
        <p:spPr>
          <a:xfrm>
            <a:off x="1162050" y="4535014"/>
            <a:ext cx="10287000" cy="285617"/>
          </a:xfrm>
          <a:prstGeom prst="rect">
            <a:avLst/>
          </a:prstGeom>
          <a:noFill/>
        </p:spPr>
        <p:txBody>
          <a:bodyPr wrap="square" lIns="0" rIns="0" tIns="0" bIns="0" anchor="t">
            <a:noAutofit/>
          </a:bodyPr>
          <a:lstStyle/>
          <a:p>
            <a:pPr algn="l">
              <a:lnSpc>
                <a:spcPts val="2248"/>
              </a:lnSpc>
              <a:spcBef>
                <a:spcPts val="0"/>
              </a:spcBef>
              <a:spcAft>
                <a:spcPts val="0"/>
              </a:spcAft>
            </a:pPr>
            <a:r>
              <a:rPr sz="1551" b="0" i="0" u="none">
                <a:solidFill>
                  <a:srgbClr val="3E3D39"/>
                </a:solidFill>
                <a:latin typeface="Noto Sans KR"/>
                <a:ea typeface="Noto Sans KR"/>
                <a:cs typeface="Noto Sans KR"/>
              </a:rPr>
              <a:t>한 달 안에, 동학년 선생님 한 분에게 폴더 하나를 보여줍니다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789081"/>
            <a:ext cx="11049000" cy="1005840"/>
          </a:xfrm>
          <a:prstGeom prst="rect">
            <a:avLst/>
          </a:prstGeom>
          <a:noFill/>
        </p:spPr>
        <p:txBody>
          <a:bodyPr wrap="square" lIns="0" rIns="0" tIns="0" bIns="0" anchor="t">
            <a:noAutofit/>
          </a:bodyPr>
          <a:lstStyle/>
          <a:p>
            <a:pPr algn="l">
              <a:lnSpc>
                <a:spcPts val="7919"/>
              </a:lnSpc>
              <a:spcBef>
                <a:spcPts val="0"/>
              </a:spcBef>
              <a:spcAft>
                <a:spcPts val="0"/>
              </a:spcAft>
            </a:pPr>
            <a:r>
              <a:rPr sz="8250" b="1" i="0" u="none">
                <a:solidFill>
                  <a:srgbClr val="21334A"/>
                </a:solidFill>
                <a:latin typeface="Noto Sans KR Black"/>
                <a:ea typeface="Noto Sans KR Black"/>
                <a:cs typeface="Noto Sans KR Black"/>
              </a:rPr>
              <a:t>여기까지입니다</a:t>
            </a:r>
          </a:p>
        </p:txBody>
      </p:sp>
      <p:sp>
        <p:nvSpPr>
          <p:cNvPr id="4" name="TextBox 3"/>
          <p:cNvSpPr txBox="1"/>
          <p:nvPr/>
        </p:nvSpPr>
        <p:spPr>
          <a:xfrm>
            <a:off x="571500" y="2908078"/>
            <a:ext cx="11049000" cy="792099"/>
          </a:xfrm>
          <a:prstGeom prst="rect">
            <a:avLst/>
          </a:prstGeom>
          <a:noFill/>
        </p:spPr>
        <p:txBody>
          <a:bodyPr wrap="square" lIns="0" rIns="0" tIns="0" bIns="0" anchor="t">
            <a:noAutofit/>
          </a:bodyPr>
          <a:lstStyle/>
          <a:p>
            <a:pPr algn="l">
              <a:lnSpc>
                <a:spcPts val="3118"/>
              </a:lnSpc>
              <a:spcBef>
                <a:spcPts val="0"/>
              </a:spcBef>
              <a:spcAft>
                <a:spcPts val="0"/>
              </a:spcAft>
            </a:pPr>
            <a:r>
              <a:rPr sz="2227" b="0" i="0" u="none">
                <a:solidFill>
                  <a:srgbClr val="7A756C"/>
                </a:solidFill>
                <a:latin typeface="Noto Sans KR"/>
                <a:ea typeface="Noto Sans KR"/>
                <a:cs typeface="Noto Sans KR"/>
              </a:rPr>
              <a:t>오늘 만든 폴더는 지우지 마세요.</a:t>
            </a:r>
            <a:br/>
            <a:r>
              <a:rPr sz="2227" b="0" i="0" u="none">
                <a:solidFill>
                  <a:srgbClr val="7A756C"/>
                </a:solidFill>
                <a:latin typeface="Noto Sans KR"/>
                <a:ea typeface="Noto Sans KR"/>
                <a:cs typeface="Noto Sans KR"/>
              </a:rPr>
              <a:t>다음 단원 자료를 넣는 순간부터 값을 합니다.</a:t>
            </a:r>
          </a:p>
        </p:txBody>
      </p:sp>
      <p:sp>
        <p:nvSpPr>
          <p:cNvPr id="5" name="TextBox 4"/>
          <p:cNvSpPr txBox="1"/>
          <p:nvPr/>
        </p:nvSpPr>
        <p:spPr>
          <a:xfrm>
            <a:off x="571500" y="3783997"/>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6" name="TextBox 5"/>
          <p:cNvSpPr txBox="1"/>
          <p:nvPr/>
        </p:nvSpPr>
        <p:spPr>
          <a:xfrm>
            <a:off x="838200" y="3783997"/>
            <a:ext cx="107823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배포 폴더에 예제 파일, 지시문 모음, 검수 체크리스트</a:t>
            </a:r>
          </a:p>
        </p:txBody>
      </p:sp>
      <p:sp>
        <p:nvSpPr>
          <p:cNvPr id="7" name="TextBox 6"/>
          <p:cNvSpPr txBox="1"/>
          <p:nvPr/>
        </p:nvSpPr>
        <p:spPr>
          <a:xfrm>
            <a:off x="571500" y="4253579"/>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8" name="TextBox 7"/>
          <p:cNvSpPr txBox="1"/>
          <p:nvPr/>
        </p:nvSpPr>
        <p:spPr>
          <a:xfrm>
            <a:off x="838200" y="4253579"/>
            <a:ext cx="107823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안 될 때 볼 곳은 38번 슬라이드</a:t>
            </a:r>
          </a:p>
        </p:txBody>
      </p:sp>
      <p:sp>
        <p:nvSpPr>
          <p:cNvPr id="9" name="TextBox 8"/>
          <p:cNvSpPr txBox="1"/>
          <p:nvPr/>
        </p:nvSpPr>
        <p:spPr>
          <a:xfrm>
            <a:off x="571500" y="4723162"/>
            <a:ext cx="266700" cy="345758"/>
          </a:xfrm>
          <a:prstGeom prst="rect">
            <a:avLst/>
          </a:prstGeom>
          <a:noFill/>
        </p:spPr>
        <p:txBody>
          <a:bodyPr wrap="square" lIns="0" rIns="0" tIns="0" bIns="0" anchor="t">
            <a:noAutofit/>
          </a:bodyPr>
          <a:lstStyle/>
          <a:p>
            <a:pPr algn="l">
              <a:lnSpc>
                <a:spcPts val="2722"/>
              </a:lnSpc>
              <a:spcBef>
                <a:spcPts val="0"/>
              </a:spcBef>
              <a:spcAft>
                <a:spcPts val="0"/>
              </a:spcAft>
            </a:pPr>
            <a:r>
              <a:rPr sz="1650" b="1" i="0" u="none">
                <a:solidFill>
                  <a:srgbClr val="B0745C"/>
                </a:solidFill>
                <a:latin typeface="Noto Sans KR"/>
                <a:ea typeface="Noto Sans KR"/>
                <a:cs typeface="Noto Sans KR"/>
              </a:rPr>
              <a:t>▸</a:t>
            </a:r>
          </a:p>
        </p:txBody>
      </p:sp>
      <p:sp>
        <p:nvSpPr>
          <p:cNvPr id="10" name="TextBox 9"/>
          <p:cNvSpPr txBox="1"/>
          <p:nvPr/>
        </p:nvSpPr>
        <p:spPr>
          <a:xfrm>
            <a:off x="838200" y="4723162"/>
            <a:ext cx="107823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질문 받겠습니다</a:t>
            </a:r>
          </a:p>
        </p:txBody>
      </p:sp>
      <p:sp>
        <p:nvSpPr>
          <p:cNvPr id="11" name="TextBox 10"/>
          <p:cNvSpPr txBox="1"/>
          <p:nvPr/>
        </p:nvSpPr>
        <p:spPr>
          <a:xfrm>
            <a:off x="571500" y="6188392"/>
            <a:ext cx="11049000" cy="345758"/>
          </a:xfrm>
          <a:prstGeom prst="rect">
            <a:avLst/>
          </a:prstGeom>
          <a:noFill/>
        </p:spPr>
        <p:txBody>
          <a:bodyPr wrap="square" lIns="0" rIns="0" tIns="0" bIns="0" anchor="t">
            <a:noAutofit/>
          </a:bodyPr>
          <a:lstStyle/>
          <a:p>
            <a:pPr algn="l">
              <a:lnSpc>
                <a:spcPts val="2722"/>
              </a:lnSpc>
              <a:spcBef>
                <a:spcPts val="0"/>
              </a:spcBef>
              <a:spcAft>
                <a:spcPts val="0"/>
              </a:spcAft>
            </a:pPr>
            <a:r>
              <a:rPr sz="1650" b="0" i="0" u="none">
                <a:solidFill>
                  <a:srgbClr val="3E3D39"/>
                </a:solidFill>
                <a:latin typeface="Noto Sans KR"/>
                <a:ea typeface="Noto Sans KR"/>
                <a:cs typeface="Noto Sans KR"/>
              </a:rPr>
              <a:t>2026-08-04 확인 기준 · 제품 정보는 강의일에 다시 확인하세요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669455"/>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SOURCES · 1/2</a:t>
            </a:r>
          </a:p>
        </p:txBody>
      </p:sp>
      <p:sp>
        <p:nvSpPr>
          <p:cNvPr id="4" name="TextBox 3"/>
          <p:cNvSpPr txBox="1"/>
          <p:nvPr/>
        </p:nvSpPr>
        <p:spPr>
          <a:xfrm>
            <a:off x="571500" y="94183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출처</a:t>
            </a:r>
          </a:p>
        </p:txBody>
      </p:sp>
      <p:sp>
        <p:nvSpPr>
          <p:cNvPr id="5" name="Rounded Rectangle 4"/>
          <p:cNvSpPr/>
          <p:nvPr/>
        </p:nvSpPr>
        <p:spPr>
          <a:xfrm>
            <a:off x="571500" y="1667828"/>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1667828"/>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5325" y="1782128"/>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[R1] </a:t>
            </a:r>
            <a:r>
              <a:rPr sz="1188" b="1" i="0" u="none">
                <a:solidFill>
                  <a:srgbClr val="21334A"/>
                </a:solidFill>
                <a:latin typeface="Noto Sans KR"/>
                <a:ea typeface="Noto Sans KR"/>
                <a:cs typeface="Noto Sans KR"/>
              </a:rPr>
              <a:t>Get started with Claude Cowork</a:t>
            </a:r>
            <a:br/>
            <a:r>
              <a:rPr sz="1188" b="0" i="0" u="none">
                <a:solidFill>
                  <a:srgbClr val="7A756C"/>
                </a:solidFill>
                <a:latin typeface="Noto Sans KR"/>
                <a:ea typeface="Noto Sans KR"/>
                <a:cs typeface="Noto Sans KR"/>
              </a:rPr>
              <a:t>Anthropic 도움말 · 날짜 미표기  </a:t>
            </a:r>
            <a:r>
              <a:rPr sz="1188" b="0" i="0" u="none">
                <a:solidFill>
                  <a:srgbClr val="B0745C"/>
                </a:solidFill>
                <a:latin typeface="Noto Sans KR"/>
                <a:ea typeface="Noto Sans KR"/>
                <a:cs typeface="Noto Sans KR"/>
                <a:hlinkClick r:id="rId3"/>
              </a:rPr>
              <a:t>[원문]</a:t>
            </a:r>
          </a:p>
        </p:txBody>
      </p:sp>
      <p:sp>
        <p:nvSpPr>
          <p:cNvPr id="8" name="Rounded Rectangle 7"/>
          <p:cNvSpPr/>
          <p:nvPr/>
        </p:nvSpPr>
        <p:spPr>
          <a:xfrm>
            <a:off x="571500" y="2438743"/>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2438743"/>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5325" y="2553043"/>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[R2] </a:t>
            </a:r>
            <a:r>
              <a:rPr sz="1188" b="1" i="0" u="none">
                <a:solidFill>
                  <a:srgbClr val="21334A"/>
                </a:solidFill>
                <a:latin typeface="Noto Sans KR"/>
                <a:ea typeface="Noto Sans KR"/>
                <a:cs typeface="Noto Sans KR"/>
              </a:rPr>
              <a:t>Claude Cowork 제품 페이지</a:t>
            </a:r>
            <a:br/>
            <a:r>
              <a:rPr sz="1188" b="0" i="0" u="none">
                <a:solidFill>
                  <a:srgbClr val="7A756C"/>
                </a:solidFill>
                <a:latin typeface="Noto Sans KR"/>
                <a:ea typeface="Noto Sans KR"/>
                <a:cs typeface="Noto Sans KR"/>
              </a:rPr>
              <a:t>Anthropic · 날짜 미표기  </a:t>
            </a:r>
            <a:r>
              <a:rPr sz="1188" b="0" i="0" u="none">
                <a:solidFill>
                  <a:srgbClr val="B0745C"/>
                </a:solidFill>
                <a:latin typeface="Noto Sans KR"/>
                <a:ea typeface="Noto Sans KR"/>
                <a:cs typeface="Noto Sans KR"/>
                <a:hlinkClick r:id="rId4"/>
              </a:rPr>
              <a:t>[원문]</a:t>
            </a:r>
          </a:p>
        </p:txBody>
      </p:sp>
      <p:sp>
        <p:nvSpPr>
          <p:cNvPr id="11" name="Rounded Rectangle 10"/>
          <p:cNvSpPr/>
          <p:nvPr/>
        </p:nvSpPr>
        <p:spPr>
          <a:xfrm>
            <a:off x="571500" y="3209658"/>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3209658"/>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325" y="3323958"/>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[R3] </a:t>
            </a:r>
            <a:r>
              <a:rPr sz="1188" b="1" i="0" u="none">
                <a:solidFill>
                  <a:srgbClr val="21334A"/>
                </a:solidFill>
                <a:latin typeface="Noto Sans KR"/>
                <a:ea typeface="Noto Sans KR"/>
                <a:cs typeface="Noto Sans KR"/>
              </a:rPr>
              <a:t>Claude 요금제</a:t>
            </a:r>
            <a:br/>
            <a:r>
              <a:rPr sz="1188" b="0" i="0" u="none">
                <a:solidFill>
                  <a:srgbClr val="7A756C"/>
                </a:solidFill>
                <a:latin typeface="Noto Sans KR"/>
                <a:ea typeface="Noto Sans KR"/>
                <a:cs typeface="Noto Sans KR"/>
              </a:rPr>
              <a:t>Anthropic · 날짜 미표기  </a:t>
            </a:r>
            <a:r>
              <a:rPr sz="1188" b="0" i="0" u="none">
                <a:solidFill>
                  <a:srgbClr val="B0745C"/>
                </a:solidFill>
                <a:latin typeface="Noto Sans KR"/>
                <a:ea typeface="Noto Sans KR"/>
                <a:cs typeface="Noto Sans KR"/>
                <a:hlinkClick r:id="rId5"/>
              </a:rPr>
              <a:t>[원문]</a:t>
            </a:r>
          </a:p>
        </p:txBody>
      </p:sp>
      <p:sp>
        <p:nvSpPr>
          <p:cNvPr id="14" name="Rounded Rectangle 13"/>
          <p:cNvSpPr/>
          <p:nvPr/>
        </p:nvSpPr>
        <p:spPr>
          <a:xfrm>
            <a:off x="571500" y="3980574"/>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1500" y="3980574"/>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325" y="4094874"/>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[R4] </a:t>
            </a:r>
            <a:r>
              <a:rPr sz="1188" b="1" i="0" u="none">
                <a:solidFill>
                  <a:srgbClr val="21334A"/>
                </a:solidFill>
                <a:latin typeface="Noto Sans KR"/>
                <a:ea typeface="Noto Sans KR"/>
                <a:cs typeface="Noto Sans KR"/>
              </a:rPr>
              <a:t>Use plugins in Claude</a:t>
            </a:r>
            <a:br/>
            <a:r>
              <a:rPr sz="1188" b="0" i="0" u="none">
                <a:solidFill>
                  <a:srgbClr val="7A756C"/>
                </a:solidFill>
                <a:latin typeface="Noto Sans KR"/>
                <a:ea typeface="Noto Sans KR"/>
                <a:cs typeface="Noto Sans KR"/>
              </a:rPr>
              <a:t>Anthropic 도움말 · 날짜 미표기  </a:t>
            </a:r>
            <a:r>
              <a:rPr sz="1188" b="0" i="0" u="none">
                <a:solidFill>
                  <a:srgbClr val="B0745C"/>
                </a:solidFill>
                <a:latin typeface="Noto Sans KR"/>
                <a:ea typeface="Noto Sans KR"/>
                <a:cs typeface="Noto Sans KR"/>
                <a:hlinkClick r:id="rId6"/>
              </a:rPr>
              <a:t>[원문]</a:t>
            </a:r>
          </a:p>
        </p:txBody>
      </p:sp>
      <p:sp>
        <p:nvSpPr>
          <p:cNvPr id="17" name="Rounded Rectangle 16"/>
          <p:cNvSpPr/>
          <p:nvPr/>
        </p:nvSpPr>
        <p:spPr>
          <a:xfrm>
            <a:off x="571500" y="4751489"/>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1500" y="4751489"/>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5325" y="4865789"/>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[R5] </a:t>
            </a:r>
            <a:r>
              <a:rPr sz="1188" b="1" i="0" u="none">
                <a:solidFill>
                  <a:srgbClr val="21334A"/>
                </a:solidFill>
                <a:latin typeface="Noto Sans KR"/>
                <a:ea typeface="Noto Sans KR"/>
                <a:cs typeface="Noto Sans KR"/>
              </a:rPr>
              <a:t>Is my data used for model training?</a:t>
            </a:r>
            <a:br/>
            <a:r>
              <a:rPr sz="1188" b="0" i="0" u="none">
                <a:solidFill>
                  <a:srgbClr val="7A756C"/>
                </a:solidFill>
                <a:latin typeface="Noto Sans KR"/>
                <a:ea typeface="Noto Sans KR"/>
                <a:cs typeface="Noto Sans KR"/>
              </a:rPr>
              <a:t>Anthropic Privacy Center · 2026-03-16  </a:t>
            </a:r>
            <a:r>
              <a:rPr sz="1188" b="0" i="0" u="none">
                <a:solidFill>
                  <a:srgbClr val="B0745C"/>
                </a:solidFill>
                <a:latin typeface="Noto Sans KR"/>
                <a:ea typeface="Noto Sans KR"/>
                <a:cs typeface="Noto Sans KR"/>
                <a:hlinkClick r:id="rId7"/>
              </a:rPr>
              <a:t>[원문]</a:t>
            </a:r>
          </a:p>
        </p:txBody>
      </p:sp>
      <p:sp>
        <p:nvSpPr>
          <p:cNvPr id="20" name="Rounded Rectangle 19"/>
          <p:cNvSpPr/>
          <p:nvPr/>
        </p:nvSpPr>
        <p:spPr>
          <a:xfrm>
            <a:off x="571500" y="5522405"/>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1500" y="5522405"/>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5325" y="5636705"/>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[R6] </a:t>
            </a:r>
            <a:r>
              <a:rPr sz="1188" b="1" i="0" u="none">
                <a:solidFill>
                  <a:srgbClr val="21334A"/>
                </a:solidFill>
                <a:latin typeface="Noto Sans KR"/>
                <a:ea typeface="Noto Sans KR"/>
                <a:cs typeface="Noto Sans KR"/>
              </a:rPr>
              <a:t>What kinds of documents can I upload to Claude.ai</a:t>
            </a:r>
            <a:br/>
            <a:r>
              <a:rPr sz="1188" b="0" i="0" u="none">
                <a:solidFill>
                  <a:srgbClr val="7A756C"/>
                </a:solidFill>
                <a:latin typeface="Noto Sans KR"/>
                <a:ea typeface="Noto Sans KR"/>
                <a:cs typeface="Noto Sans KR"/>
              </a:rPr>
              <a:t>Anthropic 도움말 · 날짜 미표기  </a:t>
            </a:r>
            <a:r>
              <a:rPr sz="1188" b="0" i="0" u="none">
                <a:solidFill>
                  <a:srgbClr val="B0745C"/>
                </a:solidFill>
                <a:latin typeface="Noto Sans KR"/>
                <a:ea typeface="Noto Sans KR"/>
                <a:cs typeface="Noto Sans KR"/>
                <a:hlinkClick r:id="rId8"/>
              </a:rPr>
              <a:t>[원문]</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bg-warmpap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669455"/>
            <a:ext cx="11049000" cy="181889"/>
          </a:xfrm>
          <a:prstGeom prst="rect">
            <a:avLst/>
          </a:prstGeom>
          <a:noFill/>
        </p:spPr>
        <p:txBody>
          <a:bodyPr wrap="square" lIns="0" rIns="0" tIns="0" bIns="0" anchor="t">
            <a:noAutofit/>
          </a:bodyPr>
          <a:lstStyle/>
          <a:p>
            <a:pPr algn="ctr">
              <a:lnSpc>
                <a:spcPts val="1432"/>
              </a:lnSpc>
              <a:spcBef>
                <a:spcPts val="0"/>
              </a:spcBef>
              <a:spcAft>
                <a:spcPts val="0"/>
              </a:spcAft>
            </a:pPr>
            <a:r>
              <a:rPr sz="1023" b="0" i="0" u="none" spc="205">
                <a:solidFill>
                  <a:srgbClr val="B0745C"/>
                </a:solidFill>
                <a:latin typeface="Consolas"/>
                <a:ea typeface="Consolas"/>
                <a:cs typeface="Consolas"/>
              </a:rPr>
              <a:t>SOURCES · 2/2</a:t>
            </a:r>
          </a:p>
        </p:txBody>
      </p:sp>
      <p:sp>
        <p:nvSpPr>
          <p:cNvPr id="4" name="TextBox 3"/>
          <p:cNvSpPr txBox="1"/>
          <p:nvPr/>
        </p:nvSpPr>
        <p:spPr>
          <a:xfrm>
            <a:off x="571500" y="941832"/>
            <a:ext cx="11049000" cy="484061"/>
          </a:xfrm>
          <a:prstGeom prst="rect">
            <a:avLst/>
          </a:prstGeom>
          <a:noFill/>
        </p:spPr>
        <p:txBody>
          <a:bodyPr wrap="square" lIns="0" rIns="0" tIns="0" bIns="0" anchor="t">
            <a:noAutofit/>
          </a:bodyPr>
          <a:lstStyle/>
          <a:p>
            <a:pPr algn="ctr">
              <a:lnSpc>
                <a:spcPts val="3811"/>
              </a:lnSpc>
              <a:spcBef>
                <a:spcPts val="0"/>
              </a:spcBef>
              <a:spcAft>
                <a:spcPts val="0"/>
              </a:spcAft>
            </a:pPr>
            <a:r>
              <a:rPr sz="3465" b="1" i="0" u="none">
                <a:solidFill>
                  <a:srgbClr val="21334A"/>
                </a:solidFill>
                <a:latin typeface="Noto Sans KR"/>
                <a:ea typeface="Noto Sans KR"/>
                <a:cs typeface="Noto Sans KR"/>
              </a:rPr>
              <a:t>출처</a:t>
            </a:r>
          </a:p>
        </p:txBody>
      </p:sp>
      <p:sp>
        <p:nvSpPr>
          <p:cNvPr id="5" name="Rounded Rectangle 4"/>
          <p:cNvSpPr/>
          <p:nvPr/>
        </p:nvSpPr>
        <p:spPr>
          <a:xfrm>
            <a:off x="571500" y="1667828"/>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1667828"/>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5325" y="1782128"/>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[R7] </a:t>
            </a:r>
            <a:r>
              <a:rPr sz="1188" b="1" i="0" u="none">
                <a:solidFill>
                  <a:srgbClr val="21334A"/>
                </a:solidFill>
                <a:latin typeface="Noto Sans KR"/>
                <a:ea typeface="Noto Sans KR"/>
                <a:cs typeface="Noto Sans KR"/>
              </a:rPr>
              <a:t>2026학년도 초등학교 학교생활기록부 기재요령</a:t>
            </a:r>
            <a:br/>
            <a:r>
              <a:rPr sz="1188" b="0" i="0" u="none">
                <a:solidFill>
                  <a:srgbClr val="7A756C"/>
                </a:solidFill>
                <a:latin typeface="Noto Sans KR"/>
                <a:ea typeface="Noto Sans KR"/>
                <a:cs typeface="Noto Sans KR"/>
              </a:rPr>
              <a:t>17개 시도교육청 · 2026-02 · 스캔 PDF라 본문 미확인  </a:t>
            </a:r>
            <a:r>
              <a:rPr sz="1188" b="0" i="0" u="none">
                <a:solidFill>
                  <a:srgbClr val="B0745C"/>
                </a:solidFill>
                <a:latin typeface="Noto Sans KR"/>
                <a:ea typeface="Noto Sans KR"/>
                <a:cs typeface="Noto Sans KR"/>
                <a:hlinkClick r:id="rId3"/>
              </a:rPr>
              <a:t>[원문]</a:t>
            </a:r>
          </a:p>
        </p:txBody>
      </p:sp>
      <p:sp>
        <p:nvSpPr>
          <p:cNvPr id="8" name="Rounded Rectangle 7"/>
          <p:cNvSpPr/>
          <p:nvPr/>
        </p:nvSpPr>
        <p:spPr>
          <a:xfrm>
            <a:off x="571500" y="2438743"/>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2438743"/>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5325" y="2553043"/>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[R8] </a:t>
            </a:r>
            <a:r>
              <a:rPr sz="1188" b="1" i="0" u="none">
                <a:solidFill>
                  <a:srgbClr val="21334A"/>
                </a:solidFill>
                <a:latin typeface="Noto Sans KR"/>
                <a:ea typeface="Noto Sans KR"/>
                <a:cs typeface="Noto Sans KR"/>
              </a:rPr>
              <a:t>2026 학생부 기재요령 확정, AI 기록 금지</a:t>
            </a:r>
            <a:br/>
            <a:r>
              <a:rPr sz="1188" b="0" i="0" u="none">
                <a:solidFill>
                  <a:srgbClr val="7A756C"/>
                </a:solidFill>
                <a:latin typeface="Noto Sans KR"/>
                <a:ea typeface="Noto Sans KR"/>
                <a:cs typeface="Noto Sans KR"/>
              </a:rPr>
              <a:t>한국대학신문 · 2026-02-23 · 기재요령 원문을 대신한 보도 근거  </a:t>
            </a:r>
            <a:r>
              <a:rPr sz="1188" b="0" i="0" u="none">
                <a:solidFill>
                  <a:srgbClr val="B0745C"/>
                </a:solidFill>
                <a:latin typeface="Noto Sans KR"/>
                <a:ea typeface="Noto Sans KR"/>
                <a:cs typeface="Noto Sans KR"/>
                <a:hlinkClick r:id="rId4"/>
              </a:rPr>
              <a:t>[원문]</a:t>
            </a:r>
          </a:p>
        </p:txBody>
      </p:sp>
      <p:sp>
        <p:nvSpPr>
          <p:cNvPr id="11" name="Rounded Rectangle 10"/>
          <p:cNvSpPr/>
          <p:nvPr/>
        </p:nvSpPr>
        <p:spPr>
          <a:xfrm>
            <a:off x="571500" y="3209658"/>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3209658"/>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325" y="3323958"/>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[R9] </a:t>
            </a:r>
            <a:r>
              <a:rPr sz="1188" b="1" i="0" u="none">
                <a:solidFill>
                  <a:srgbClr val="21334A"/>
                </a:solidFill>
                <a:latin typeface="Noto Sans KR"/>
                <a:ea typeface="Noto Sans KR"/>
                <a:cs typeface="Noto Sans KR"/>
              </a:rPr>
              <a:t>학교생활기록 작성 및 관리지침 (교육부훈령 제555호)</a:t>
            </a:r>
            <a:br/>
            <a:r>
              <a:rPr sz="1188" b="0" i="0" u="none">
                <a:solidFill>
                  <a:srgbClr val="7A756C"/>
                </a:solidFill>
                <a:latin typeface="Noto Sans KR"/>
                <a:ea typeface="Noto Sans KR"/>
                <a:cs typeface="Noto Sans KR"/>
              </a:rPr>
              <a:t>교육부 · 2026-02-12 개정, 2026-03-01 시행  </a:t>
            </a:r>
            <a:r>
              <a:rPr sz="1188" b="0" i="0" u="none">
                <a:solidFill>
                  <a:srgbClr val="B0745C"/>
                </a:solidFill>
                <a:latin typeface="Noto Sans KR"/>
                <a:ea typeface="Noto Sans KR"/>
                <a:cs typeface="Noto Sans KR"/>
                <a:hlinkClick r:id="rId5"/>
              </a:rPr>
              <a:t>[원문]</a:t>
            </a:r>
          </a:p>
        </p:txBody>
      </p:sp>
      <p:sp>
        <p:nvSpPr>
          <p:cNvPr id="14" name="Rounded Rectangle 13"/>
          <p:cNvSpPr/>
          <p:nvPr/>
        </p:nvSpPr>
        <p:spPr>
          <a:xfrm>
            <a:off x="571500" y="3980574"/>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1500" y="3980574"/>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325" y="4094874"/>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[R10] </a:t>
            </a:r>
            <a:r>
              <a:rPr sz="1188" b="1" i="0" u="none">
                <a:solidFill>
                  <a:srgbClr val="21334A"/>
                </a:solidFill>
                <a:latin typeface="Noto Sans KR"/>
                <a:ea typeface="Noto Sans KR"/>
                <a:cs typeface="Noto Sans KR"/>
              </a:rPr>
              <a:t>수행평가 시 AI 활용 관리 방안</a:t>
            </a:r>
            <a:br/>
            <a:r>
              <a:rPr sz="1188" b="0" i="0" u="none">
                <a:solidFill>
                  <a:srgbClr val="7A756C"/>
                </a:solidFill>
                <a:latin typeface="Noto Sans KR"/>
                <a:ea typeface="Noto Sans KR"/>
                <a:cs typeface="Noto Sans KR"/>
              </a:rPr>
              <a:t>교육부·전국 시도교육청 · 2025-12-23  </a:t>
            </a:r>
            <a:r>
              <a:rPr sz="1188" b="0" i="0" u="none">
                <a:solidFill>
                  <a:srgbClr val="B0745C"/>
                </a:solidFill>
                <a:latin typeface="Noto Sans KR"/>
                <a:ea typeface="Noto Sans KR"/>
                <a:cs typeface="Noto Sans KR"/>
                <a:hlinkClick r:id="rId6"/>
              </a:rPr>
              <a:t>[원문]</a:t>
            </a:r>
          </a:p>
        </p:txBody>
      </p:sp>
      <p:sp>
        <p:nvSpPr>
          <p:cNvPr id="17" name="Rounded Rectangle 16"/>
          <p:cNvSpPr/>
          <p:nvPr/>
        </p:nvSpPr>
        <p:spPr>
          <a:xfrm>
            <a:off x="571500" y="4751489"/>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1500" y="4751489"/>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5325" y="4865789"/>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[R11] </a:t>
            </a:r>
            <a:r>
              <a:rPr sz="1188" b="1" i="0" u="none">
                <a:solidFill>
                  <a:srgbClr val="21334A"/>
                </a:solidFill>
                <a:latin typeface="Noto Sans KR"/>
                <a:ea typeface="Noto Sans KR"/>
                <a:cs typeface="Noto Sans KR"/>
              </a:rPr>
              <a:t>HWPX 미리보기 지원 요청 (not planned 종료)</a:t>
            </a:r>
            <a:br/>
            <a:r>
              <a:rPr sz="1188" b="0" i="0" u="none">
                <a:solidFill>
                  <a:srgbClr val="7A756C"/>
                </a:solidFill>
                <a:latin typeface="Noto Sans KR"/>
                <a:ea typeface="Noto Sans KR"/>
                <a:cs typeface="Noto Sans KR"/>
              </a:rPr>
              <a:t>GitHub anthropics/claude-code · 날짜 미표기  </a:t>
            </a:r>
            <a:r>
              <a:rPr sz="1188" b="0" i="0" u="none">
                <a:solidFill>
                  <a:srgbClr val="B0745C"/>
                </a:solidFill>
                <a:latin typeface="Noto Sans KR"/>
                <a:ea typeface="Noto Sans KR"/>
                <a:cs typeface="Noto Sans KR"/>
                <a:hlinkClick r:id="rId7"/>
              </a:rPr>
              <a:t>[원문]</a:t>
            </a:r>
          </a:p>
        </p:txBody>
      </p:sp>
      <p:sp>
        <p:nvSpPr>
          <p:cNvPr id="20" name="Rounded Rectangle 19"/>
          <p:cNvSpPr/>
          <p:nvPr/>
        </p:nvSpPr>
        <p:spPr>
          <a:xfrm>
            <a:off x="571500" y="5522405"/>
            <a:ext cx="11049000" cy="666140"/>
          </a:xfrm>
          <a:prstGeom prst="roundRect">
            <a:avLst>
              <a:gd name="adj" fmla="val 5719"/>
            </a:avLst>
          </a:prstGeom>
          <a:solidFill>
            <a:srgbClr val="FFFFFF"/>
          </a:solidFill>
          <a:ln w="9525">
            <a:solidFill>
              <a:srgbClr val="D8D0C2">
                <a:alpha val="0"/>
              </a:srgbClr>
            </a:solidFill>
          </a:ln>
          <a:effectLst>
            <a:outerShdw blurRad="152400" dist="57150" dir="5400000" rotWithShape="0">
              <a:srgbClr val="503C2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1500" y="5522405"/>
            <a:ext cx="38100" cy="666140"/>
          </a:xfrm>
          <a:prstGeom prst="rect">
            <a:avLst/>
          </a:prstGeom>
          <a:solidFill>
            <a:srgbClr val="B0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5325" y="5636705"/>
            <a:ext cx="10801350" cy="437540"/>
          </a:xfrm>
          <a:prstGeom prst="rect">
            <a:avLst/>
          </a:prstGeom>
          <a:noFill/>
        </p:spPr>
        <p:txBody>
          <a:bodyPr wrap="square" lIns="0" rIns="0" tIns="0" bIns="0" anchor="t">
            <a:noAutofit/>
          </a:bodyPr>
          <a:lstStyle/>
          <a:p>
            <a:pPr algn="l">
              <a:lnSpc>
                <a:spcPts val="1722"/>
              </a:lnSpc>
              <a:spcBef>
                <a:spcPts val="0"/>
              </a:spcBef>
              <a:spcAft>
                <a:spcPts val="0"/>
              </a:spcAft>
            </a:pPr>
            <a:r>
              <a:rPr sz="1188" b="1" i="0" u="none">
                <a:solidFill>
                  <a:srgbClr val="B0745C"/>
                </a:solidFill>
                <a:latin typeface="Consolas"/>
                <a:ea typeface="Consolas"/>
                <a:cs typeface="Consolas"/>
              </a:rPr>
              <a:t>[R12] </a:t>
            </a:r>
            <a:r>
              <a:rPr sz="1188" b="1" i="0" u="none">
                <a:solidFill>
                  <a:srgbClr val="21334A"/>
                </a:solidFill>
                <a:latin typeface="Noto Sans KR"/>
                <a:ea typeface="Noto Sans KR"/>
                <a:cs typeface="Noto Sans KR"/>
              </a:rPr>
              <a:t>올해부터 바뀌는 중고등학교 수행평가 AI 활용 지침</a:t>
            </a:r>
            <a:br/>
            <a:r>
              <a:rPr sz="1188" b="0" i="0" u="none">
                <a:solidFill>
                  <a:srgbClr val="7A756C"/>
                </a:solidFill>
                <a:latin typeface="Noto Sans KR"/>
                <a:ea typeface="Noto Sans KR"/>
                <a:cs typeface="Noto Sans KR"/>
              </a:rPr>
              <a:t>대한민국 정책브리핑 · 2026  </a:t>
            </a:r>
            <a:r>
              <a:rPr sz="1188" b="0" i="0" u="none">
                <a:solidFill>
                  <a:srgbClr val="B0745C"/>
                </a:solidFill>
                <a:latin typeface="Noto Sans KR"/>
                <a:ea typeface="Noto Sans KR"/>
                <a:cs typeface="Noto Sans KR"/>
                <a:hlinkClick r:id="rId8"/>
              </a:rPr>
              <a:t>[원문]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0745C"/>
      </a:hlink>
      <a:folHlink>
        <a:srgbClr val="B0745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