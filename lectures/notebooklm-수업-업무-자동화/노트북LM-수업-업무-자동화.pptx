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blog.google/innovation-and-ai/products/gemini-notebook/notebooklm-gemini-notebook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upport.google.com/gemininotebook/answer/16206563?hl=ko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upport.google.com/gemininotebook/answer/17003757?hl=ko" TargetMode="External"/><Relationship Id="rId4" Type="http://schemas.openxmlformats.org/officeDocument/2006/relationships/hyperlink" Target="https://support.google.com/gemininotebook/answer/16296687?hl=ko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upport.google.com/gemininotebook/answer/16206563?hl=ko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upport.google.com/gemininotebook/answer/16215270?hl=ko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upport.google.com/gemininotebook/answer/16215270?hl=ko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upport.google.com/gemininotebook/answer/16206563?hl=ko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upport.google.com/gemininotebook/answer/16262519?hl=ko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upport.google.com/gemininotebook/answer/16206563?hl=ko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upport.google.com/gemininotebook/answer/16206563?hl=ko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docs.google.com/presentation/d/1MTyP-BBusYw2rHKE_lQ2QVDA7uT7ngYaGfBy9HypQdY/edit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docs.google.com/presentation/d/1MTyP-BBusYw2rHKE_lQ2QVDA7uT7ngYaGfBy9HypQdY/edit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docs.google.com/presentation/d/1MTyP-BBusYw2rHKE_lQ2QVDA7uT7ngYaGfBy9HypQdY/edit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blog.google/intl/ko-kr/company-news/technology/notebooklm-audio-overviews-50-languages-kr/" TargetMode="External"/><Relationship Id="rId4" Type="http://schemas.openxmlformats.org/officeDocument/2006/relationships/hyperlink" Target="https://support.google.com/gemininotebook/answer/16212820?hl=ko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upport.google.com/gemininotebook/answer/16212820?hl=ko" TargetMode="External"/><Relationship Id="rId4" Type="http://schemas.openxmlformats.org/officeDocument/2006/relationships/hyperlink" Target="https://support.google.com/gemininotebook/answer/16454555?hl=ko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upport.google.com/gemininotebook/answer/16212820?hl=ko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upport.google.com/gemininotebook/answer/16454555?hl=ko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upport.google.com/gemininotebook/answer/16213268?hl=ko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upport.google.com/gemininotebook/answer/16269187?hl=ko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orkspaceupdates.googleblog.com/2026/05/keep-your-sources-up-to-date-with-automatic-Drive-syncing-in-NotebookLM.html" TargetMode="External"/><Relationship Id="rId4" Type="http://schemas.openxmlformats.org/officeDocument/2006/relationships/hyperlink" Target="https://support.google.com/gemininotebook/answer/16215270?hl=ko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upport.google.com/gemininotebook/answer/16206563?hl=ko" TargetMode="External"/><Relationship Id="rId4" Type="http://schemas.openxmlformats.org/officeDocument/2006/relationships/hyperlink" Target="https://support.google.com/gemininotebook/answer/16322204?hl=ko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knowledge.workspace.google.com/admin/getting-started/editions/quickstart-guide-to-gemini-and-notebooklm-for-education" TargetMode="External"/><Relationship Id="rId4" Type="http://schemas.openxmlformats.org/officeDocument/2006/relationships/hyperlink" Target="https://support.google.com/gemininotebook/answer/17004255?hl=ko" TargetMode="External"/><Relationship Id="rId5" Type="http://schemas.openxmlformats.org/officeDocument/2006/relationships/hyperlink" Target="https://knowledge.workspace.google.com/admin/users/access/turn-notebooklm-on-or-off-for-users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goe.go.kr/resource/goe/na/bbs_2675/2026/02/78529f5a-80d1-4b84-bf5e-b6da96f09d30.pdf" TargetMode="External"/><Relationship Id="rId4" Type="http://schemas.openxmlformats.org/officeDocument/2006/relationships/hyperlink" Target="https://www.moe.go.kr/boardCnts/viewRenew.do?boardID=294&amp;boardSeq=104984&amp;lev=0&amp;m=020402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ipc.go.kr/np/cop/bbs/selectBoardArticle.do?bbsId=BS074&amp;mCode=C020010000&amp;nttId=12084" TargetMode="External"/><Relationship Id="rId4" Type="http://schemas.openxmlformats.org/officeDocument/2006/relationships/hyperlink" Target="https://www.law.go.kr/%EB%B2%95%EB%A0%B9/%EA%B0%9C%EC%9D%B8%EC%A0%95%EB%B3%B4%EB%B3%B4%ED%98%B8%EB%B2%95" TargetMode="External"/><Relationship Id="rId5" Type="http://schemas.openxmlformats.org/officeDocument/2006/relationships/hyperlink" Target="https://www.law.go.kr/%EB%B2%95%EB%A0%B9/%EC%A0%80%EC%9E%91%EA%B6%8C%EB%B2%95" TargetMode="External"/><Relationship Id="rId6" Type="http://schemas.openxmlformats.org/officeDocument/2006/relationships/hyperlink" Target="https://support.google.com/accounts/answer/1350409?hl=ko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upport.google.com/gemininotebook/answer/16213268?hl=ko" TargetMode="External"/><Relationship Id="rId4" Type="http://schemas.openxmlformats.org/officeDocument/2006/relationships/hyperlink" Target="https://knowledge.workspace.google.com/admin/getting-started/editions/quickstart-guide-to-gemini-and-notebooklm-for-education" TargetMode="External"/><Relationship Id="rId5" Type="http://schemas.openxmlformats.org/officeDocument/2006/relationships/hyperlink" Target="https://one.google.com/about/plans?hl=ko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google.com/appsstatus/dashboard/products/sqTm5ZmzCmb66kvyzcNS/history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kogl.or.kr/info/licenseType1.do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blog.google/innovation-and-ai/products/gemini-notebook/notebooklm-gemini-notebook/" TargetMode="External"/><Relationship Id="rId4" Type="http://schemas.openxmlformats.org/officeDocument/2006/relationships/hyperlink" Target="https://blog.google/intl/ko-kr/company-news/technology/notebooklm-audio-overviews-50-languages-kr/" TargetMode="External"/><Relationship Id="rId5" Type="http://schemas.openxmlformats.org/officeDocument/2006/relationships/hyperlink" Target="https://blog.google/innovation-and-ai/products/notebooklm/generate-your-own-cinematic-video-overviews-in-notebooklm/" TargetMode="External"/><Relationship Id="rId6" Type="http://schemas.openxmlformats.org/officeDocument/2006/relationships/hyperlink" Target="https://docs.google.com/presentation/d/1MTyP-BBusYw2rHKE_lQ2QVDA7uT7ngYaGfBy9HypQdY/edit" TargetMode="External"/><Relationship Id="rId7" Type="http://schemas.openxmlformats.org/officeDocument/2006/relationships/hyperlink" Target="https://knowledge.workspace.google.com/admin/getting-started/editions/quickstart-guide-to-gemini-and-notebooklm-for-education" TargetMode="External"/><Relationship Id="rId8" Type="http://schemas.openxmlformats.org/officeDocument/2006/relationships/hyperlink" Target="https://knowledge.workspace.google.com/admin/users/access/turn-notebooklm-on-or-off-for-users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one.google.com/about/plans?hl=ko" TargetMode="External"/><Relationship Id="rId4" Type="http://schemas.openxmlformats.org/officeDocument/2006/relationships/hyperlink" Target="https://support.google.com/accounts/answer/1350409?hl=ko" TargetMode="External"/><Relationship Id="rId5" Type="http://schemas.openxmlformats.org/officeDocument/2006/relationships/hyperlink" Target="https://support.google.com/gemininotebook/answer/16206563?hl=ko" TargetMode="External"/><Relationship Id="rId6" Type="http://schemas.openxmlformats.org/officeDocument/2006/relationships/hyperlink" Target="https://support.google.com/gemininotebook/answer/16212820?hl=ko" TargetMode="External"/><Relationship Id="rId7" Type="http://schemas.openxmlformats.org/officeDocument/2006/relationships/hyperlink" Target="https://support.google.com/gemininotebook/answer/16213268?hl=ko" TargetMode="External"/><Relationship Id="rId8" Type="http://schemas.openxmlformats.org/officeDocument/2006/relationships/hyperlink" Target="https://support.google.com/gemininotebook/answer/16215270?hl=ko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upport.google.com/gemininotebook/answer/16262519?hl=ko" TargetMode="External"/><Relationship Id="rId4" Type="http://schemas.openxmlformats.org/officeDocument/2006/relationships/hyperlink" Target="https://support.google.com/gemininotebook/answer/16269187?hl=ko" TargetMode="External"/><Relationship Id="rId5" Type="http://schemas.openxmlformats.org/officeDocument/2006/relationships/hyperlink" Target="https://support.google.com/gemininotebook/answer/16296687?hl=ko" TargetMode="External"/><Relationship Id="rId6" Type="http://schemas.openxmlformats.org/officeDocument/2006/relationships/hyperlink" Target="https://support.google.com/gemininotebook/answer/16322204?hl=ko" TargetMode="External"/><Relationship Id="rId7" Type="http://schemas.openxmlformats.org/officeDocument/2006/relationships/hyperlink" Target="https://support.google.com/gemininotebook/answer/16337734?hl=ko" TargetMode="External"/><Relationship Id="rId8" Type="http://schemas.openxmlformats.org/officeDocument/2006/relationships/hyperlink" Target="https://support.google.com/gemininotebook/answer/16454555?hl=ko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upport.google.com/gemininotebook/answer/16757456?hl=ko" TargetMode="External"/><Relationship Id="rId4" Type="http://schemas.openxmlformats.org/officeDocument/2006/relationships/hyperlink" Target="https://support.google.com/gemininotebook/answer/16958963?hl=ko" TargetMode="External"/><Relationship Id="rId5" Type="http://schemas.openxmlformats.org/officeDocument/2006/relationships/hyperlink" Target="https://support.google.com/gemininotebook/answer/17003757?hl=ko" TargetMode="External"/><Relationship Id="rId6" Type="http://schemas.openxmlformats.org/officeDocument/2006/relationships/hyperlink" Target="https://support.google.com/gemininotebook/answer/17004255?hl=ko" TargetMode="External"/><Relationship Id="rId7" Type="http://schemas.openxmlformats.org/officeDocument/2006/relationships/hyperlink" Target="https://workspaceupdates.googleblog.com/2025/04/notebookLM-and-gemini-app-core-services-for-education-customers.html" TargetMode="External"/><Relationship Id="rId8" Type="http://schemas.openxmlformats.org/officeDocument/2006/relationships/hyperlink" Target="https://workspaceupdates.googleblog.com/2026/05/keep-your-sources-up-to-date-with-automatic-Drive-syncing-in-NotebookLM.html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data.go.kr/data/15014351/fileData.do" TargetMode="External"/><Relationship Id="rId4" Type="http://schemas.openxmlformats.org/officeDocument/2006/relationships/hyperlink" Target="https://www.goe.go.kr/resource/goe/na/bbs_2675/2026/02/78529f5a-80d1-4b84-bf5e-b6da96f09d30.pdf" TargetMode="External"/><Relationship Id="rId5" Type="http://schemas.openxmlformats.org/officeDocument/2006/relationships/hyperlink" Target="https://www.google.com/appsstatus/dashboard/products/sqTm5ZmzCmb66kvyzcNS/history" TargetMode="External"/><Relationship Id="rId6" Type="http://schemas.openxmlformats.org/officeDocument/2006/relationships/hyperlink" Target="https://www.kogl.or.kr/info/licenseType1.do" TargetMode="External"/><Relationship Id="rId7" Type="http://schemas.openxmlformats.org/officeDocument/2006/relationships/hyperlink" Target="https://www.law.go.kr/%EB%B2%95%EB%A0%B9/%EA%B0%9C%EC%9D%B8%EC%A0%95%EB%B3%B4%EB%B3%B4%ED%98%B8%EB%B2%95" TargetMode="External"/><Relationship Id="rId8" Type="http://schemas.openxmlformats.org/officeDocument/2006/relationships/hyperlink" Target="https://www.law.go.kr/%EB%B2%95%EB%A0%B9/%EC%A0%80%EC%9E%91%EA%B6%8C%EB%B2%95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794510"/>
            <a:ext cx="11049000" cy="234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u="none" spc="264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320" b="0" i="0" u="none" spc="264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교사·강사 워크숍 · 90~120분 · 실습 4회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146554"/>
            <a:ext cx="11049000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919"/>
              </a:lnSpc>
              <a:spcBef>
                <a:spcPts val="0"/>
              </a:spcBef>
              <a:spcAft>
                <a:spcPts val="0"/>
              </a:spcAft>
            </a:pPr>
            <a:r>
              <a:rPr sz="8250" b="1" i="0" u="none">
                <a:solidFill>
                  <a:srgbClr val="FFFFFF"/>
                </a:solidFill>
                <a:latin typeface="Noto Sans KR Black"/>
                <a:ea typeface="Noto Sans KR Black"/>
                <a:cs typeface="Noto Sans KR Black"/>
              </a:rPr>
              <a:t>노트북LM으로</a:t>
            </a:r>
            <a:br/>
            <a:r>
              <a:rPr sz="8250" b="1" i="0" u="none">
                <a:solidFill>
                  <a:srgbClr val="FFFFFF"/>
                </a:solidFill>
                <a:latin typeface="Noto Sans KR Black"/>
                <a:ea typeface="Noto Sans KR Black"/>
                <a:cs typeface="Noto Sans KR Black"/>
              </a:rPr>
              <a:t>수업과 업무 </a:t>
            </a:r>
            <a:r>
              <a:rPr sz="8250" b="0" i="1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자동화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271391"/>
            <a:ext cx="11049000" cy="7920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18"/>
              </a:lnSpc>
              <a:spcBef>
                <a:spcPts val="0"/>
              </a:spcBef>
              <a:spcAft>
                <a:spcPts val="0"/>
              </a:spcAft>
            </a:pPr>
            <a:r>
              <a:rPr sz="2227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내 자료 한 묶음에서 학습 가이드, 퀴즈, 오디오 개요까지 뽑아냅니다.</a:t>
            </a:r>
            <a:br/>
            <a:r>
              <a:rPr sz="2227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2026년 7월 16일부터 이름은 제미나이 노트북입니다.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6188392"/>
            <a:ext cx="110490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F4F4EE"/>
                </a:solidFill>
                <a:latin typeface="Noto Sans KR"/>
                <a:ea typeface="Noto Sans KR"/>
                <a:cs typeface="Noto Sans KR"/>
              </a:rPr>
              <a:t>모든 제품 정보는 2026-07-27 공식 문서 확인 기준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756124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이름이 바뀌었습니다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558320"/>
            <a:ext cx="732130" cy="269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2025.04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5080" y="2558320"/>
            <a:ext cx="10145420" cy="4415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한국어 </a:t>
            </a:r>
            <a:r>
              <a:rPr sz="151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음성 개요</a:t>
            </a:r>
            <a:r>
              <a:rPr sz="15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 지원 시작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2923699"/>
            <a:ext cx="11049000" cy="9525"/>
          </a:xfrm>
          <a:prstGeom prst="rect">
            <a:avLst/>
          </a:prstGeom>
          <a:solidFill>
            <a:srgbClr val="F4F4E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3066574"/>
            <a:ext cx="732130" cy="269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2026.05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5080" y="3066574"/>
            <a:ext cx="10145420" cy="4415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구글 드라이브 문서 자동 동기화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3431953"/>
            <a:ext cx="11049000" cy="9525"/>
          </a:xfrm>
          <a:prstGeom prst="rect">
            <a:avLst/>
          </a:prstGeom>
          <a:solidFill>
            <a:srgbClr val="F4F4E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3574828"/>
            <a:ext cx="732130" cy="269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2026.07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5080" y="3574828"/>
            <a:ext cx="10145420" cy="4415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노트북LM이 </a:t>
            </a:r>
            <a:r>
              <a:rPr sz="151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제미나이 노트북</a:t>
            </a:r>
            <a:r>
              <a:rPr sz="1518" b="0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 됨. 16일 발표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3940207"/>
            <a:ext cx="11049000" cy="9525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" y="4140232"/>
            <a:ext cx="110490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제품도, 내 노트북도, 공유 링크도 그대로입니다. 이름과 로고만 바뀌었습니다.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676489"/>
            <a:ext cx="11049000" cy="4253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49"/>
              </a:lnSpc>
              <a:spcBef>
                <a:spcPts val="0"/>
              </a:spcBef>
              <a:spcAft>
                <a:spcPts val="0"/>
              </a:spcAft>
            </a:pPr>
            <a:r>
              <a:rPr sz="2392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주소는 여전히 </a:t>
            </a:r>
            <a:r>
              <a:rPr sz="2392" b="0" i="1" u="none">
                <a:solidFill>
                  <a:srgbClr val="00E054"/>
                </a:solidFill>
                <a:latin typeface="Georgia"/>
                <a:ea typeface="Georgia"/>
                <a:cs typeface="Georgia"/>
              </a:rPr>
              <a:t>notebooklm.google.com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188750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오늘 들고 나갈 4가지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3134154"/>
            <a:ext cx="5419725" cy="1315688"/>
          </a:xfrm>
          <a:prstGeom prst="roundRect">
            <a:avLst>
              <a:gd name="adj" fmla="val 1158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9150" y="3381804"/>
            <a:ext cx="4924425" cy="820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29"/>
              </a:lnSpc>
              <a:spcBef>
                <a:spcPts val="0"/>
              </a:spcBef>
              <a:spcAft>
                <a:spcPts val="0"/>
              </a:spcAft>
            </a:pPr>
            <a:r>
              <a:rPr sz="2227" b="0" i="0" u="none">
                <a:solidFill>
                  <a:srgbClr val="F4F4EE"/>
                </a:solidFill>
                <a:latin typeface="Noto Sans KR"/>
                <a:ea typeface="Noto Sans KR"/>
                <a:cs typeface="Noto Sans KR"/>
              </a:rPr>
              <a:t>두 시간 뒤,</a:t>
            </a:r>
            <a:br/>
            <a:r>
              <a:rPr sz="2227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빈손으로 나가지 않습니다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775" y="2914745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7475" y="2914745"/>
            <a:ext cx="5153025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예제 자료 5개를 올린 노트북 1권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0775" y="3384328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7475" y="3384328"/>
            <a:ext cx="5153025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학습 가이드·퀴즈·브리핑 중 산출물 3종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0775" y="3853910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7475" y="3853910"/>
            <a:ext cx="5153025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한국어 오디오 개요 1개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0775" y="4323493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7475" y="4323493"/>
            <a:ext cx="5153025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내 반복 업무를 4단계로 적은 워크플로 문서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2366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챗봇과 뭐가 다른가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749658"/>
            <a:ext cx="5419725" cy="1638319"/>
          </a:xfrm>
          <a:prstGeom prst="roundRect">
            <a:avLst>
              <a:gd name="adj" fmla="val 232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749658"/>
            <a:ext cx="19050" cy="1638319"/>
          </a:xfrm>
          <a:prstGeom prst="rect">
            <a:avLst/>
          </a:prstGeom>
          <a:solidFill>
            <a:srgbClr val="F4F4E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2921108"/>
            <a:ext cx="5038725" cy="228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 u="none" strike="sngStrike" spc="180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일반 챗봇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24518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324518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인터넷에서 배운 것 전부에서 답을 만든다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59119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59119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출처를 물어보면 없는 논문을 지어낸다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93719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93719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내 학교 규정은 모른다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775" y="2749658"/>
            <a:ext cx="5419725" cy="1638319"/>
          </a:xfrm>
          <a:prstGeom prst="roundRect">
            <a:avLst>
              <a:gd name="adj" fmla="val 232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0775" y="2749658"/>
            <a:ext cx="19050" cy="1638319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275" y="2921108"/>
            <a:ext cx="5038725" cy="228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 u="none" spc="180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제미나이 노트북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324518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24518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내가 올린 자료 안에서만 답을 만든다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359119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359119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문장마다 원문 위치를 붙여준다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393719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393719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자료에 없으면 없다고 말한다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57847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인용에 마우스를 올리면 원문이 뜨고, 누르면 그 위치로 이동합니다.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[R10]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103244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START · 5분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375621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여기로 들어오세요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3101616"/>
            <a:ext cx="3619500" cy="1187729"/>
          </a:xfrm>
          <a:prstGeom prst="roundRect">
            <a:avLst>
              <a:gd name="adj" fmla="val 32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101616"/>
            <a:ext cx="133350" cy="1905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101616"/>
            <a:ext cx="19050" cy="13335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900" y="3273066"/>
            <a:ext cx="33147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123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권장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3531156"/>
            <a:ext cx="3314700" cy="586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notebooklm.google.com</a:t>
            </a:r>
            <a:br/>
            <a:r>
              <a:rPr sz="1650" b="0" i="0" u="none">
                <a:solidFill>
                  <a:srgbClr val="F4F4EE"/>
                </a:solidFill>
                <a:latin typeface="Noto Sans KR"/>
                <a:ea typeface="Noto Sans KR"/>
                <a:cs typeface="Noto Sans KR"/>
              </a:rPr>
              <a:t>전 기능 사용 가능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6250" y="3101616"/>
            <a:ext cx="3619500" cy="1187729"/>
          </a:xfrm>
          <a:prstGeom prst="roundRect">
            <a:avLst>
              <a:gd name="adj" fmla="val 32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8650" y="3273066"/>
            <a:ext cx="33147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123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주의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8650" y="3531156"/>
            <a:ext cx="3314700" cy="586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F4F4EE"/>
                </a:solidFill>
                <a:latin typeface="Noto Sans KR"/>
                <a:ea typeface="Noto Sans KR"/>
                <a:cs typeface="Noto Sans KR"/>
              </a:rPr>
              <a:t>제미나이 앱 안의 노트북</a:t>
            </a:r>
            <a:br/>
            <a:r>
              <a:rPr sz="1650" b="0" i="0" u="none">
                <a:solidFill>
                  <a:srgbClr val="F4F4EE"/>
                </a:solidFill>
                <a:latin typeface="Noto Sans KR"/>
                <a:ea typeface="Noto Sans KR"/>
                <a:cs typeface="Noto Sans KR"/>
              </a:rPr>
              <a:t>오디오·비디오·슬라이드 생성 불가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3101616"/>
            <a:ext cx="3619500" cy="1187729"/>
          </a:xfrm>
          <a:prstGeom prst="roundRect">
            <a:avLst>
              <a:gd name="adj" fmla="val 32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3400" y="3273066"/>
            <a:ext cx="33147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123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3400" y="3531156"/>
            <a:ext cx="3314700" cy="586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F4F4EE"/>
                </a:solidFill>
                <a:latin typeface="Noto Sans KR"/>
                <a:ea typeface="Noto Sans KR"/>
                <a:cs typeface="Noto Sans KR"/>
              </a:rPr>
              <a:t>모바일 앱</a:t>
            </a:r>
            <a:br/>
            <a:r>
              <a:rPr sz="1650" b="0" i="0" u="none">
                <a:solidFill>
                  <a:srgbClr val="F4F4EE"/>
                </a:solidFill>
                <a:latin typeface="Noto Sans KR"/>
                <a:ea typeface="Noto Sans KR"/>
                <a:cs typeface="Noto Sans KR"/>
              </a:rPr>
              <a:t>메모·마인드맵·보고서 불가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498896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오늘 실습은 노트북 컴퓨터의 웹 브라우저로만 합니다.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[R23]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[R17]</a:t>
            </a: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 구글 계정으로 로그인하고, 배포해 드린 예제 파일 5개를 바탕화면에 풀어두세요.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103244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PART 1 · 노트북 한 권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375621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화면은 세 칸입니다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3101616"/>
            <a:ext cx="3619500" cy="1187729"/>
          </a:xfrm>
          <a:prstGeom prst="roundRect">
            <a:avLst>
              <a:gd name="adj" fmla="val 32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3273066"/>
            <a:ext cx="33147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123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왼쪽 · 소스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531156"/>
            <a:ext cx="3314700" cy="586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F4F4EE"/>
                </a:solidFill>
                <a:latin typeface="Noto Sans KR"/>
                <a:ea typeface="Noto Sans KR"/>
                <a:cs typeface="Noto Sans KR"/>
              </a:rPr>
              <a:t>올린 자료가 쌓이는 곳. 체크를 끄면 그 자료는 답변에서 빠집니다.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6250" y="3101616"/>
            <a:ext cx="3619500" cy="1187729"/>
          </a:xfrm>
          <a:prstGeom prst="roundRect">
            <a:avLst>
              <a:gd name="adj" fmla="val 32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8650" y="3273066"/>
            <a:ext cx="33147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123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가운데 · 채팅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8650" y="3531156"/>
            <a:ext cx="3314700" cy="586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F4F4EE"/>
                </a:solidFill>
                <a:latin typeface="Noto Sans KR"/>
                <a:ea typeface="Noto Sans KR"/>
                <a:cs typeface="Noto Sans KR"/>
              </a:rPr>
              <a:t>질문하는 곳. 답변에 인용이 붙습니다.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3101616"/>
            <a:ext cx="3619500" cy="1187729"/>
          </a:xfrm>
          <a:prstGeom prst="roundRect">
            <a:avLst>
              <a:gd name="adj" fmla="val 32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3400" y="3273066"/>
            <a:ext cx="33147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123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오른쪽 · 스튜디오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3400" y="3531156"/>
            <a:ext cx="3314700" cy="586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F4F4EE"/>
                </a:solidFill>
                <a:latin typeface="Noto Sans KR"/>
                <a:ea typeface="Noto Sans KR"/>
                <a:cs typeface="Noto Sans KR"/>
              </a:rPr>
              <a:t>산출물을 뽑는 곳. 오늘 시간을 가장 많이 쓸 칸입니다.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498896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노트북끼리는 서로 못 봅니다. 한 노트북이 다른 노트북의 자료를 참조하지 않습니다.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[R10]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171718"/>
            <a:ext cx="11049000" cy="3918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5"/>
              </a:lnSpc>
              <a:spcBef>
                <a:spcPts val="0"/>
              </a:spcBef>
              <a:spcAft>
                <a:spcPts val="0"/>
              </a:spcAft>
            </a:pPr>
            <a:r>
              <a:rPr sz="2804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넣을 수 있는 것 </a:t>
            </a:r>
            <a:r>
              <a:rPr sz="2804" b="0" i="1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여덟 갈래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715976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2830276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3135076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PDF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2800" y="2715976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2800" y="2830276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8050" y="3135076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DOCX · TXT · 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34100" y="2715976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34100" y="2830276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9350" y="3135076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PPTX · CSV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2715976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2830276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0650" y="3135076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ePub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3516049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" y="3630349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🗂️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3935149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구글 문서·슬라이드·시트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52800" y="3516049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52800" y="3630349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8050" y="3935149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웹 주소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34100" y="3516049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34100" y="3630349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▶️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9350" y="3935149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공개 유튜브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400" y="3516049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15400" y="3630349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🎙️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0650" y="3935149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녹음 파일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" y="4430422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소스 하나당 50만 단어 또는 200MB까지. 이미지와 제미나이 대화도 넣을 수 있습니다.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[R13]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2366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한글 파일은 그냥 안 올라갑니다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749658"/>
            <a:ext cx="5419725" cy="1638319"/>
          </a:xfrm>
          <a:prstGeom prst="roundRect">
            <a:avLst>
              <a:gd name="adj" fmla="val 232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749658"/>
            <a:ext cx="19050" cy="1638319"/>
          </a:xfrm>
          <a:prstGeom prst="rect">
            <a:avLst/>
          </a:prstGeom>
          <a:solidFill>
            <a:srgbClr val="F4F4E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2921108"/>
            <a:ext cx="5038725" cy="228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 u="none" strike="sngStrike" spc="180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지원 목록에 없는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24518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324518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HWP, HWPX 직접 업로드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59119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59119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구글 드라이브에 올린 뒤 연결하기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93719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93719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드라이브의 한글 문서 자동 변환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775" y="2749658"/>
            <a:ext cx="5419725" cy="1638319"/>
          </a:xfrm>
          <a:prstGeom prst="roundRect">
            <a:avLst>
              <a:gd name="adj" fmla="val 232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0775" y="2749658"/>
            <a:ext cx="19050" cy="1638319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275" y="2921108"/>
            <a:ext cx="5038725" cy="228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 u="none" spc="180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되는 우회로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324518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24518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한글에서 </a:t>
            </a:r>
            <a:r>
              <a:rPr sz="141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PDF로 저장</a:t>
            </a: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 후 업로드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359119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359119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또는 DOCX로 저장 후 업로드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393719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393719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표와 각주가 많으면 DOCX 쪽이 덜 깨집니다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57847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공식 지원 형식 목록에 한글 확장자가 없습니다. 2026-07-27 확인 기준입니다.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[R13]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491539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실습 ① · 10분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763916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노트북 한 권 만들기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489911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2950" y="2604211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950" y="2604211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2604278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새 노트북 만들기를 누릅니다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3080461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2950" y="3194761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3194761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3194828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배포 파일 중 </a:t>
            </a:r>
            <a:r>
              <a:rPr sz="1551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교육부 업무계획 PDF</a:t>
            </a: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부터 올립니다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3671011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2950" y="3785311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950" y="3785311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3785378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추가 버튼으로 교육기본통계, 데이터로 읽는 우리 교육을 더합니다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4261561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2950" y="4375861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950" y="4375861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2050" y="4375928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웹 주소 하나와 CSV 하나를 더해 소스 5개를 채웁니다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" y="4852111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2950" y="4966411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950" y="4966411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2050" y="4966478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노트북 이름을 2026 교육정책 브리핑으로 바꿉니다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453696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답을 믿기 전에 여기를 누르세요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9750" y="2189216"/>
            <a:ext cx="8572500" cy="1307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5148"/>
              </a:lnSpc>
              <a:spcBef>
                <a:spcPts val="0"/>
              </a:spcBef>
              <a:spcAft>
                <a:spcPts val="0"/>
              </a:spcAft>
            </a:pPr>
            <a:r>
              <a:rPr sz="3959" b="0" i="1" u="none">
                <a:solidFill>
                  <a:srgbClr val="00E054"/>
                </a:solidFill>
                <a:latin typeface="Georgia"/>
                <a:ea typeface="Georgia"/>
                <a:cs typeface="Georgia"/>
              </a:rPr>
              <a:t>“</a:t>
            </a:r>
            <a:r>
              <a:rPr sz="3959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인용이 없는 문장은 아직 근거가 없는 문장입니다</a:t>
            </a:r>
            <a:r>
              <a:rPr sz="3959" b="0" i="1" u="none">
                <a:solidFill>
                  <a:srgbClr val="00E054"/>
                </a:solidFill>
                <a:latin typeface="Georgia"/>
                <a:ea typeface="Georgia"/>
                <a:cs typeface="Georgia"/>
              </a:rPr>
              <a:t>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673021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673021"/>
            <a:ext cx="107823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인용 표시에 마우스를 올리면 원문 문장이 그대로 뜹니다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142603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4142603"/>
            <a:ext cx="107823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누르면 그 문장이 있는 소스의 위치로 이동합니다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612186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612186"/>
            <a:ext cx="107823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소스가 짧으면 문장 단위가 아니라 문서 전체를 가리키기도 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148443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이 확인 절차가 오늘 강의에서 가장 중요합니다. 뒤에서 학생부 규정과 다시 연결하겠습니다.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[R10]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2366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질문이 결과를 정합니다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749658"/>
            <a:ext cx="5419725" cy="1638319"/>
          </a:xfrm>
          <a:prstGeom prst="roundRect">
            <a:avLst>
              <a:gd name="adj" fmla="val 232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749658"/>
            <a:ext cx="19050" cy="1638319"/>
          </a:xfrm>
          <a:prstGeom prst="rect">
            <a:avLst/>
          </a:prstGeom>
          <a:solidFill>
            <a:srgbClr val="F4F4E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2921108"/>
            <a:ext cx="5038725" cy="228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 u="none" strike="sngStrike" spc="180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답이 흐려지는 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24518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324518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이 문서 요약해줘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59119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59119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교육정책에 대해 설명해줘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93719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93719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좋은 내용 알려줘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775" y="2749658"/>
            <a:ext cx="5419725" cy="1638319"/>
          </a:xfrm>
          <a:prstGeom prst="roundRect">
            <a:avLst>
              <a:gd name="adj" fmla="val 232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0775" y="2749658"/>
            <a:ext cx="19050" cy="1638319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275" y="2921108"/>
            <a:ext cx="5038725" cy="228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 u="none" spc="180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답이 뾰족해지는 질문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324518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24518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업무계획에서 AI 교육 관련 과제만 골라 표로 정리해줘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359119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359119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통계에서 다문화 학생 수 변화와 그 원인 설명을 찾아줘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393719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393719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두 문서가 같은 수치를 다르게 적은 곳이 있는지 찾아줘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57847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범위, 형식, 대상을 넣으면 답이 달라집니다. 오른쪽 세 번째 질문은 사실 확인용으로 특히 유용합니다.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563634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실습 ① 이어서 · 10분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836010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질문 세 개, 메모 하나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56200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2950" y="267630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950" y="267630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267637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앞 슬라이드 오른쪽 질문 세 개를 그대로 넣어봅니다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315255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2950" y="326685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326685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326692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답변마다 </a:t>
            </a:r>
            <a:r>
              <a:rPr sz="1551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인용을 최소 한 번씩 눌러</a:t>
            </a: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 원문을 확인합니다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374310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2950" y="385740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950" y="385740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385747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쓸 만한 답변에서 메모로 저장을 누릅니다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433365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2950" y="444795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950" y="444795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2050" y="444802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저장한 메모를 열고 소스로 변환을 눌러봅니다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5038506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메모를 소스로 바꾸면 그 정리 결과 위에서 다시 질문할 수 있습니다. 노트북당 메모는 1,000개까지입니다.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[R15]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635493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PART 2 · 산출물 자동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907870"/>
            <a:ext cx="11049000" cy="3918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5"/>
              </a:lnSpc>
              <a:spcBef>
                <a:spcPts val="0"/>
              </a:spcBef>
              <a:spcAft>
                <a:spcPts val="0"/>
              </a:spcAft>
            </a:pPr>
            <a:r>
              <a:rPr sz="2804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스튜디오에서 뽑는 것 </a:t>
            </a:r>
            <a:r>
              <a:rPr sz="2804" b="0" i="1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열 가지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452129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2566429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2871229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메모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2800" y="2452129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2800" y="2566429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8050" y="2871229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오디오 오버뷰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4100" y="2452129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34100" y="2566429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9350" y="2871229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동영상 오버뷰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2452129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2566429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0650" y="2871229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마인드맵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3252201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" y="3366501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3671301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보고서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52800" y="3252201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52800" y="3366501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8050" y="3671301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데이터 테이블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34100" y="3252201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34100" y="3366501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9350" y="3671301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플래시카드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3252201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3366501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0650" y="3671301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퀴즈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1500" y="4052274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1500" y="4166574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🖥️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6750" y="4471374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슬라이드 자료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52800" y="4052274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52800" y="4166574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00E054"/>
                </a:solidFill>
                <a:latin typeface="Segoe UI Emoji"/>
                <a:ea typeface="Segoe UI Emoji"/>
                <a:cs typeface="Segoe UI Emoji"/>
              </a:rPr>
              <a:t>🖼️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48050" y="4471374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인포그래픽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" y="4966646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연필 아이콘을 누르면 언어, 분량, 난이도를 조절할 수 있습니다.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[R10]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23943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학습 가이드 버튼을 찾지 마세요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965428"/>
            <a:ext cx="3619500" cy="1187729"/>
          </a:xfrm>
          <a:prstGeom prst="roundRect">
            <a:avLst>
              <a:gd name="adj" fmla="val 32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3136878"/>
            <a:ext cx="33147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123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3394967"/>
            <a:ext cx="3314700" cy="2933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F4F4EE"/>
                </a:solidFill>
                <a:latin typeface="Noto Sans KR"/>
                <a:ea typeface="Noto Sans KR"/>
                <a:cs typeface="Noto Sans KR"/>
              </a:rPr>
              <a:t>스튜디오에서 </a:t>
            </a:r>
            <a:r>
              <a:rPr sz="1650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보고서</a:t>
            </a:r>
            <a:r>
              <a:rPr sz="1650" b="0" i="0" u="none">
                <a:solidFill>
                  <a:srgbClr val="F4F4EE"/>
                </a:solidFill>
                <a:latin typeface="Noto Sans KR"/>
                <a:ea typeface="Noto Sans KR"/>
                <a:cs typeface="Noto Sans KR"/>
              </a:rPr>
              <a:t>를 고릅니다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6250" y="2965428"/>
            <a:ext cx="3619500" cy="1187729"/>
          </a:xfrm>
          <a:prstGeom prst="roundRect">
            <a:avLst>
              <a:gd name="adj" fmla="val 32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86250" y="2965428"/>
            <a:ext cx="133350" cy="1905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6250" y="2965428"/>
            <a:ext cx="19050" cy="13335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8650" y="3136878"/>
            <a:ext cx="33147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123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2단계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8650" y="3394967"/>
            <a:ext cx="3314700" cy="586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F4F4EE"/>
                </a:solidFill>
                <a:latin typeface="Noto Sans KR"/>
                <a:ea typeface="Noto Sans KR"/>
                <a:cs typeface="Noto Sans KR"/>
              </a:rPr>
              <a:t>그 안에 학습 가이드, 브리핑 문서, FAQ가 들어 있습니다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965428"/>
            <a:ext cx="3619500" cy="1187729"/>
          </a:xfrm>
          <a:prstGeom prst="roundRect">
            <a:avLst>
              <a:gd name="adj" fmla="val 32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3400" y="3136878"/>
            <a:ext cx="33147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123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3단계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3400" y="3394967"/>
            <a:ext cx="3314700" cy="586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F4F4EE"/>
                </a:solidFill>
                <a:latin typeface="Noto Sans KR"/>
                <a:ea typeface="Noto Sans KR"/>
                <a:cs typeface="Noto Sans KR"/>
              </a:rPr>
              <a:t>직접 만들기를 고르면 원하는 형식을 글로 지시합니다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436270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예전에 있던 타임라인 형식은 지금 프리셋 목록에 없습니다. 필요하면 직접 만들기로 지시하세요.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[R10]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824980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구글 공식 교사 가이드 · 2026년 7월판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097357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지시문에 넣을 다섯 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823353"/>
            <a:ext cx="11049000" cy="4107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233"/>
              </a:lnSpc>
              <a:spcBef>
                <a:spcPts val="0"/>
              </a:spcBef>
              <a:spcAft>
                <a:spcPts val="0"/>
              </a:spcAft>
            </a:pPr>
            <a:r>
              <a:rPr sz="2310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역할</a:t>
            </a:r>
            <a:r>
              <a:rPr sz="2310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2310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과업</a:t>
            </a:r>
            <a:r>
              <a:rPr sz="2310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2310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대상</a:t>
            </a:r>
            <a:r>
              <a:rPr sz="2310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2310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맥락</a:t>
            </a:r>
            <a:r>
              <a:rPr sz="2310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2310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산출 형식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3329321"/>
            <a:ext cx="11049000" cy="1257338"/>
          </a:xfrm>
          <a:prstGeom prst="roundRect">
            <a:avLst>
              <a:gd name="adj" fmla="val 3030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329321"/>
            <a:ext cx="19050" cy="1257338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" y="3519821"/>
            <a:ext cx="10591800" cy="8763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고등학교 과학 교사 입장에서, 7주차 빛의 굴절 수업을 바탕으로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학생용 실험 안내서를 만들어줘. 학습 목표, 준비물, 단계별 지시,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관찰 기록란, 성찰 질문 2~3개를 넣고, 고등학생이 읽을 말투로 써줘.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77159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구글이 교사용으로 배포한 가이드에 PARTS라는 이름으로 정리되어 있습니다.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[R4]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7739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복사해서 쓰는 지시문 · 수업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850116"/>
            <a:ext cx="11049000" cy="3227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41"/>
              </a:lnSpc>
              <a:spcBef>
                <a:spcPts val="0"/>
              </a:spcBef>
              <a:spcAft>
                <a:spcPts val="0"/>
              </a:spcAft>
            </a:pPr>
            <a:r>
              <a:rPr sz="231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단원명만 바꿔 넣으면 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363323"/>
            <a:ext cx="11049000" cy="4470578"/>
          </a:xfrm>
          <a:prstGeom prst="roundRect">
            <a:avLst>
              <a:gd name="adj" fmla="val 852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363323"/>
            <a:ext cx="19050" cy="4470578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" y="1553823"/>
            <a:ext cx="10591800" cy="40895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[수업 설계]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{7주차 단원}에서 다룬 개념 중 {8주차 단원}을 이해하려면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다시 짚어야 할 것을 골라줘. 8주차 시작 전에 쓸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10분짜리 복습 활동도 같이 만들어줘.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[학습 자료]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{단원}을 바탕으로 학생용 활동지를 만들어줘.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학습 목표, 준비물, 단계별 지시, 관찰 기록란,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성찰 질문 2~3개를 넣고 {학년} 학생이 읽을 말투로.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[수준별 자료]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{단원}으로 세 가지 활동을 만들어줘.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기초, 보통, 심화 세 수준으로 나누고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세 버전 모두에 어휘 도움말을 붙여줘.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6024401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구글 공식 교사 가이드의 프롬프트를 우리 교실 말로 옮긴 것입니다.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[R4]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563634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실습 ② · 12분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836010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수업 자료 두 개 만들기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56200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2950" y="267630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950" y="267630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267637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스튜디오에서 보고서를 누르고 </a:t>
            </a:r>
            <a:r>
              <a:rPr sz="1551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학습 가이드</a:t>
            </a: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를 고릅니다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315255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2950" y="326685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326685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326692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연필 아이콘으로 출력 언어를 한국어로 맞춥니다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374310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2950" y="385740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950" y="385740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385747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퀴즈를 눌러 난이도 보통, 문항 수 기본으로 생성합니다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433365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2950" y="444795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950" y="444795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2050" y="444802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나온 결과에서 인용이 안 붙은 문장이 몇 개인지 세어봅니다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5038506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4번이 숙제입니다. 옆자리와 몇 개였는지 비교해 보세요.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723795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복사해서 쓰는 지시문 · 업무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996172"/>
            <a:ext cx="11049000" cy="3227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41"/>
              </a:lnSpc>
              <a:spcBef>
                <a:spcPts val="0"/>
              </a:spcBef>
              <a:spcAft>
                <a:spcPts val="0"/>
              </a:spcAft>
            </a:pPr>
            <a:r>
              <a:rPr sz="231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회의와 공문에 바로 쓰는 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509379"/>
            <a:ext cx="11049000" cy="4178465"/>
          </a:xfrm>
          <a:prstGeom prst="roundRect">
            <a:avLst>
              <a:gd name="adj" fmla="val 911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509379"/>
            <a:ext cx="19050" cy="4178465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" y="1699879"/>
            <a:ext cx="10591800" cy="37974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[협의회 브리핑]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올린 자료를 바탕으로 다음 교과협의회에서 공유할 요약을 만들어줘.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다음 2주 핵심 목표, 진도상 유의점, 함께 논의할 지점을 나눠서 써줘.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A4 한 장 분량으로.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[민원 대비 FAQ]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학부모가 물어볼 만한 질문 10개와 답을 만들어줘.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답은 자료에 근거한 문장만 쓰고, 자료에 없으면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"확인 후 안내드리겠습니다"로 남겨줘.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[회의록 정리]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회의 녹음을 바탕으로 결정 사항, 담당자, 기한을 표로 정리해줘.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발언자 이름은 쓰지 말고 직책으로만 표시해줘.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5878344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세 번째 지시문의 마지막 줄이 개인정보 보호 장치입니다.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[R4]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858909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실습 ② 이어서 · 8분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131285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업무 문서 하나 만들기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857281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2950" y="2971581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950" y="2971581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2971648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보고서에서 </a:t>
            </a:r>
            <a:r>
              <a:rPr sz="1551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브리핑 문서</a:t>
            </a: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 또는 FAQ를 고릅니다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3447831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2950" y="3562131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3562131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3562198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앞 슬라이드의 협의회 브리핑 지시문을 붙여 넣습니다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4038381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2950" y="4152681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950" y="4152681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4152748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점 세 개 메뉴에서 구글 문서로 내보내기를 눌러봅니다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4743231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내보낸 문서를 고쳐도 노트북 쪽은 안 바뀝니다. 공유 권한도 따라가지 않습니다.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614383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내보내기 전에 네 줄만 확인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340378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495088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495088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098" y="2454678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인용이 안 붙은 문장을 찾아 지우거나 직접 고쳐 씁니다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973648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3128358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3128358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098" y="3087948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숫자는 원문을 열어 눈으로 대조합니다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606917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3761627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761627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098" y="3721217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학생 이름, 학번, 연락처가 섞여 들어갔는지 훑습니다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240187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950" y="4394897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4394897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098" y="4354487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문장 말투를 내 말투로 두세 군데 고칩니다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98775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4번을 하는 이유는 뒤에서 학생부 규정과 함께 말씀드리겠습니다.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829381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PART 3 · 오디오와 동영상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101758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자료가 라디오 방송이 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3047162"/>
            <a:ext cx="5419725" cy="1315688"/>
          </a:xfrm>
          <a:prstGeom prst="roundRect">
            <a:avLst>
              <a:gd name="adj" fmla="val 11583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9150" y="3294812"/>
            <a:ext cx="4924425" cy="820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29"/>
              </a:lnSpc>
              <a:spcBef>
                <a:spcPts val="0"/>
              </a:spcBef>
              <a:spcAft>
                <a:spcPts val="0"/>
              </a:spcAft>
            </a:pPr>
            <a:r>
              <a:rPr sz="2227" b="0" i="0" u="none">
                <a:solidFill>
                  <a:srgbClr val="F4F4EE"/>
                </a:solidFill>
                <a:latin typeface="Noto Sans KR"/>
                <a:ea typeface="Noto Sans KR"/>
                <a:cs typeface="Noto Sans KR"/>
              </a:rPr>
              <a:t>두 진행자가 내 자료를 놓고</a:t>
            </a:r>
            <a:br/>
            <a:r>
              <a:rPr sz="2227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대화하는 형식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0775" y="2827753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67475" y="2827753"/>
            <a:ext cx="5153025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한국어로 생성됩니다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0775" y="3297336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7475" y="3297336"/>
            <a:ext cx="5153025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심층 분석, 요약, 비평, 토론 네 형식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775" y="3766918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7475" y="3766918"/>
            <a:ext cx="5153025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만드는 데 몇 분 걸립니다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0775" y="4236501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475" y="4236501"/>
            <a:ext cx="5153025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무료 계정은 하루 세 개까지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4772758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한국어 음성 개요는 2025년 4월부터 제공됩니다.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[R2]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[R11]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2366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한국어에서 막히는 지점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749658"/>
            <a:ext cx="5419725" cy="1638319"/>
          </a:xfrm>
          <a:prstGeom prst="roundRect">
            <a:avLst>
              <a:gd name="adj" fmla="val 232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749658"/>
            <a:ext cx="19050" cy="1638319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2921108"/>
            <a:ext cx="5038725" cy="228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 u="none" spc="180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한국어로 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24518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324518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오디오 개요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59119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59119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동영상 개요 중 설명 형식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93719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93719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보고서, 퀴즈, 마인드맵, 채팅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775" y="2749658"/>
            <a:ext cx="5419725" cy="1638319"/>
          </a:xfrm>
          <a:prstGeom prst="roundRect">
            <a:avLst>
              <a:gd name="adj" fmla="val 232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0775" y="2749658"/>
            <a:ext cx="19050" cy="1638319"/>
          </a:xfrm>
          <a:prstGeom prst="rect">
            <a:avLst/>
          </a:prstGeom>
          <a:solidFill>
            <a:srgbClr val="F4F4E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275" y="2921108"/>
            <a:ext cx="5038725" cy="228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 u="none" strike="sngStrike" spc="180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영어 전용입니다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324518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24518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오디오 길이 조절(짧게·기본·길게)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359119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359119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오디오 </a:t>
            </a:r>
            <a:r>
              <a:rPr sz="141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대화형 모드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393719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393719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동영상의 시네마틱과 짧은 형식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57847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시네마틱과 짧은 형식은 만 18세 이상만 쓸 수 있습니다. 학생 계정에서는 언어와 상관없이 안 나옵니다.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[R11]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[R20]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38302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연필 아이콘 · 맞춤설정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310679"/>
            <a:ext cx="11049000" cy="3227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41"/>
              </a:lnSpc>
              <a:spcBef>
                <a:spcPts val="0"/>
              </a:spcBef>
              <a:spcAft>
                <a:spcPts val="0"/>
              </a:spcAft>
            </a:pPr>
            <a:r>
              <a:rPr sz="231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방송 내용을 내가 정합니다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823886"/>
            <a:ext cx="11049000" cy="1549451"/>
          </a:xfrm>
          <a:prstGeom prst="roundRect">
            <a:avLst>
              <a:gd name="adj" fmla="val 2458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823886"/>
            <a:ext cx="19050" cy="1549451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" y="3014386"/>
            <a:ext cx="10591800" cy="11684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중학교 2학년이 듣는다고 생각하고 쉬운 말로 해줘.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전문 용어가 나오면 바로 풀어서 설명해줘.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자료에 나온 통계 수치 세 개는 반드시 언급해줘.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마지막에 학생이 스스로 생각해볼 질문 하나를 남겨줘.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56383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언어와 형식은 목록에서 고르고, 내용 방향은 이렇게 글로 지시합니다.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[R11]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40283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소리 말고 그림이 필요할 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128828"/>
            <a:ext cx="11049000" cy="1392364"/>
          </a:xfrm>
          <a:prstGeom prst="roundRect">
            <a:avLst>
              <a:gd name="adj" fmla="val 2736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128828"/>
            <a:ext cx="152400" cy="1905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128828"/>
            <a:ext cx="19050" cy="15240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68100" y="3502142"/>
            <a:ext cx="152400" cy="1905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01450" y="3368792"/>
            <a:ext cx="19050" cy="15240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" y="2319328"/>
            <a:ext cx="7202424" cy="3080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25"/>
              </a:lnSpc>
              <a:spcBef>
                <a:spcPts val="0"/>
              </a:spcBef>
              <a:spcAft>
                <a:spcPts val="0"/>
              </a:spcAft>
            </a:pPr>
            <a:r>
              <a:rPr sz="1732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동영상 개요 · 설명 형식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2524" y="2319328"/>
            <a:ext cx="3389376" cy="27870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sz="1567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한국어 가능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2703566"/>
            <a:ext cx="10591800" cy="2766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452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자료를 해설 영상으로 만듭니다. 화이트보드, 수채화 같은 그림체를 고를 수 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037322"/>
            <a:ext cx="10591800" cy="2933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00E054"/>
                </a:solidFill>
                <a:latin typeface="Georgia"/>
                <a:ea typeface="Georgia"/>
                <a:cs typeface="Georgia"/>
              </a:rPr>
              <a:t>단원 도입 3분 영상으로 쓰기 좋습니다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3616442"/>
            <a:ext cx="11049000" cy="1392364"/>
          </a:xfrm>
          <a:prstGeom prst="roundRect">
            <a:avLst>
              <a:gd name="adj" fmla="val 2736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3616442"/>
            <a:ext cx="152400" cy="1905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3616442"/>
            <a:ext cx="19050" cy="15240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68100" y="4989757"/>
            <a:ext cx="152400" cy="1905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601450" y="4856407"/>
            <a:ext cx="19050" cy="15240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" y="3806942"/>
            <a:ext cx="7202424" cy="3080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25"/>
              </a:lnSpc>
              <a:spcBef>
                <a:spcPts val="0"/>
              </a:spcBef>
              <a:spcAft>
                <a:spcPts val="0"/>
              </a:spcAft>
            </a:pPr>
            <a:r>
              <a:rPr sz="1732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마인드맵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2524" y="3806942"/>
            <a:ext cx="3389376" cy="27870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sz="1567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채팅에서 생성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4191181"/>
            <a:ext cx="10591800" cy="2766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452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가지를 눌러 펼치고 접습니다. 노드를 클릭하면 그 주제로 바로 질문할 수 있습니다.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4524937"/>
            <a:ext cx="10591800" cy="2933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00E054"/>
                </a:solidFill>
                <a:latin typeface="Georgia"/>
                <a:ea typeface="Georgia"/>
                <a:cs typeface="Georgia"/>
              </a:rPr>
              <a:t>단원 구조를 한 화면에 보여줄 때 씁니다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519930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마인드맵은 다른 산출물과 달리 채팅 쪽에서 시작합니다.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[R20]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563634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실습 ③ · 12분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836010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내 오디오 개요 만들기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56200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2950" y="267630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950" y="267630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267637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스튜디오에서 오디오 오버뷰 옆 </a:t>
            </a:r>
            <a:r>
              <a:rPr sz="1551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연필 아이콘</a:t>
            </a: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을 누릅니다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315255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2950" y="326685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326685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326692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언어를 한국어로, 형식을 심층 분석으로 고릅니다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374310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2950" y="385740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950" y="385740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385747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앞 슬라이드의 맞춤 지시를 붙여 넣고 생성합니다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433365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2950" y="4447956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950" y="444795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2050" y="444802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기다리는 동안 마인드맵을 하나 만들어 봅니다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5038506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무료 계정은 오디오와 동영상 각각 하루 세 개, 보고서는 하루 열 개까지입니다.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[R12]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407986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어디에 놓을 것인가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133981"/>
            <a:ext cx="11049000" cy="1041844"/>
          </a:xfrm>
          <a:prstGeom prst="roundRect">
            <a:avLst>
              <a:gd name="adj" fmla="val 3656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133981"/>
            <a:ext cx="152400" cy="1905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133981"/>
            <a:ext cx="19050" cy="15240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68100" y="3156775"/>
            <a:ext cx="152400" cy="1905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01450" y="3023425"/>
            <a:ext cx="19050" cy="15240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" y="2324481"/>
            <a:ext cx="7202424" cy="3080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25"/>
              </a:lnSpc>
              <a:spcBef>
                <a:spcPts val="0"/>
              </a:spcBef>
              <a:spcAft>
                <a:spcPts val="0"/>
              </a:spcAft>
            </a:pPr>
            <a:r>
              <a:rPr sz="1732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예습 과제로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2524" y="2324481"/>
            <a:ext cx="3389376" cy="27870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sz="1567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수업 전날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2708720"/>
            <a:ext cx="10591800" cy="2766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452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다음 단원 자료로 만든 오디오 개요를 학급 게시판에 올립니다. 읽기 힘들어하는 학생도 듣습니다.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271075"/>
            <a:ext cx="11049000" cy="1041844"/>
          </a:xfrm>
          <a:prstGeom prst="roundRect">
            <a:avLst>
              <a:gd name="adj" fmla="val 3656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3271075"/>
            <a:ext cx="152400" cy="1905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3271075"/>
            <a:ext cx="19050" cy="15240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68100" y="4293870"/>
            <a:ext cx="152400" cy="1905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01450" y="4160520"/>
            <a:ext cx="19050" cy="15240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" y="3461575"/>
            <a:ext cx="7202424" cy="3080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25"/>
              </a:lnSpc>
              <a:spcBef>
                <a:spcPts val="0"/>
              </a:spcBef>
              <a:spcAft>
                <a:spcPts val="0"/>
              </a:spcAft>
            </a:pPr>
            <a:r>
              <a:rPr sz="1732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협의회 사전 자료로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2524" y="3461575"/>
            <a:ext cx="3389376" cy="27870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sz="1567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회의 이틀 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3845814"/>
            <a:ext cx="10591800" cy="2766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452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긴 공문과 계획서를 오디오로 만들어 공유합니다. 회의 시간에 설명을 반복하지 않아도 됩니다.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4408170"/>
            <a:ext cx="11049000" cy="1041844"/>
          </a:xfrm>
          <a:prstGeom prst="roundRect">
            <a:avLst>
              <a:gd name="adj" fmla="val 3656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500" y="4408170"/>
            <a:ext cx="152400" cy="1905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500" y="4408170"/>
            <a:ext cx="19050" cy="15240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468100" y="5430964"/>
            <a:ext cx="152400" cy="1905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601450" y="5297614"/>
            <a:ext cx="19050" cy="15240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" y="4598670"/>
            <a:ext cx="7202424" cy="3080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25"/>
              </a:lnSpc>
              <a:spcBef>
                <a:spcPts val="0"/>
              </a:spcBef>
              <a:spcAft>
                <a:spcPts val="0"/>
              </a:spcAft>
            </a:pPr>
            <a:r>
              <a:rPr sz="1732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복습 자료로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2524" y="4598670"/>
            <a:ext cx="3389376" cy="27870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sz="1567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시험 2주 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" y="4982908"/>
            <a:ext cx="10591800" cy="2766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452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한 학기 자료를 모은 노트북에서 퀴즈와 플래시카드를 뽑아 배포합니다.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540688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PART 4 · 반복 업무 워크플로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813065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자동화라는 말의 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2548585"/>
            <a:ext cx="8572500" cy="1307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5148"/>
              </a:lnSpc>
              <a:spcBef>
                <a:spcPts val="0"/>
              </a:spcBef>
              <a:spcAft>
                <a:spcPts val="0"/>
              </a:spcAft>
            </a:pPr>
            <a:r>
              <a:rPr sz="3959" b="0" i="1" u="none">
                <a:solidFill>
                  <a:srgbClr val="00E054"/>
                </a:solidFill>
                <a:latin typeface="Georgia"/>
                <a:ea typeface="Georgia"/>
                <a:cs typeface="Georgia"/>
              </a:rPr>
              <a:t>“</a:t>
            </a:r>
            <a:r>
              <a:rPr sz="3959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버튼 한 번에 되는 게 아니라, 매번 같은 순서로 하는 것</a:t>
            </a:r>
            <a:r>
              <a:rPr sz="3959" b="0" i="1" u="none">
                <a:solidFill>
                  <a:srgbClr val="00E054"/>
                </a:solidFill>
                <a:latin typeface="Georgia"/>
                <a:ea typeface="Georgia"/>
                <a:cs typeface="Georgia"/>
              </a:rPr>
              <a:t>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032390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032390"/>
            <a:ext cx="107823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같은 자료 묶음을 매번 같은 자리에 모읍니다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501972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4501972"/>
            <a:ext cx="107823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같은 지시문을 매번 같은 순서로 넣습니다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971555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971555"/>
            <a:ext cx="107823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결과를 매번 같은 방식으로 검수합니다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2366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노트북은 복사가 안 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749658"/>
            <a:ext cx="5419725" cy="1638319"/>
          </a:xfrm>
          <a:prstGeom prst="roundRect">
            <a:avLst>
              <a:gd name="adj" fmla="val 232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749658"/>
            <a:ext cx="19050" cy="1638319"/>
          </a:xfrm>
          <a:prstGeom prst="rect">
            <a:avLst/>
          </a:prstGeom>
          <a:solidFill>
            <a:srgbClr val="F4F4E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2921108"/>
            <a:ext cx="5038725" cy="228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 u="none" strike="sngStrike" spc="180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기대했지만 없는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24518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324518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노트북 복제 버튼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59119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59119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템플릿으로 저장하기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93719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93719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사본 만들기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775" y="2749658"/>
            <a:ext cx="5419725" cy="1638319"/>
          </a:xfrm>
          <a:prstGeom prst="roundRect">
            <a:avLst>
              <a:gd name="adj" fmla="val 232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0775" y="2749658"/>
            <a:ext cx="19050" cy="1638319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275" y="2921108"/>
            <a:ext cx="5038725" cy="228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 u="none" spc="180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대신 이렇게 합니다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324518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24518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소스 목록을 문서 한 장에 적어둡니다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359119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359119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맞춤 지시문도 같은 문서에 모아둡니다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393719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393719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새 노트북을 만들고 그 문서를 보며 재구성합니다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57847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공식 안내에 아직 지원되지 않는다고 적혀 있습니다. 2026-07-27 확인 기준입니다.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[R16]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614383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다시 쓰이는 노트북의 조건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340378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495088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495088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098" y="2454678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한 노트북에 한 가지 목적만 담습니다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973648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3128358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3128358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098" y="3087948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자주 바뀌는 자료는 </a:t>
            </a:r>
            <a:r>
              <a:rPr sz="1567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구글 문서</a:t>
            </a: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로 넣습니다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606917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3761627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761627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098" y="3721217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지시문은 노트북 밖 문서에 따로 보관합니다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240187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950" y="4394897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4394897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098" y="4354487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이름에 학년도와 목적을 넣습니다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98775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2번이 중요합니다. 구글 문서와 시트, 슬라이드는 원본을 고치면 몇 분 안에 노트북에도 반영됩니다. PDF나 웹 주소는 올린 시점 그대로 굳습니다.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[R26]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[R13]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2366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나눠 쓸 때 조심할 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749658"/>
            <a:ext cx="5419725" cy="1638319"/>
          </a:xfrm>
          <a:prstGeom prst="roundRect">
            <a:avLst>
              <a:gd name="adj" fmla="val 232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749658"/>
            <a:ext cx="19050" cy="1638319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2921108"/>
            <a:ext cx="5038725" cy="228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 u="none" spc="180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되는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24518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324518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보기 전용과 편집자 두 가지 권한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59119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59119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같은 학교 계정끼리 공유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93719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93719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개인 계정은 링크 공개도 가능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775" y="2749658"/>
            <a:ext cx="5419725" cy="1638319"/>
          </a:xfrm>
          <a:prstGeom prst="roundRect">
            <a:avLst>
              <a:gd name="adj" fmla="val 232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0775" y="2749658"/>
            <a:ext cx="19050" cy="1638319"/>
          </a:xfrm>
          <a:prstGeom prst="rect">
            <a:avLst/>
          </a:prstGeom>
          <a:solidFill>
            <a:srgbClr val="F4F4E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275" y="2921108"/>
            <a:ext cx="5038725" cy="228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 u="none" strike="sngStrike" spc="180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오해하기 쉬운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324518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24518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편집자는 </a:t>
            </a:r>
            <a:r>
              <a:rPr sz="141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다른 사람에게 또 공유</a:t>
            </a: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할 수 있습니다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359119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359119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채팅 화면만 공유해도 원본 접근은 안 막힙니다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393719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393719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학교 계정은 외부 공유가 막혀 있습니다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57847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공유 버튼 옆에 지구본 아이콘이 보이면 그 노트북은 공개 상태입니다.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[R10]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[R18]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82394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 주를 이렇게 돌립니다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626138"/>
            <a:ext cx="552450" cy="269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5400" y="2626138"/>
            <a:ext cx="10325100" cy="4415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이번 주 공문과 계획서를 </a:t>
            </a:r>
            <a:r>
              <a:rPr sz="151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업무 노트북</a:t>
            </a:r>
            <a:r>
              <a:rPr sz="15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에 넣고 브리핑 하나 뽑기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2991517"/>
            <a:ext cx="11049000" cy="9525"/>
          </a:xfrm>
          <a:prstGeom prst="rect">
            <a:avLst/>
          </a:prstGeom>
          <a:solidFill>
            <a:srgbClr val="F4F4E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3134392"/>
            <a:ext cx="552450" cy="269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3134392"/>
            <a:ext cx="10325100" cy="4415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다음 단원 자료로 학습 가이드와 활동지 만들기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3499771"/>
            <a:ext cx="11049000" cy="9525"/>
          </a:xfrm>
          <a:prstGeom prst="rect">
            <a:avLst/>
          </a:prstGeom>
          <a:solidFill>
            <a:srgbClr val="F4F4E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3642646"/>
            <a:ext cx="552450" cy="269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3642646"/>
            <a:ext cx="10325100" cy="4415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협의회 녹음 올려 결정 사항 표로 정리하기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008025"/>
            <a:ext cx="11049000" cy="9525"/>
          </a:xfrm>
          <a:prstGeom prst="rect">
            <a:avLst/>
          </a:prstGeom>
          <a:solidFill>
            <a:srgbClr val="F4F4E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4150900"/>
            <a:ext cx="552450" cy="269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4150900"/>
            <a:ext cx="10325100" cy="4415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다음 주 예습용 오디오 개요 만들어 학급에 올리기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4516279"/>
            <a:ext cx="11049000" cy="9525"/>
          </a:xfrm>
          <a:prstGeom prst="rect">
            <a:avLst/>
          </a:prstGeom>
          <a:solidFill>
            <a:srgbClr val="F4F4E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4659154"/>
            <a:ext cx="552450" cy="269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400" y="4659154"/>
            <a:ext cx="10325100" cy="4415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이번 주 메모를 소스로 변환해 노트북 몸집 키우기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5024533"/>
            <a:ext cx="11049000" cy="9525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322308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실습 ④ · 15분 · 유일하게 내 업무로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94685"/>
            <a:ext cx="11049000" cy="3227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41"/>
              </a:lnSpc>
              <a:spcBef>
                <a:spcPts val="0"/>
              </a:spcBef>
              <a:spcAft>
                <a:spcPts val="0"/>
              </a:spcAft>
            </a:pPr>
            <a:r>
              <a:rPr sz="231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이 칸을 채워보세요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079317"/>
            <a:ext cx="11049000" cy="3010014"/>
          </a:xfrm>
          <a:prstGeom prst="roundRect">
            <a:avLst>
              <a:gd name="adj" fmla="val 126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079317"/>
            <a:ext cx="19050" cy="3010014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" y="2269817"/>
            <a:ext cx="10591800" cy="26290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반복 업무 이름: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얼마나 자주:              (매주 / 매월 / 학기마다)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1. 모을 자료:            (어디에 있는 무슨 파일인가)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2. 넣을 지시문:          (한 문장으로)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3. 뽑을 산출물:          (보고서 / 퀴즈 / 오디오 / 표)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4. 검수할 것:            (숫자? 이름? 말투?)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노트북 이름:             (학년도 + 목적)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5279831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다 채우면 그 문서가 다음 학기의 복제 버튼입니다.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887474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마무리 · 하면 안 되는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159851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학교 계정과 개인 계정은 다릅니다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885846"/>
            <a:ext cx="5419725" cy="1638319"/>
          </a:xfrm>
          <a:prstGeom prst="roundRect">
            <a:avLst>
              <a:gd name="adj" fmla="val 232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885846"/>
            <a:ext cx="19050" cy="1638319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3057296"/>
            <a:ext cx="5038725" cy="228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 u="none" spc="180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학교 Workspace 계정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381375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3381375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모든 교육용 버전에 무료로 포함됩니다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727380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50" y="3727380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피드백을 눌러도 사람이 검토하지 않습니다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073385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4073385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AI 모델 학습에 쓰이지 않습니다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0775" y="2885846"/>
            <a:ext cx="5419725" cy="1638319"/>
          </a:xfrm>
          <a:prstGeom prst="roundRect">
            <a:avLst>
              <a:gd name="adj" fmla="val 232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0775" y="2885846"/>
            <a:ext cx="19050" cy="1638319"/>
          </a:xfrm>
          <a:prstGeom prst="rect">
            <a:avLst/>
          </a:prstGeom>
          <a:solidFill>
            <a:srgbClr val="F4F4E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275" y="3057296"/>
            <a:ext cx="5038725" cy="228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 u="none" strike="sngStrike" spc="180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개인 지메일 계정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275" y="3381375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725" y="3381375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좋아요나 싫어요를 누르는 순간 다릅니다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275" y="3727380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2725" y="3727380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올린 자료까지 </a:t>
            </a:r>
            <a:r>
              <a:rPr sz="141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 검토 대상</a:t>
            </a: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이 됩니다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275" y="4073385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2725" y="4073385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최대 3년 보관된다고 안내되어 있습니다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4714665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학교가 데이터 처리 지역을 지정해도 이 서비스에는 적용되지 않습니다.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[R5]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[R24]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5"/>
              </a:rPr>
              <a:t>[R6]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973485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학생부에 쓰면 안 된다는 말의 진짜 범위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699480"/>
            <a:ext cx="5419725" cy="1292314"/>
          </a:xfrm>
          <a:prstGeom prst="roundRect">
            <a:avLst>
              <a:gd name="adj" fmla="val 2948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699480"/>
            <a:ext cx="19050" cy="1292314"/>
          </a:xfrm>
          <a:prstGeom prst="rect">
            <a:avLst/>
          </a:prstGeom>
          <a:solidFill>
            <a:srgbClr val="F4F4E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2870930"/>
            <a:ext cx="5038725" cy="228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 u="none" strike="sngStrike" spc="180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금지된 행위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195009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3195009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AI가 만든 자료를 서술형 항목에 </a:t>
            </a:r>
            <a:r>
              <a:rPr sz="141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그대로 입력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541014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541014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학생에게 기재 내용을 작성해 제출하게 하기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0775" y="2699480"/>
            <a:ext cx="5419725" cy="1292314"/>
          </a:xfrm>
          <a:prstGeom prst="roundRect">
            <a:avLst>
              <a:gd name="adj" fmla="val 2948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0775" y="2699480"/>
            <a:ext cx="19050" cy="1292314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275" y="2870930"/>
            <a:ext cx="5038725" cy="228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0" i="0" u="none" spc="180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조건부로 허용된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275" y="3195009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3195009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문장을 다듬는 보조 수단으로 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3541014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541014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단, 최종 입력 전에 허위·과장 여부를 교사가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182294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수행평가에서는 입력창에 이름과 학번을 넣지 않도록 지도하고, 파일 속성에 학번이 남아 있는지까지 확인하라고 되어 있습니다.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[R29]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[R38]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4628655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교육부가 2026년 2월 안내를 예고한 AI 활용 가이드라인은 오늘 기준으로 발간을 확인하지 못했습니다. 현재 적용되는 규범은 위 두 문서입니다.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614383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지키면 되는 최소 규칙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340378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495088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495088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098" y="2454678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학생 이름·학번·연락처는 올리지 않습니다. 파일 속성까지 지웁니다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973648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3128358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3128358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098" y="3087948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초등학생 자료는 만 14세 미만 규정이 걸립니다. 학교 방침을 먼저 확인합니다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606917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3761627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761627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098" y="3721217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교과서와 문제집을 통째로 올리지 않습니다. 수업 목적 이용은 </a:t>
            </a:r>
            <a:r>
              <a:rPr sz="1567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일부분</a:t>
            </a: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이 원칙입니다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240187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950" y="4394897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4394897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098" y="4354487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학생에게 직접 쓰게 하려면 개인 계정 기준 한국은 만 14세 이상입니다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98775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개인정보보호위원회가 2026년 5월 이용자용 가이드를 냈습니다. 입력 전 개인정보 확인과 소속 기관 지침 확인이 수칙에 들어 있습니다.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[R39]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[R34]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5"/>
              </a:rPr>
              <a:t>[R35]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6"/>
              </a:rPr>
              <a:t>[R8]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722063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무료로 어디까지 되나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448058"/>
            <a:ext cx="2633662" cy="1258900"/>
          </a:xfrm>
          <a:prstGeom prst="roundRect">
            <a:avLst>
              <a:gd name="adj" fmla="val 3026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2657608"/>
            <a:ext cx="2633662" cy="572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4290" b="1" i="0" u="none">
                <a:solidFill>
                  <a:srgbClr val="00E054"/>
                </a:solidFill>
                <a:latin typeface="Noto Sans KR Black"/>
                <a:ea typeface="Noto Sans KR Black"/>
                <a:cs typeface="Noto Sans KR Black"/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50" y="3278638"/>
            <a:ext cx="2290762" cy="125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노트북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6612" y="2448058"/>
            <a:ext cx="2633662" cy="1258900"/>
          </a:xfrm>
          <a:prstGeom prst="roundRect">
            <a:avLst>
              <a:gd name="adj" fmla="val 3026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76612" y="2657608"/>
            <a:ext cx="2633662" cy="572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4290" b="1" i="0" u="none">
                <a:solidFill>
                  <a:srgbClr val="00E054"/>
                </a:solidFill>
                <a:latin typeface="Noto Sans KR Black"/>
                <a:ea typeface="Noto Sans KR Black"/>
                <a:cs typeface="Noto Sans KR Black"/>
              </a:rPr>
              <a:t>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8062" y="3278638"/>
            <a:ext cx="2290762" cy="125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노트북당 소스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725" y="2448058"/>
            <a:ext cx="2633662" cy="1258900"/>
          </a:xfrm>
          <a:prstGeom prst="roundRect">
            <a:avLst>
              <a:gd name="adj" fmla="val 3026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1725" y="2657608"/>
            <a:ext cx="2633662" cy="572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4290" b="1" i="0" u="none">
                <a:solidFill>
                  <a:srgbClr val="00E054"/>
                </a:solidFill>
                <a:latin typeface="Noto Sans KR Black"/>
                <a:ea typeface="Noto Sans KR Black"/>
                <a:cs typeface="Noto Sans KR Black"/>
              </a:rPr>
              <a:t>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3175" y="3278638"/>
            <a:ext cx="2290762" cy="125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하루 질문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6838" y="2448058"/>
            <a:ext cx="2633662" cy="1258900"/>
          </a:xfrm>
          <a:prstGeom prst="roundRect">
            <a:avLst>
              <a:gd name="adj" fmla="val 3026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6838" y="2657608"/>
            <a:ext cx="2633662" cy="572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4290" b="1" i="0" u="none">
                <a:solidFill>
                  <a:srgbClr val="00E054"/>
                </a:solidFill>
                <a:latin typeface="Noto Sans KR Black"/>
                <a:ea typeface="Noto Sans KR Black"/>
                <a:cs typeface="Noto Sans KR Blac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58288" y="3278638"/>
            <a:ext cx="2290762" cy="125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0" i="0" u="none">
                <a:solidFill>
                  <a:srgbClr val="8B8B87"/>
                </a:solidFill>
                <a:latin typeface="Consolas"/>
                <a:ea typeface="Consolas"/>
                <a:cs typeface="Consolas"/>
              </a:rPr>
              <a:t>하루 오디오·동영상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3897459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보고서와 퀴즈, 마인드맵은 각각 하루 10개, 심층 조사는 월 10회입니다. 학교 Workspace 계정에는 무료로 포함되어 있습니다.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[R12]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[R5]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4343819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유료로 올리면 한도가 커집니다. Google AI Pro는 월 29,000원으로 표시됩니다. 결제 화면에서 다시 확인하세요.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5"/>
              </a:rPr>
              <a:t>[R7]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790180"/>
            <a:ext cx="110490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F4F4EE"/>
                </a:solidFill>
                <a:latin typeface="Noto Sans KR"/>
                <a:ea typeface="Noto Sans KR"/>
                <a:cs typeface="Noto Sans KR"/>
              </a:rPr>
              <a:t>한도와 가격은 2026-07-27 확인 기준입니다. 수시로 바뀝니다.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297748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안 될 때 여기부터 보세요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023743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178453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178453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098" y="2138043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한글 파일이 안 올라감. PDF나 DOCX로 저장해서 다시 올립니다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657013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2811723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2811723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098" y="2771313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유튜브가 안 붙음. 비공개이거나 자막이 없는 영상입니다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290283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3444992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444992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098" y="3404583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PDF 오류. 복사 방지가 걸렸거나 스캔본이라 글자가 없습니다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3923552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950" y="4078262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4078262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098" y="4037852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원본을 고쳤는데 답이 옛날 내용. PDF는 안 바뀌니 구글 문서로 올립니다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4556822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2950" y="4711532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2950" y="4711532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0E0E0E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098" y="4671122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오디오가 계속 안 나옴. 하루 세 개를 넘겼거나 서비스 장애입니다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5304392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5번이 의심되면 구글 워크스페이스 상태 대시보드를 확인하세요. 실제 장애 이력이 남아 있습니다.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[R30]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60076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오늘 쓴 예제 파일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02957"/>
            <a:ext cx="560550" cy="269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3500" y="2402957"/>
            <a:ext cx="10317000" cy="4415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2026년 교육부 업무계획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2768336"/>
            <a:ext cx="11049000" cy="9525"/>
          </a:xfrm>
          <a:prstGeom prst="rect">
            <a:avLst/>
          </a:prstGeom>
          <a:solidFill>
            <a:srgbClr val="F4F4E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911211"/>
            <a:ext cx="560550" cy="269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HWPX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3500" y="2911211"/>
            <a:ext cx="10317000" cy="4415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2025년 교육기본통계 조사 결과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3276590"/>
            <a:ext cx="11049000" cy="9525"/>
          </a:xfrm>
          <a:prstGeom prst="rect">
            <a:avLst/>
          </a:prstGeom>
          <a:solidFill>
            <a:srgbClr val="F4F4E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3419465"/>
            <a:ext cx="560550" cy="269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500" y="3419465"/>
            <a:ext cx="10317000" cy="4415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데이터로 읽는 우리 교육 제5호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3784844"/>
            <a:ext cx="11049000" cy="9525"/>
          </a:xfrm>
          <a:prstGeom prst="rect">
            <a:avLst/>
          </a:prstGeom>
          <a:solidFill>
            <a:srgbClr val="F4F4E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3927719"/>
            <a:ext cx="560550" cy="269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3500" y="3927719"/>
            <a:ext cx="10317000" cy="4415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정책브리핑 교육 정책 기사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4293098"/>
            <a:ext cx="11049000" cy="9525"/>
          </a:xfrm>
          <a:prstGeom prst="rect">
            <a:avLst/>
          </a:prstGeom>
          <a:solidFill>
            <a:srgbClr val="F4F4E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4435973"/>
            <a:ext cx="560550" cy="269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3500" y="4435973"/>
            <a:ext cx="10317000" cy="4415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학교알리미 공개용데이터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4801352"/>
            <a:ext cx="11049000" cy="9525"/>
          </a:xfrm>
          <a:prstGeom prst="rect">
            <a:avLst/>
          </a:prstGeom>
          <a:solidFill>
            <a:srgbClr val="F4F4E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" y="500137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다섯 개 모두 공공누리 제1유형입니다. 출처만 밝히면 수업과 연수에 자유롭게 쓸 수 있습니다. 일부 자료는 사진과 영상을 제외한 텍스트에만 적용됩니다.</a:t>
            </a:r>
            <a:r>
              <a:rPr sz="1023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[R31]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545488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이 장만 사진 찍어 가세요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817865"/>
            <a:ext cx="11049000" cy="3227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41"/>
              </a:lnSpc>
              <a:spcBef>
                <a:spcPts val="0"/>
              </a:spcBef>
              <a:spcAft>
                <a:spcPts val="0"/>
              </a:spcAft>
            </a:pPr>
            <a:r>
              <a:rPr sz="2310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오늘 배운 것 한 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302497"/>
            <a:ext cx="11049000" cy="3010014"/>
          </a:xfrm>
          <a:prstGeom prst="roundRect">
            <a:avLst>
              <a:gd name="adj" fmla="val 1265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302497"/>
            <a:ext cx="19050" cy="3010014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" y="2492997"/>
            <a:ext cx="10591800" cy="26290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주소: notebooklm.google.com (제미나이 앱 말고 여기)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1. 소스 모으기       한글은 PDF나 DOCX로 변환. 자주 고칠 건 구글 문서로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2. 질문으로 확인      인용 눌러 원문 보기. 인용 없는 문장은 안 씀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3. 스튜디오에서 뽑기   보고서 안에 학습가이드·브리핑·FAQ가 있음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4. 검수             인용, 숫자, 학생 정보, 말투 네 가지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5. 재구성            복제 버튼 없음. 소스 목록과 지시문을 문서로 남길 것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F4F4EE"/>
                </a:solidFill>
                <a:latin typeface="Consolas"/>
                <a:ea typeface="Consolas"/>
                <a:cs typeface="Consolas"/>
              </a:rPr>
              <a:t>절대 하지 말 것: 학생 자료 올린 노트북에서 좋아요·싫어요 누르기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92300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다음 30일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648998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763298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763298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050" y="276336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오늘 저녁, 오늘 만든 노트북에 </a:t>
            </a:r>
            <a:r>
              <a:rPr sz="1551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내 자료 3개</a:t>
            </a: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를 더 올립니다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3239548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3353848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3353848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50" y="335391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이번 주 안에, 실습④에서 적은 워크플로를 한 번 그대로 돌려봅니다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830098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3944398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944398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50" y="394446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2주 안에, 학교 정보 담당자에게 우리 계정 버전을 확인합니다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420648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4F4EE">
              <a:alpha val="3000"/>
            </a:srgbClr>
          </a:solidFill>
          <a:ln w="9525">
            <a:solidFill>
              <a:srgbClr val="F4F4EE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950" y="4534948"/>
            <a:ext cx="285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E0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4534948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050" y="453501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한 달 안에, 동학년 선생님 한 분에게 노트북 하나를 공유합니다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789081"/>
            <a:ext cx="1104900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919"/>
              </a:lnSpc>
              <a:spcBef>
                <a:spcPts val="0"/>
              </a:spcBef>
              <a:spcAft>
                <a:spcPts val="0"/>
              </a:spcAft>
            </a:pPr>
            <a:r>
              <a:rPr sz="8250" b="1" i="0" u="none">
                <a:solidFill>
                  <a:srgbClr val="FFFFFF"/>
                </a:solidFill>
                <a:latin typeface="Noto Sans KR Black"/>
                <a:ea typeface="Noto Sans KR Black"/>
                <a:cs typeface="Noto Sans KR Black"/>
              </a:rPr>
              <a:t>수고하셨습니다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908078"/>
            <a:ext cx="11049000" cy="7920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18"/>
              </a:lnSpc>
              <a:spcBef>
                <a:spcPts val="0"/>
              </a:spcBef>
              <a:spcAft>
                <a:spcPts val="0"/>
              </a:spcAft>
            </a:pPr>
            <a:r>
              <a:rPr sz="2227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오늘 만든 노트북은 지우지 마세요.</a:t>
            </a:r>
            <a:br/>
            <a:r>
              <a:rPr sz="2227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다음 단원 자료를 넣는 순간부터 값을 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783997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783997"/>
            <a:ext cx="107823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📂 배포 폴더에 예제 파일 5개, 프롬프트 모음, 출처표시 문구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253579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4253579"/>
            <a:ext cx="107823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🛠 안 될 때 볼 곳: 구글 워크스페이스 상태 대시보드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23162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723162"/>
            <a:ext cx="107823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C1C1BC"/>
                </a:solidFill>
                <a:latin typeface="Noto Sans KR"/>
                <a:ea typeface="Noto Sans KR"/>
                <a:cs typeface="Noto Sans KR"/>
              </a:rPr>
              <a:t>💬 지금부터 질문 받겠습니다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6188392"/>
            <a:ext cx="110490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F4F4EE"/>
                </a:solidFill>
                <a:latin typeface="Noto Sans KR"/>
                <a:ea typeface="Noto Sans KR"/>
                <a:cs typeface="Noto Sans KR"/>
              </a:rPr>
              <a:t>2026-07-27 확인 기준 · 제품 정보는 강의일에 다시 확인하세요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669455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SOURCES · 1/5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94183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출처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667828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667828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5325" y="1782128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[R1]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NotebookLM is now Gemini Notebook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Google · 2026-07-16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[원문]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438743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438743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5325" y="2553043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[R2]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노트북LM의 AI 음성 개요 한국어 지원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Google Korea · 2025-04-30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[원문]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3209658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209658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5325" y="3323958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[R3]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Generate your own Cinematic Video Overviews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Google · 2026-03-04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5"/>
              </a:rPr>
              <a:t>[원문]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980574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3980574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5325" y="4094874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[R4]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100+ ways to use Gemini in K-12 education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Google for Education · 2026-07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6"/>
              </a:rPr>
              <a:t>[원문]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4751489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4751489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325" y="4865789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[R5]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Quickstart Guide to Gemini and NotebookLM for Education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Google Workspace 관리자 도움말 · 날짜 미표기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7"/>
              </a:rPr>
              <a:t>[원문]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5522405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500" y="5522405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325" y="5636705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[R6]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사용자별로 Gemini Notebook 사용 설정 또는 사용 중지하기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Google Workspace 관리자 도움말 · 2026-07-22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8"/>
              </a:rPr>
              <a:t>[원문]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669455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SOURCES · 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94183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출처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667828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667828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5325" y="1782128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[R7]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Google One 요금제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Google · 날짜 미표기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[원문]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438743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438743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5325" y="2553043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[R8]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Google 계정의 연령 요건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Google · 날짜 미표기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[원문]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3209658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209658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5325" y="3323958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[R10]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Gemini Notebook에서 노트북 만들기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Google · 날짜 미표기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5"/>
              </a:rPr>
              <a:t>[원문]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980574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3980574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5325" y="4094874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[R11]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 오디오 오버뷰 생성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Google · 날짜 미표기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6"/>
              </a:rPr>
              <a:t>[원문]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4751489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4751489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325" y="4865789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[R12]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Gemini Notebook 업그레이드 (요금제와 한도표)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Google · 날짜 미표기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7"/>
              </a:rPr>
              <a:t>[원문]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5522405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500" y="5522405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325" y="5636705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[R13]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노트북에 새 소스 추가 또는 검색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Google · 날짜 미표기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8"/>
              </a:rPr>
              <a:t>[원문]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669455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SOURCES · 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94183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출처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667828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667828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5325" y="1782128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[R15]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메모 만들기 및 추가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Google · 날짜 미표기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[원문]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438743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438743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5325" y="2553043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[R16]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자주 묻는 질문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Google · 날짜 미표기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[원문]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3209658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209658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5325" y="3323958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[R17]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모바일 앱에서 사용하기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Google · 날짜 미표기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5"/>
              </a:rPr>
              <a:t>[원문]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980574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3980574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5325" y="4094874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[R18]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공개 노트북 및 추천 노트북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Google · 날짜 미표기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6"/>
              </a:rPr>
              <a:t>[원문]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4751489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4751489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325" y="4865789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[R19]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직장 또는 학교 Google 계정으로 사용하기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Google · 날짜 미표기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7"/>
              </a:rPr>
              <a:t>[원문]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5522405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500" y="5522405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325" y="5636705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[R20]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 동영상 오버뷰 생성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Google · 날짜 미표기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8"/>
              </a:rPr>
              <a:t>[원문]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669455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SOURCES · 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94183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출처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667828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667828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5325" y="1782128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[R21]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슬라이드 자료 생성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Google · 날짜 미표기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[원문]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438743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438743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5325" y="2553043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[R22]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플래시카드 또는 퀴즈 생성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Google · 날짜 미표기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[원문]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3209658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209658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5325" y="3323958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[R23]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Gemini 앱의 노트북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Google · 날짜 미표기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5"/>
              </a:rPr>
              <a:t>[원문]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980574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3980574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5325" y="4094874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[R24]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Gemini Notebook의 개인 정보 보호 및 이용약관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Google · 날짜 미표기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6"/>
              </a:rPr>
              <a:t>[원문]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4751489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4751489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325" y="4865789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[R25]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NotebookLM and the Gemini app are now Core Services for Education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Google Workspace Updates · 2025-04-03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7"/>
              </a:rPr>
              <a:t>[원문]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5522405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500" y="5522405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325" y="5636705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[R26]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Keep your sources up to date with automatic Drive syncing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Google Workspace Updates · 2026-05-26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8"/>
              </a:rPr>
              <a:t>[원문]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669455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— </a:t>
            </a:r>
            <a:r>
              <a:rPr sz="1023" b="0" i="0" u="none" spc="205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SOURCES · 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94183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출처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667828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667828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5325" y="1782128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[R28]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학교알리미 공개용데이터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KERIS · 공공데이터포털 · 2025-09-24 수정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3"/>
              </a:rPr>
              <a:t>[원문]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438743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438743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5325" y="2553043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[R29]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2026학년도 학교생활기록부 기재요령 (중학교)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교육부와 17개 시도교육청 · 2026-02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4"/>
              </a:rPr>
              <a:t>[원문]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3209658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209658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5325" y="3323958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[R30]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Google Workspace 상태 대시보드 · NotebookLM 이력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Google · 갱신형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5"/>
              </a:rPr>
              <a:t>[원문]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980574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3980574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5325" y="4094874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[R31]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공공누리 제1유형 이용조건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한국문화정보원 · 날짜 미표기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6"/>
              </a:rPr>
              <a:t>[원문]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4751489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4751489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325" y="4865789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[R34]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개인정보 보호법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법제처 · 법률 제20897호 · 시행 2025-10-02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7"/>
              </a:rPr>
              <a:t>[원문]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5522405"/>
            <a:ext cx="11049000" cy="666140"/>
          </a:xfrm>
          <a:prstGeom prst="roundRect">
            <a:avLst>
              <a:gd name="adj" fmla="val 0"/>
            </a:avLst>
          </a:prstGeom>
          <a:solidFill>
            <a:srgbClr val="F4F4EE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500" y="5522405"/>
            <a:ext cx="19050" cy="666140"/>
          </a:xfrm>
          <a:prstGeom prst="rect">
            <a:avLst/>
          </a:prstGeom>
          <a:solidFill>
            <a:srgbClr val="00E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325" y="5636705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E054"/>
                </a:solidFill>
                <a:latin typeface="Consolas"/>
                <a:ea typeface="Consolas"/>
                <a:cs typeface="Consolas"/>
              </a:rPr>
              <a:t>[R35] </a:t>
            </a:r>
            <a:r>
              <a:rPr sz="1188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저작권법</a:t>
            </a:r>
            <a:br/>
            <a:r>
              <a:rPr sz="1188" b="0" i="0" u="none">
                <a:solidFill>
                  <a:srgbClr val="8B8B87"/>
                </a:solidFill>
                <a:latin typeface="Noto Sans KR"/>
                <a:ea typeface="Noto Sans KR"/>
                <a:cs typeface="Noto Sans KR"/>
              </a:rPr>
              <a:t>법제처 · 법률 제21336호  </a:t>
            </a:r>
            <a:r>
              <a:rPr sz="1188" b="0" i="0" u="none">
                <a:solidFill>
                  <a:srgbClr val="00E054"/>
                </a:solidFill>
                <a:latin typeface="Noto Sans KR"/>
                <a:ea typeface="Noto Sans KR"/>
                <a:cs typeface="Noto Sans KR"/>
                <a:hlinkClick r:id="rId8"/>
              </a:rPr>
              <a:t>[원문]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E054"/>
      </a:hlink>
      <a:folHlink>
        <a:srgbClr val="00E05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