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canva.com/education/eligibility-guidelines/" TargetMode="External"/><Relationship Id="rId4" Type="http://schemas.openxmlformats.org/officeDocument/2006/relationships/hyperlink" Target="https://www.stylefactoryproductions.com/blog/canva-for-education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canva.com/help/canva-ai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canva.com/policies/ai-product-terms/" TargetMode="External"/><Relationship Id="rId4" Type="http://schemas.openxmlformats.org/officeDocument/2006/relationships/hyperlink" Target="https://www.canva.com/policies/ai-safety/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canva.com/policies/content-license-agreement/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canva.com/policies/content-license-agreement/" TargetMode="External"/><Relationship Id="rId4" Type="http://schemas.openxmlformats.org/officeDocument/2006/relationships/hyperlink" Target="https://www.stylefactoryproductions.com/blog/canva-for-education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canva.com/policies/ai-product-terms/" TargetMode="External"/><Relationship Id="rId4" Type="http://schemas.openxmlformats.org/officeDocument/2006/relationships/hyperlink" Target="https://www.copyright.or.kr/information-materials/publication/research-report/view.do?brdctsno=54253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canva.com/policies/ai-safety/" TargetMode="External"/><Relationship Id="rId4" Type="http://schemas.openxmlformats.org/officeDocument/2006/relationships/hyperlink" Target="https://www.esafety.gov.au/key-topics/esafety-guide/canva" TargetMode="External"/><Relationship Id="rId5" Type="http://schemas.openxmlformats.org/officeDocument/2006/relationships/hyperlink" Target="https://www.canva.com/help/app-restrictions-c4e/" TargetMode="External"/><Relationship Id="rId6" Type="http://schemas.openxmlformats.org/officeDocument/2006/relationships/hyperlink" Target="https://buseo.sen.go.kr/buseo/bu10/user/bbs/BD_selectBbs.do?q_bbsSn=1240&amp;q_bbsDocNo=20230829193450556" TargetMode="External"/><Relationship Id="rId7" Type="http://schemas.openxmlformats.org/officeDocument/2006/relationships/hyperlink" Target="https://www.segye.com/newsView/20230819505216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easylaw.go.kr/CSP/CnpClsMain.laf?popMenu=ov&amp;csmSeq=1702&amp;ccfNo=4&amp;cciNo=1&amp;cnpClsNo=1" TargetMode="External"/><Relationship Id="rId4" Type="http://schemas.openxmlformats.org/officeDocument/2006/relationships/hyperlink" Target="https://casenote.kr/%EB%B2%95%EB%A0%B9/%EA%B5%90%EC%9C%A1%EA%B8%B0%EB%B3%B8%EB%B2%95/%EC%A0%9C23%EC%A1%B0%EC%9D%983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canva.com/help/ai-access/" TargetMode="External"/><Relationship Id="rId4" Type="http://schemas.openxmlformats.org/officeDocument/2006/relationships/hyperlink" Target="https://www.canva.com/education/eligibility-guidelines/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buseo.sen.go.kr/buseo/bu10/user/bbs/BD_selectBbs.do?q_bbsSn=1240&amp;q_bbsDocNo=20230829193450556" TargetMode="External"/><Relationship Id="rId4" Type="http://schemas.openxmlformats.org/officeDocument/2006/relationships/hyperlink" Target="https://casenote.kr/%EB%B2%95%EB%A0%B9/%EA%B5%90%EC%9C%A1%EA%B8%B0%EB%B3%B8%EB%B2%95/%EC%A0%9C23%EC%A1%B0%EC%9D%983" TargetMode="External"/><Relationship Id="rId5" Type="http://schemas.openxmlformats.org/officeDocument/2006/relationships/hyperlink" Target="https://dailycreativeco.com/canva-licensing-explained/" TargetMode="External"/><Relationship Id="rId6" Type="http://schemas.openxmlformats.org/officeDocument/2006/relationships/hyperlink" Target="https://ditoday.com/gai-copyright/" TargetMode="External"/><Relationship Id="rId7" Type="http://schemas.openxmlformats.org/officeDocument/2006/relationships/hyperlink" Target="https://easylaw.go.kr/CSP/CnpClsMain.laf?popMenu=ov&amp;csmSeq=1702&amp;ccfNo=4&amp;cciNo=1&amp;cnpClsNo=1" TargetMode="External"/><Relationship Id="rId8" Type="http://schemas.openxmlformats.org/officeDocument/2006/relationships/hyperlink" Target="https://www.canva.com/education/eligibility-guidelines/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canva.com/help/ai-access/" TargetMode="External"/><Relationship Id="rId4" Type="http://schemas.openxmlformats.org/officeDocument/2006/relationships/hyperlink" Target="https://www.canva.com/help/app-restrictions-c4e/" TargetMode="External"/><Relationship Id="rId5" Type="http://schemas.openxmlformats.org/officeDocument/2006/relationships/hyperlink" Target="https://www.canva.com/help/canva-ai/" TargetMode="External"/><Relationship Id="rId6" Type="http://schemas.openxmlformats.org/officeDocument/2006/relationships/hyperlink" Target="https://www.canva.com/policies/ai-product-terms/" TargetMode="External"/><Relationship Id="rId7" Type="http://schemas.openxmlformats.org/officeDocument/2006/relationships/hyperlink" Target="https://www.canva.com/policies/ai-safety/" TargetMode="External"/><Relationship Id="rId8" Type="http://schemas.openxmlformats.org/officeDocument/2006/relationships/hyperlink" Target="https://www.canva.com/policies/content-license-agreement/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copyright.or.kr/information-materials/publication/research-report/view.do?brdctsno=54253" TargetMode="External"/><Relationship Id="rId4" Type="http://schemas.openxmlformats.org/officeDocument/2006/relationships/hyperlink" Target="https://www.esafety.gov.au/key-topics/esafety-guide/canva" TargetMode="External"/><Relationship Id="rId5" Type="http://schemas.openxmlformats.org/officeDocument/2006/relationships/hyperlink" Target="https://www.moe.go.kr/boardCnts/viewRenew.do?boardID=294&amp;boardSeq=104984&amp;lev=0&amp;m=020402" TargetMode="External"/><Relationship Id="rId6" Type="http://schemas.openxmlformats.org/officeDocument/2006/relationships/hyperlink" Target="https://www.segye.com/newsView/20230819505216" TargetMode="External"/><Relationship Id="rId7" Type="http://schemas.openxmlformats.org/officeDocument/2006/relationships/hyperlink" Target="https://www.stylefactoryproductions.com/blog/canva-for-education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992535"/>
            <a:ext cx="11049000" cy="2346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u="none" spc="264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320" b="0" i="0" u="none" spc="264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초등교사 연수 · 90~120분 · 실습 5회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344579"/>
            <a:ext cx="11049000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919"/>
              </a:lnSpc>
              <a:spcBef>
                <a:spcPts val="0"/>
              </a:spcBef>
              <a:spcAft>
                <a:spcPts val="0"/>
              </a:spcAft>
            </a:pPr>
            <a:r>
              <a:rPr sz="8250" b="1" i="0" u="none">
                <a:solidFill>
                  <a:srgbClr val="FFFFFF"/>
                </a:solidFill>
                <a:latin typeface="Noto Sans KR Black"/>
                <a:ea typeface="Noto Sans KR Black"/>
                <a:cs typeface="Noto Sans KR Black"/>
              </a:rPr>
              <a:t>캔바 AI로 수업자료 만들기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469416"/>
            <a:ext cx="11049000" cy="39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18"/>
              </a:lnSpc>
              <a:spcBef>
                <a:spcPts val="0"/>
              </a:spcBef>
              <a:spcAft>
                <a:spcPts val="0"/>
              </a:spcAft>
            </a:pPr>
            <a:r>
              <a:rPr sz="2227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두 시간 뒤, 학습지와 학급 게시물이 폴더에 남습니다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6188392"/>
            <a:ext cx="110490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F4F4EE"/>
                </a:solidFill>
                <a:latin typeface="Noto Sans KR"/>
                <a:ea typeface="Noto Sans KR"/>
                <a:cs typeface="Noto Sans KR"/>
              </a:rPr>
              <a:t>Canva for Education · 모든 제품 정보는 2026-08-06 공식 문서 확인 기준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2366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학습지 한 장에 드는 시간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749658"/>
            <a:ext cx="5419725" cy="1638319"/>
          </a:xfrm>
          <a:prstGeom prst="roundRect">
            <a:avLst>
              <a:gd name="adj" fmla="val 232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749658"/>
            <a:ext cx="19050" cy="1638319"/>
          </a:xfrm>
          <a:prstGeom prst="rect">
            <a:avLst/>
          </a:prstGeom>
          <a:solidFill>
            <a:srgbClr val="F4F4E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2921108"/>
            <a:ext cx="5038725" cy="228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0" i="0" u="none" strike="sngStrike" spc="180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지금까지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24518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50" y="324518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한글에서 표 그리고 칸 맞추기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591192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3591192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삽화 검색하고 저작권 확인하기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93719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393719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글꼴과 여백 손보다 인쇄해서 다시 고치기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0775" y="2749658"/>
            <a:ext cx="5419725" cy="1638319"/>
          </a:xfrm>
          <a:prstGeom prst="roundRect">
            <a:avLst>
              <a:gd name="adj" fmla="val 232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0775" y="2749658"/>
            <a:ext cx="19050" cy="1638319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275" y="2921108"/>
            <a:ext cx="5038725" cy="228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0" i="0" u="none" spc="180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캔바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324518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324518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한 문장으로 초안을 받는다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275" y="3591192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3591192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삽화는 </a:t>
            </a:r>
            <a:r>
              <a:rPr sz="141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라이선스가 붙은 채로</a:t>
            </a: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 들어온다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275" y="393719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2725" y="393719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고친 자리를 템플릿으로 남겨 다음 단원에 쓴다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4578477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도구를 바꾸는 게 아니라, 반복되는 자리를 넘기는 것입니다.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188750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오늘 들고 나갈 4가지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3134154"/>
            <a:ext cx="5419725" cy="1315688"/>
          </a:xfrm>
          <a:prstGeom prst="roundRect">
            <a:avLst>
              <a:gd name="adj" fmla="val 1158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9150" y="3381804"/>
            <a:ext cx="4924425" cy="8203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29"/>
              </a:lnSpc>
              <a:spcBef>
                <a:spcPts val="0"/>
              </a:spcBef>
              <a:spcAft>
                <a:spcPts val="0"/>
              </a:spcAft>
            </a:pPr>
            <a:r>
              <a:rPr sz="2227" b="0" i="0" u="none">
                <a:solidFill>
                  <a:srgbClr val="F4F4EE"/>
                </a:solidFill>
                <a:latin typeface="Noto Sans KR"/>
                <a:ea typeface="Noto Sans KR"/>
                <a:cs typeface="Noto Sans KR"/>
              </a:rPr>
              <a:t>두 시간 뒤</a:t>
            </a:r>
            <a:br/>
            <a:r>
              <a:rPr sz="2227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폴더에 파일이 남습니다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0775" y="2914745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7475" y="2914745"/>
            <a:ext cx="5153025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학습지 완성본 하나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0775" y="3384328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7475" y="3384328"/>
            <a:ext cx="5153025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학급 게시물 하나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0775" y="3853910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7475" y="3853910"/>
            <a:ext cx="5153025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다음에 다시 쓸 템플릿 하나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0775" y="4323493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7475" y="4323493"/>
            <a:ext cx="5153025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넘지 말아야 할 선 네 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794829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START · 5분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067206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시작 전에 세 가지만 확인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793201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2950" y="2947911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2950" y="2947911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098" y="2907501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화면 왼쪽 위에 학교 팀 이름이 보이는지 봅니다. 없으면 일반 계정입니다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3426471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2950" y="3581181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950" y="3581181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098" y="3540771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아직 인증 전이면 </a:t>
            </a:r>
            <a:r>
              <a:rPr sz="1567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교원자격증 사본</a:t>
            </a: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 한 장이면 됩니다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[R6]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4059741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2950" y="4214451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950" y="4214451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098" y="4174041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바탕화면에 캔바실습 폴더를 만들고 이번 단원 자료를 넣어 둡니다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4807310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인증은 보통 이틀, 성수기에는 일주일까지 걸립니다.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4"/>
              </a:rPr>
              <a:t>[R17]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563634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실습 ① · 8분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836010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로그인하고 첫 디자인 열기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56200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2950" y="267630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2950" y="267630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050" y="267637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canva.com 에 </a:t>
            </a:r>
            <a:r>
              <a:rPr sz="1551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교육용 계정</a:t>
            </a: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으로 로그인합니다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315255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2950" y="326685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950" y="326685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326692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왼쪽 위 팀 이름에 학교가 보이는지 확인합니다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374310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2950" y="385740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950" y="385740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050" y="385747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디자인 만들기에서 A4 문서를 하나 엽니다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433365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2950" y="444795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2950" y="444795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2050" y="444802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아무 글자나 넣고 저장되는 것까지 봅니다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5038506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여기까지 되면 오늘 나머지는 다 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437295"/>
            <a:ext cx="11049000" cy="2346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u="none" spc="264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713901"/>
            <a:ext cx="11049000" cy="7242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702"/>
              </a:lnSpc>
              <a:spcBef>
                <a:spcPts val="0"/>
              </a:spcBef>
              <a:spcAft>
                <a:spcPts val="0"/>
              </a:spcAft>
            </a:pPr>
            <a:r>
              <a:rPr sz="5940" b="1" i="0" u="none">
                <a:solidFill>
                  <a:srgbClr val="FFFFFF"/>
                </a:solidFill>
                <a:latin typeface="Noto Sans KR Black"/>
                <a:ea typeface="Noto Sans KR Black"/>
                <a:cs typeface="Noto Sans KR Black"/>
              </a:rPr>
              <a:t>화면과 </a:t>
            </a:r>
            <a:r>
              <a:rPr sz="5940" b="0" i="1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AI가 있는 자리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628606"/>
            <a:ext cx="11049000" cy="7920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18"/>
              </a:lnSpc>
              <a:spcBef>
                <a:spcPts val="0"/>
              </a:spcBef>
              <a:spcAft>
                <a:spcPts val="0"/>
              </a:spcAft>
            </a:pPr>
            <a:r>
              <a:rPr sz="2227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버튼 위치는 업데이트로 바뀝니다. 오늘은 어디를 눌러야 하는지가 아니라 무엇을 시킬 수 있는지를 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472138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세 군데만 보면 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3198133"/>
            <a:ext cx="3619500" cy="1187729"/>
          </a:xfrm>
          <a:prstGeom prst="roundRect">
            <a:avLst>
              <a:gd name="adj" fmla="val 32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3369583"/>
            <a:ext cx="33147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123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왼쪽 패널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3627672"/>
            <a:ext cx="3314700" cy="586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F4F4EE"/>
                </a:solidFill>
                <a:latin typeface="Noto Sans KR"/>
                <a:ea typeface="Noto Sans KR"/>
                <a:cs typeface="Noto Sans KR"/>
              </a:rPr>
              <a:t>템플릿, 요소, 업로드한 내 자료가 있습니다. 재료를 꺼내는 곳입니다.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6250" y="3198133"/>
            <a:ext cx="3619500" cy="1187729"/>
          </a:xfrm>
          <a:prstGeom prst="roundRect">
            <a:avLst>
              <a:gd name="adj" fmla="val 32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8650" y="3369583"/>
            <a:ext cx="33147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123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가운데 캔버스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8650" y="3627672"/>
            <a:ext cx="3314700" cy="586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F4F4EE"/>
                </a:solidFill>
                <a:latin typeface="Noto Sans KR"/>
                <a:ea typeface="Noto Sans KR"/>
                <a:cs typeface="Noto Sans KR"/>
              </a:rPr>
              <a:t>실제 지면입니다. 클릭한 요소의 편집 막대가 위에 나타납니다.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3198133"/>
            <a:ext cx="3619500" cy="1187729"/>
          </a:xfrm>
          <a:prstGeom prst="roundRect">
            <a:avLst>
              <a:gd name="adj" fmla="val 32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3198133"/>
            <a:ext cx="133350" cy="1905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3198133"/>
            <a:ext cx="19050" cy="13335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3400" y="3369583"/>
            <a:ext cx="33147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123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Canva AI 입력창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3400" y="3627672"/>
            <a:ext cx="3314700" cy="586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F4F4EE"/>
                </a:solidFill>
                <a:latin typeface="Noto Sans KR"/>
                <a:ea typeface="Noto Sans KR"/>
                <a:cs typeface="Noto Sans KR"/>
              </a:rPr>
              <a:t>말로 시키는 곳입니다. 오늘 대부분의 시간을 여기서 씁니다.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171718"/>
            <a:ext cx="11049000" cy="3918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5"/>
              </a:lnSpc>
              <a:spcBef>
                <a:spcPts val="0"/>
              </a:spcBef>
              <a:spcAft>
                <a:spcPts val="0"/>
              </a:spcAft>
            </a:pPr>
            <a:r>
              <a:rPr sz="2804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Canva AI가 </a:t>
            </a:r>
            <a:r>
              <a:rPr sz="2804" b="0" i="1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하는 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715976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2830276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" y="3135076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디자인 생성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2800" y="2715976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2800" y="2830276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48050" y="3135076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프레젠테이션 생성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34100" y="2715976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34100" y="2830276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9350" y="3135076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영상 생성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2715976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2830276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✍️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0650" y="3135076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Magic Write 글쓰기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3516049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" y="3630349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🖼️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3935149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이미지 생성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52800" y="3516049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52800" y="3630349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8050" y="3935149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AI Voice 읽어주기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4430422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Magic 으로 시작하던 이름들이 Canva AI 로 정리됐습니다. 옛 이름으로 검색하면 안 나옵니다.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[R9]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188750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시키기 전에 네 가지를 정합니다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3134154"/>
            <a:ext cx="5419725" cy="1315688"/>
          </a:xfrm>
          <a:prstGeom prst="roundRect">
            <a:avLst>
              <a:gd name="adj" fmla="val 1158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9150" y="3381804"/>
            <a:ext cx="4924425" cy="8203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29"/>
              </a:lnSpc>
              <a:spcBef>
                <a:spcPts val="0"/>
              </a:spcBef>
              <a:spcAft>
                <a:spcPts val="0"/>
              </a:spcAft>
            </a:pPr>
            <a:r>
              <a:rPr sz="2227" b="0" i="0" u="none">
                <a:solidFill>
                  <a:srgbClr val="F4F4EE"/>
                </a:solidFill>
                <a:latin typeface="Noto Sans KR"/>
                <a:ea typeface="Noto Sans KR"/>
                <a:cs typeface="Noto Sans KR"/>
              </a:rPr>
              <a:t>무엇을 + 누구에게</a:t>
            </a:r>
            <a:br/>
            <a:r>
              <a:rPr sz="2227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+ 어떤 형식 + 어떤 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0775" y="2914745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7475" y="2914745"/>
            <a:ext cx="5153025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무엇을: 3학년 곱셈 연습 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0775" y="3384328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7475" y="3384328"/>
            <a:ext cx="5153025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누구에게: 아직 구구단이 안 외워진 아이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0775" y="3853910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7475" y="3853910"/>
            <a:ext cx="5153025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형식: A4 한 장, 문제 10개, 아래에 정답칸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0775" y="4323493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7475" y="4323493"/>
            <a:ext cx="5153025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톤: 그림 많고 글자 크게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931018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그대로 쓰면 안 되는 세 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657013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2950" y="2811723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950" y="2811723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098" y="2771313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사실과 숫자</a:t>
            </a: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. 캔바는 결과물의 정확성을 보증하지 않습니다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[R10]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3290283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2950" y="3444992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3444992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098" y="3404583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맞춤법과 띄어쓰기. 학습지에 오타가 있으면 아이가 그대로 배웁니다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3923552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2950" y="4078262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50" y="4078262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098" y="4037852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삽화 속 글자. 생성된 이미지 안의 한글은 깨진 채로 나오는 일이 잦습니다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671122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의료, 자해, 성적 내용, 정치와 선거는 아예 생성이 막힙니다.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4"/>
              </a:rPr>
              <a:t>[R11]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858909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실습 ② · 10분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131285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한 문장으로 초안 뽑기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857281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2950" y="2971581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2950" y="2971581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050" y="2971648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Canva AI 입력창에 네 요소를 넣어 한 문장으로 씁니다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3447831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2950" y="3562131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950" y="3562131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3562198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결과가 마음에 안 들면 </a:t>
            </a:r>
            <a:r>
              <a:rPr sz="1551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한 요소만 바꿔</a:t>
            </a: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 다시 시킵니다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4038381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2950" y="4152681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950" y="4152681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050" y="4152748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세 번 안에 쓸 만한 초안이 나오는지 봅니다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4743231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완성이 목표가 아닙니다. 지시가 결과를 어떻게 바꾸는지 감을 잡는 시간입니다.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635320"/>
            <a:ext cx="11049000" cy="2346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u="none" spc="264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911926"/>
            <a:ext cx="11049000" cy="7242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702"/>
              </a:lnSpc>
              <a:spcBef>
                <a:spcPts val="0"/>
              </a:spcBef>
              <a:spcAft>
                <a:spcPts val="0"/>
              </a:spcAft>
            </a:pPr>
            <a:r>
              <a:rPr sz="5940" b="1" i="0" u="none">
                <a:solidFill>
                  <a:srgbClr val="FFFFFF"/>
                </a:solidFill>
                <a:latin typeface="Noto Sans KR Black"/>
                <a:ea typeface="Noto Sans KR Black"/>
                <a:cs typeface="Noto Sans KR Black"/>
              </a:rPr>
              <a:t>수업자료 </a:t>
            </a:r>
            <a:r>
              <a:rPr sz="5940" b="0" i="1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만들기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826631"/>
            <a:ext cx="11049000" cy="39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18"/>
              </a:lnSpc>
              <a:spcBef>
                <a:spcPts val="0"/>
              </a:spcBef>
              <a:spcAft>
                <a:spcPts val="0"/>
              </a:spcAft>
            </a:pPr>
            <a:r>
              <a:rPr sz="2227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학습지, 수업 슬라이드, 수준별 자료. 오늘 첫 완성본이 여기서 나옵니다.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171718"/>
            <a:ext cx="11049000" cy="3918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5"/>
              </a:lnSpc>
              <a:spcBef>
                <a:spcPts val="0"/>
              </a:spcBef>
              <a:spcAft>
                <a:spcPts val="0"/>
              </a:spcAft>
            </a:pPr>
            <a:r>
              <a:rPr sz="2804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수업자료 </a:t>
            </a:r>
            <a:r>
              <a:rPr sz="2804" b="0" i="1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여덟 자리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715976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2830276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" y="3135076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학습지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2800" y="2715976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2800" y="2830276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48050" y="3135076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활동지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34100" y="2715976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34100" y="2830276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9350" y="3135076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수업 슬라이드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2715976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2830276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0650" y="3135076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낱말 카드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3516049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" y="3630349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3935149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평가 기준표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52800" y="3516049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52800" y="3630349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🗺️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8050" y="3935149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단원 안내도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34100" y="3516049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34100" y="3630349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9350" y="3935149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보상 쿠폰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15400" y="3516049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15400" y="3630349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0650" y="3935149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모둠 역할판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" y="4430422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공통점은 하나입니다. 매년, 매 단원 다시 만드는 것들입니다.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404547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학습지 한 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130542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2950" y="2244842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950" y="2244842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2050" y="2244909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왼쪽 </a:t>
            </a:r>
            <a:r>
              <a:rPr sz="1551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업로드</a:t>
            </a: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에 교과서 해당 단원 사진이나 PDF를 넣습니다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2721092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2950" y="2835392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2835392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2050" y="2835459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Canva AI 에 네 요소로 지시합니다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3311642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2950" y="3425942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50" y="3425942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2050" y="3426009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나온 초안에서 문제 수와 난이도를 손봅니다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3902192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2950" y="4016492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950" y="4016492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2050" y="4016559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삽화가 내용과 맞는지 확인하고 어긋나면 바꿉니다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4492742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2950" y="4607042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2950" y="4607042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2050" y="4607109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PDF 인쇄용으로 내보냅니다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5197592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3번과 4번이 실제 작업입니다. 1번과 2번은 30초면 끝납니다.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677257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복사해서 쓰는 지시문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949634"/>
            <a:ext cx="11049000" cy="3227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41"/>
              </a:lnSpc>
              <a:spcBef>
                <a:spcPts val="0"/>
              </a:spcBef>
              <a:spcAft>
                <a:spcPts val="0"/>
              </a:spcAft>
            </a:pPr>
            <a:r>
              <a:rPr sz="2310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학습지 만들 때 그대로 붙여넣으세요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462841"/>
            <a:ext cx="11049000" cy="2717902"/>
          </a:xfrm>
          <a:prstGeom prst="roundRect">
            <a:avLst>
              <a:gd name="adj" fmla="val 1401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462841"/>
            <a:ext cx="19050" cy="2717902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" y="2653341"/>
            <a:ext cx="10591800" cy="23369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3학년 2학기 수학 곱셈 단원 학습지를 A4 한 장으로 만들어줘.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대상: 구구단은 외웠지만 두 자리 수 곱셈에서 자리값을 자주 틀리는 아이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문제: 10개. 앞 6개는 세로셈, 뒤 4개는 문장제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형식: 문제 사이 여백을 넉넉히, 아래쪽에 정답 칸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톤: 글자 크게, 삽화는 한두 개만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업로드한 교과서 사진의 예제와 같은 유형으로 만들어줘.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69982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수업 슬라이드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42581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2950" y="2540117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950" y="254011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2050" y="254018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Canva AI 에 </a:t>
            </a:r>
            <a:r>
              <a:rPr sz="1551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프레젠테이션으로</a:t>
            </a: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 만들어 달라고 지시합니다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301636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2950" y="3130667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313066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2050" y="313073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차시 흐름을 함께 적습니다. 도입, 활동, 정리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360691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2950" y="3721217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50" y="372121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2050" y="372128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나온 장수를 줄입니다. 대체로 너무 많이 만듭니다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419746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2950" y="4311767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950" y="431176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2050" y="431183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발표자 노트에 발문을 직접 적습니다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902317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40분 수업에 슬라이드 20장은 너무 많습니다. 8장이면 충분합니다.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2366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삽화는 어디서 가져오나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749658"/>
            <a:ext cx="5419725" cy="1638319"/>
          </a:xfrm>
          <a:prstGeom prst="roundRect">
            <a:avLst>
              <a:gd name="adj" fmla="val 232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749658"/>
            <a:ext cx="19050" cy="1638319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2921108"/>
            <a:ext cx="5038725" cy="228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0" i="0" u="none" spc="180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라이브러리에서 찾기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24518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50" y="324518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검색하면 바로 나온다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591192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3591192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품질이 일정하다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93719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393719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같은 그림을 다른 반도 쓴다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0775" y="2749658"/>
            <a:ext cx="5419725" cy="1638319"/>
          </a:xfrm>
          <a:prstGeom prst="roundRect">
            <a:avLst>
              <a:gd name="adj" fmla="val 232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0775" y="2749658"/>
            <a:ext cx="19050" cy="1638319"/>
          </a:xfrm>
          <a:prstGeom prst="rect">
            <a:avLst/>
          </a:prstGeom>
          <a:solidFill>
            <a:srgbClr val="F4F4E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275" y="2921108"/>
            <a:ext cx="5038725" cy="228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0" i="0" u="none" strike="sngStrike" spc="180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AI로 생성하기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324518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324518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정확히 원하는 장면을 만든다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275" y="3591192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3591192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월 사용량을 쓴다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275" y="393719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2725" y="393719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손가락과 글자가 자주 어긋난다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4578477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학습지 삽화는 라이브러리가 대체로 낫습니다. 생성은 라이브러리에 없는 장면일 때만.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13004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같은 자료를 세 벌로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738999"/>
            <a:ext cx="3594100" cy="1659636"/>
          </a:xfrm>
          <a:prstGeom prst="roundRect">
            <a:avLst>
              <a:gd name="adj" fmla="val 229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2910449"/>
            <a:ext cx="3289300" cy="2053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6"/>
              </a:lnSpc>
              <a:spcBef>
                <a:spcPts val="0"/>
              </a:spcBef>
              <a:spcAft>
                <a:spcPts val="0"/>
              </a:spcAft>
            </a:pPr>
            <a:r>
              <a:rPr sz="1155" b="0" i="0" u="none" spc="139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기초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3172958"/>
            <a:ext cx="3289300" cy="4274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65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23900" y="3676640"/>
            <a:ext cx="32893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문제 수를 줄이고 보기를 줍니다. 첫 문제는 풀이 과정을 미리 채워 둡니다.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8950" y="2738999"/>
            <a:ext cx="3594100" cy="1659636"/>
          </a:xfrm>
          <a:prstGeom prst="roundRect">
            <a:avLst>
              <a:gd name="adj" fmla="val 229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1350" y="2910449"/>
            <a:ext cx="3289300" cy="2053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6"/>
              </a:lnSpc>
              <a:spcBef>
                <a:spcPts val="0"/>
              </a:spcBef>
              <a:spcAft>
                <a:spcPts val="0"/>
              </a:spcAft>
            </a:pPr>
            <a:r>
              <a:rPr sz="1155" b="0" i="0" u="none" spc="139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표준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1350" y="3172958"/>
            <a:ext cx="3289300" cy="4274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65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51350" y="3676640"/>
            <a:ext cx="32893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원본 그대로 씁니다. 대다수 아이의 기준선입니다.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6400" y="2738999"/>
            <a:ext cx="3594100" cy="1659636"/>
          </a:xfrm>
          <a:prstGeom prst="roundRect">
            <a:avLst>
              <a:gd name="adj" fmla="val 229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78800" y="2910449"/>
            <a:ext cx="3289300" cy="2053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6"/>
              </a:lnSpc>
              <a:spcBef>
                <a:spcPts val="0"/>
              </a:spcBef>
              <a:spcAft>
                <a:spcPts val="0"/>
              </a:spcAft>
            </a:pPr>
            <a:r>
              <a:rPr sz="1155" b="0" i="0" u="none" spc="139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심화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8800" y="3172958"/>
            <a:ext cx="3289300" cy="4274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65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178800" y="3676640"/>
            <a:ext cx="32893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문장제 비중을 올리고 왜 그렇게 풀었는지 쓰는 칸을 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589135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완성된 학습지를 놓고 이걸 세 수준으로 나눠 달라고 시킵니다. 처음부터 세 개를 만들지 않습니다.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563634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실습 ③ · 12분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836010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학습지 완성본 하나 저장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56200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2950" y="267630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2950" y="267630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050" y="267637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내 단원 자료를 업로드합니다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315255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2950" y="326685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950" y="326685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326692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앞 슬라이드 지시문을 내 단원으로 고쳐 넣습니다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374310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2950" y="385740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950" y="385740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050" y="385747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문제 수와 삽화를 손봅니다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433365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2950" y="444795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2950" y="444795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2050" y="444802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PDF 인쇄용</a:t>
            </a: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으로 내보내 캔바실습 폴더에 저장합니다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5038506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오늘의 첫 결과물입니다. 여기까지 하면 절반은 끝났습니다.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837563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내보내기 전 네 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563558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2950" y="2718268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950" y="2718268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098" y="2677858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숫자와 정답을 </a:t>
            </a:r>
            <a:r>
              <a:rPr sz="1567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직접 풀어서</a:t>
            </a: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 확인했습니다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3196828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2950" y="3351538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3351538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098" y="3311128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삽화가 내용과 맞고 이상한 글자가 없습니다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3830098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2950" y="3984808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50" y="3984808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098" y="3944398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인쇄 여백 안에 글자가 다 들어와 있습니다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4463367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2950" y="4618077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950" y="4618077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098" y="4577667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파일 이름에 학년, 단원, 날짜를 넣었습니다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635320"/>
            <a:ext cx="11049000" cy="2346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u="none" spc="264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911926"/>
            <a:ext cx="11049000" cy="7242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702"/>
              </a:lnSpc>
              <a:spcBef>
                <a:spcPts val="0"/>
              </a:spcBef>
              <a:spcAft>
                <a:spcPts val="0"/>
              </a:spcAft>
            </a:pPr>
            <a:r>
              <a:rPr sz="5940" b="1" i="0" u="none">
                <a:solidFill>
                  <a:srgbClr val="FFFFFF"/>
                </a:solidFill>
                <a:latin typeface="Noto Sans KR Black"/>
                <a:ea typeface="Noto Sans KR Black"/>
                <a:cs typeface="Noto Sans KR Black"/>
              </a:rPr>
              <a:t>학급 </a:t>
            </a:r>
            <a:r>
              <a:rPr sz="5940" b="0" i="1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운영물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826631"/>
            <a:ext cx="11049000" cy="39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18"/>
              </a:lnSpc>
              <a:spcBef>
                <a:spcPts val="0"/>
              </a:spcBef>
              <a:spcAft>
                <a:spcPts val="0"/>
              </a:spcAft>
            </a:pPr>
            <a:r>
              <a:rPr sz="2227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게시물, 가정통신문, 학부모 안내. 만드는 법은 같고 지켜야 할 것이 다릅니다.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109016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학급 운영에서 반복되는 자리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911211"/>
            <a:ext cx="552450" cy="269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매주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5400" y="2911211"/>
            <a:ext cx="10325100" cy="4415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주간학습 안내, 알림장 정리, 시간표 변경 공지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3276590"/>
            <a:ext cx="11049000" cy="9525"/>
          </a:xfrm>
          <a:prstGeom prst="rect">
            <a:avLst/>
          </a:prstGeom>
          <a:solidFill>
            <a:srgbClr val="F4F4E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3419465"/>
            <a:ext cx="552450" cy="269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매달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400" y="3419465"/>
            <a:ext cx="10325100" cy="4415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생일 축하 게시물, 이달의 급훈, 학급 소식지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3784844"/>
            <a:ext cx="11049000" cy="9525"/>
          </a:xfrm>
          <a:prstGeom prst="rect">
            <a:avLst/>
          </a:prstGeom>
          <a:solidFill>
            <a:srgbClr val="F4F4E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3927719"/>
            <a:ext cx="552450" cy="269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학기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3927719"/>
            <a:ext cx="10325100" cy="4415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환경판 전체 교체, </a:t>
            </a:r>
            <a:r>
              <a:rPr sz="151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학부모 총회 자료</a:t>
            </a:r>
            <a:r>
              <a:rPr sz="1518" b="0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, 상장과 수료증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4293098"/>
            <a:ext cx="11049000" cy="9525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" y="4493123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주기가 있다는 것은 템플릿으로 만들 수 있다는 뜻입니다.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69982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게시물과 환경판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42581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2950" y="2540117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950" y="254011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2050" y="254018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크기를 먼저 정합니다. 환경판은 A3, 복도 게시는 A2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301636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2950" y="3130667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313066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2050" y="313073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Canva AI 에 용도와 크기를 함께 말합니다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360691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2950" y="3721217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50" y="372121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2050" y="372128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글자 크기를 </a:t>
            </a:r>
            <a:r>
              <a:rPr sz="1551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교실 뒤에서 보이게</a:t>
            </a: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 키웁니다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419746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2950" y="4311767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950" y="431176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2050" y="431183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인쇄용 PDF로 내보냅니다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902317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화면에서 적당해 보이는 글자는 게시하면 작습니다. 한 단계 더 키우세요.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69982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가정통신문과 학부모 안내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42581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2950" y="2540117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950" y="254011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2050" y="254018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학교 서식이 있으면 </a:t>
            </a:r>
            <a:r>
              <a:rPr sz="1551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먼저 업로드</a:t>
            </a: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301636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2950" y="3130667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313066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2050" y="313073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담을 내용을 항목으로 적어 지시합니다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360691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2950" y="3721217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50" y="372121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2050" y="372128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날짜, 시간, 준비물, 연락처를 원문과 대조합니다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419746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2950" y="4311767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950" y="431176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2050" y="431183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존댓말과 문장 길이를 다듬습니다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902317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3번은 건너뛰지 마세요. 날짜 하나가 틀리면 전화가 서른 통 옵니다.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093032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복사해서 쓰는 지시문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365409"/>
            <a:ext cx="11049000" cy="3227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41"/>
              </a:lnSpc>
              <a:spcBef>
                <a:spcPts val="0"/>
              </a:spcBef>
              <a:spcAft>
                <a:spcPts val="0"/>
              </a:spcAft>
            </a:pPr>
            <a:r>
              <a:rPr sz="2310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가정통신문 만들 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878616"/>
            <a:ext cx="11049000" cy="3886352"/>
          </a:xfrm>
          <a:prstGeom prst="roundRect">
            <a:avLst>
              <a:gd name="adj" fmla="val 980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1878616"/>
            <a:ext cx="19050" cy="3886352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" y="2069116"/>
            <a:ext cx="10591800" cy="3505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3학년 2반 학부모님께 보낼 현장체험학습 안내 통신문을 만들어줘.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담을 내용: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- 날짜: 10월 15일 (수), 8시 30분 출발 / 15시 30분 귀교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- 장소: 국립과천과학관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- 준비물: 도시락, 물, 편한 신발, 우비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- 회신: 10월 8일까지 참가 동의서 제출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형식: A4 한 장. 위쪽에 안내문, 아래쪽에 잘라서 내는 회신란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톤: 정중하되 문장은 짧게. 훑어봐도 준비물이 보이게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업로드한 학교 서식의 머리글과 글꼴을 그대로 써줘.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837563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인쇄에서 자주 나는 사고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563558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2950" y="2718268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950" y="2718268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098" y="2677858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가장자리가 잘렸다. </a:t>
            </a:r>
            <a:r>
              <a:rPr sz="1567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인쇄 여백</a:t>
            </a: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 밖에 요소를 두었습니다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3196828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2950" y="3351538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3351538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098" y="3311128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화면과 색이 다르다. 내보낼 때 PDF 인쇄용을 고릅니다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3830098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2950" y="3984808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50" y="3984808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098" y="3944398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그림이 뿌옇다. 작은 이미지를 크게 늘렸습니다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4463367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2950" y="4618077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950" y="4618077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098" y="4577667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이미지만 따로 못 쓴다. Pro 요소는 단독 배포가 안 됩니다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[R12]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563634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실습 ④ · 10분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836010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학급 게시물 하나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56200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2950" y="267630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2950" y="267630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050" y="267637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이번 달에 </a:t>
            </a:r>
            <a:r>
              <a:rPr sz="1551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실제로 필요한</a:t>
            </a: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 게시물을 하나 고릅니다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315255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2950" y="326685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950" y="326685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326692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크기를 정하고 Canva AI 에 지시합니다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374310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2950" y="385740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950" y="385740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050" y="385747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글자를 교실 뒤에서 보일 크기로 키웁니다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433365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2950" y="444795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2950" y="444795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2050" y="444802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폴더에 저장합니다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5038506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두 번째 결과물입니다. 가상의 예시 말고 진짜 필요한 것으로 하세요.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635320"/>
            <a:ext cx="11049000" cy="2346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u="none" spc="264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911926"/>
            <a:ext cx="11049000" cy="7242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702"/>
              </a:lnSpc>
              <a:spcBef>
                <a:spcPts val="0"/>
              </a:spcBef>
              <a:spcAft>
                <a:spcPts val="0"/>
              </a:spcAft>
            </a:pPr>
            <a:r>
              <a:rPr sz="5940" b="1" i="0" u="none">
                <a:solidFill>
                  <a:srgbClr val="FFFFFF"/>
                </a:solidFill>
                <a:latin typeface="Noto Sans KR Black"/>
                <a:ea typeface="Noto Sans KR Black"/>
                <a:cs typeface="Noto Sans KR Black"/>
              </a:rPr>
              <a:t>지켜야 할 </a:t>
            </a:r>
            <a:r>
              <a:rPr sz="5940" b="0" i="1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826631"/>
            <a:ext cx="11049000" cy="39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18"/>
              </a:lnSpc>
              <a:spcBef>
                <a:spcPts val="0"/>
              </a:spcBef>
              <a:spcAft>
                <a:spcPts val="0"/>
              </a:spcAft>
            </a:pPr>
            <a:r>
              <a:rPr sz="2227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여기부터는 몰라서 넘으면 문제가 되는 자리입니다. 네 가지만 기억하면 됩니다.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2366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교육용 계정으로 되는 것과 안 되는 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749658"/>
            <a:ext cx="5419725" cy="1638319"/>
          </a:xfrm>
          <a:prstGeom prst="roundRect">
            <a:avLst>
              <a:gd name="adj" fmla="val 232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749658"/>
            <a:ext cx="19050" cy="1638319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2921108"/>
            <a:ext cx="5038725" cy="228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0" i="0" u="none" spc="180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24518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50" y="324518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학습지, 게시물, 가정통신문 </a:t>
            </a:r>
            <a:r>
              <a:rPr sz="141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수량 제한 없이</a:t>
            </a: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 인쇄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591192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3591192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학교 안에서 동료 교사와 공유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93719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393719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학교 홈페이지와 학급 알림장에 게시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0775" y="2749658"/>
            <a:ext cx="5419725" cy="1638319"/>
          </a:xfrm>
          <a:prstGeom prst="roundRect">
            <a:avLst>
              <a:gd name="adj" fmla="val 232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0775" y="2749658"/>
            <a:ext cx="19050" cy="1638319"/>
          </a:xfrm>
          <a:prstGeom prst="rect">
            <a:avLst/>
          </a:prstGeom>
          <a:solidFill>
            <a:srgbClr val="F4F4E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275" y="2921108"/>
            <a:ext cx="5038725" cy="228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0" i="0" u="none" strike="sngStrike" spc="180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안 됩니다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324518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324518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자료를 판매하거나 유료 강의에 사용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275" y="3591192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3591192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학원, 과외, 부업 홍보물 제작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275" y="393719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2725" y="393719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캔바 요소만 빼서 따로 배포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4578477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교육용 계정은 교육 목적, 비상업 용도 전용입니다. 상업적으로 쓰려면 별도 계정을 만들어야 합니다.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[R12]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4"/>
              </a:rPr>
              <a:t>[R17]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887274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AI가 만든 그림은 누구 것인가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613269"/>
            <a:ext cx="3594100" cy="1911096"/>
          </a:xfrm>
          <a:prstGeom prst="roundRect">
            <a:avLst>
              <a:gd name="adj" fmla="val 199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2784719"/>
            <a:ext cx="3289300" cy="2053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6"/>
              </a:lnSpc>
              <a:spcBef>
                <a:spcPts val="0"/>
              </a:spcBef>
              <a:spcAft>
                <a:spcPts val="0"/>
              </a:spcAft>
            </a:pPr>
            <a:r>
              <a:rPr sz="1155" b="0" i="0" u="none" spc="139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내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3047228"/>
            <a:ext cx="3289300" cy="4274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65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23900" y="3550910"/>
            <a:ext cx="32893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AI에 넣은 지시문과 나온 결과물은 내 것입니다. 어떤 합법적 용도로든 씁니다.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[R10]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8950" y="2613269"/>
            <a:ext cx="3594100" cy="1911096"/>
          </a:xfrm>
          <a:prstGeom prst="roundRect">
            <a:avLst>
              <a:gd name="adj" fmla="val 199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1350" y="2784719"/>
            <a:ext cx="3289300" cy="2053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6"/>
              </a:lnSpc>
              <a:spcBef>
                <a:spcPts val="0"/>
              </a:spcBef>
              <a:spcAft>
                <a:spcPts val="0"/>
              </a:spcAft>
            </a:pPr>
            <a:r>
              <a:rPr sz="1155" b="0" i="0" u="none" spc="139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내 것이 아님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1350" y="3047228"/>
            <a:ext cx="3289300" cy="4274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65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51350" y="3550910"/>
            <a:ext cx="32893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캔바 라이브러리 사진을 AI로 편집한 결과물은 소유가 아니라 라이선스입니다.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[R10]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6400" y="2613269"/>
            <a:ext cx="3594100" cy="1911096"/>
          </a:xfrm>
          <a:prstGeom prst="roundRect">
            <a:avLst>
              <a:gd name="adj" fmla="val 199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78800" y="2784719"/>
            <a:ext cx="3289300" cy="2053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6"/>
              </a:lnSpc>
              <a:spcBef>
                <a:spcPts val="0"/>
              </a:spcBef>
              <a:spcAft>
                <a:spcPts val="0"/>
              </a:spcAft>
            </a:pPr>
            <a:r>
              <a:rPr sz="1155" b="0" i="0" u="none" spc="139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저작권 등록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8800" y="3047228"/>
            <a:ext cx="3289300" cy="4274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65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178800" y="3550910"/>
            <a:ext cx="3289300" cy="754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지시문만 넣은 결과물은 등록 대상이 아닙니다. 고르고 배열한 창작성이 있어야 합니다.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4"/>
              </a:rPr>
              <a:t>[R13]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14865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AI가 만든 것을 사람이 만든 것처럼 표시하지 않습니다. 출처 정보를 지우는 것도 약관 위반입니다.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2366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학생이 직접 써도 되나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749658"/>
            <a:ext cx="5419725" cy="1638319"/>
          </a:xfrm>
          <a:prstGeom prst="roundRect">
            <a:avLst>
              <a:gd name="adj" fmla="val 232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749658"/>
            <a:ext cx="19050" cy="1638319"/>
          </a:xfrm>
          <a:prstGeom prst="rect">
            <a:avLst/>
          </a:prstGeom>
          <a:solidFill>
            <a:srgbClr val="F4F4E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2921108"/>
            <a:ext cx="5038725" cy="228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0" i="0" u="none" strike="sngStrike" spc="180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캔바 정책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24518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50" y="324518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AI 기능은 13세 이상이 원칙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591192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3591192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단 Canva Education 안에서 </a:t>
            </a:r>
            <a:r>
              <a:rPr sz="141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교사 감독</a:t>
            </a: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 하에는 예외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[R11]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4"/>
              </a:rPr>
              <a:t>[R14]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93719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393719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학생 계정은 일부 생성 AI가 기본 차단, 교사가 엽니다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5"/>
              </a:rPr>
              <a:t>[R8]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0775" y="2749658"/>
            <a:ext cx="5419725" cy="1638319"/>
          </a:xfrm>
          <a:prstGeom prst="roundRect">
            <a:avLst>
              <a:gd name="adj" fmla="val 232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0775" y="2749658"/>
            <a:ext cx="19050" cy="1638319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275" y="2921108"/>
            <a:ext cx="5038725" cy="228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0" i="0" u="none" spc="180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교육청 지침이 실제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324518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324518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서울 기준 초등은 </a:t>
            </a:r>
            <a:r>
              <a:rPr sz="141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교사 시연으로 간접 체험</a:t>
            </a: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이 기본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275" y="3591192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3591192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교사가 안정성을 확보하면 직접 사용 가능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6"/>
              </a:rPr>
              <a:t>[R1]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7"/>
              </a:rPr>
              <a:t>[R16]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275" y="393719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2725" y="393719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점수에 반영되는 평가 중에는 모든 학년 사용 금지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4578477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캔바가 허용해도 우리 교육청 지침이 더 엄격하면 그쪽을 따릅니다. 소속 교육청 지침을 꼭 확인하세요.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614383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 네 줄만 지키면 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340378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2950" y="2495088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950" y="2495088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098" y="2454678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학생 </a:t>
            </a:r>
            <a:r>
              <a:rPr sz="1567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이름과 사진</a:t>
            </a: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은 AI 입력창에 넣지 않습니다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[R5]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2973648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2950" y="3128358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3128358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098" y="3087948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교육용 계정으로 만든 것은 팔지 않습니다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3606917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2950" y="3761627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50" y="3761627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098" y="3721217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학생이 직접 쓸 때는 소속 교육청 지침을 먼저 확인합니다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4240187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2950" y="4394897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950" y="4394897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098" y="4354487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사실과 숫자는 내보내기 전에 직접 확인합니다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987757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학생정보를 동의 없이 제3자에게 제공하면 3년 이하 징역 또는 3천만원 이하 벌금입니다.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4"/>
              </a:rPr>
              <a:t>[R2]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635320"/>
            <a:ext cx="11049000" cy="2346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u="none" spc="264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911926"/>
            <a:ext cx="11049000" cy="7242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702"/>
              </a:lnSpc>
              <a:spcBef>
                <a:spcPts val="0"/>
              </a:spcBef>
              <a:spcAft>
                <a:spcPts val="0"/>
              </a:spcAft>
            </a:pPr>
            <a:r>
              <a:rPr sz="5940" b="1" i="0" u="none">
                <a:solidFill>
                  <a:srgbClr val="FFFFFF"/>
                </a:solidFill>
                <a:latin typeface="Noto Sans KR Black"/>
                <a:ea typeface="Noto Sans KR Black"/>
                <a:cs typeface="Noto Sans KR Black"/>
              </a:rPr>
              <a:t>한 번 만들고 </a:t>
            </a:r>
            <a:r>
              <a:rPr sz="5940" b="0" i="1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계속 쓰기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826631"/>
            <a:ext cx="11049000" cy="396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18"/>
              </a:lnSpc>
              <a:spcBef>
                <a:spcPts val="0"/>
              </a:spcBef>
              <a:spcAft>
                <a:spcPts val="0"/>
              </a:spcAft>
            </a:pPr>
            <a:r>
              <a:rPr sz="2227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오늘 만든 것이 오늘로 끝나면 내년에 또 처음부터 합니다.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69982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템플릿으로 저장하기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42581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2950" y="2540117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950" y="254011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2050" y="254018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완성한 디자인에서 파일, 사본 만들기를 누릅니다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301636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2950" y="3130667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313066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2050" y="313073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사본 이름을 </a:t>
            </a:r>
            <a:r>
              <a:rPr sz="1551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[템플릿]</a:t>
            </a: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으로 시작하게 바꿉니다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360691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2950" y="3721217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50" y="372121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2050" y="372128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단원 이름, 날짜처럼 매번 바뀌는 자리를 ○○○으로 비웁니다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419746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2950" y="4311767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950" y="431176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2050" y="431183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템플릿 폴더에 넣습니다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902317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비워 두는 것이 핵심입니다. 지난 단원 내용이 남아 있으면 다음에 고치다가 놓칩니다.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13004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학교 색과 로고 고정하기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738999"/>
            <a:ext cx="3594100" cy="1659636"/>
          </a:xfrm>
          <a:prstGeom prst="roundRect">
            <a:avLst>
              <a:gd name="adj" fmla="val 229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2910449"/>
            <a:ext cx="3289300" cy="2053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6"/>
              </a:lnSpc>
              <a:spcBef>
                <a:spcPts val="0"/>
              </a:spcBef>
              <a:spcAft>
                <a:spcPts val="0"/>
              </a:spcAft>
            </a:pPr>
            <a:r>
              <a:rPr sz="1155" b="0" i="0" u="none" spc="139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로고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3172958"/>
            <a:ext cx="3289300" cy="4274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65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23900" y="3676640"/>
            <a:ext cx="32893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학교 로고를 한 번 올려두면 모든 디자인에서 꺼내 씁니다.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8950" y="2738999"/>
            <a:ext cx="3594100" cy="1659636"/>
          </a:xfrm>
          <a:prstGeom prst="roundRect">
            <a:avLst>
              <a:gd name="adj" fmla="val 229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1350" y="2910449"/>
            <a:ext cx="3289300" cy="2053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6"/>
              </a:lnSpc>
              <a:spcBef>
                <a:spcPts val="0"/>
              </a:spcBef>
              <a:spcAft>
                <a:spcPts val="0"/>
              </a:spcAft>
            </a:pPr>
            <a:r>
              <a:rPr sz="1155" b="0" i="0" u="none" spc="139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1350" y="3172958"/>
            <a:ext cx="3289300" cy="4274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65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51350" y="3676640"/>
            <a:ext cx="32893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학교 상징색을 등록하면 색상 팔레트 맨 앞에 나옵니다.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6400" y="2738999"/>
            <a:ext cx="3594100" cy="1659636"/>
          </a:xfrm>
          <a:prstGeom prst="roundRect">
            <a:avLst>
              <a:gd name="adj" fmla="val 229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78800" y="2910449"/>
            <a:ext cx="3289300" cy="2053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6"/>
              </a:lnSpc>
              <a:spcBef>
                <a:spcPts val="0"/>
              </a:spcBef>
              <a:spcAft>
                <a:spcPts val="0"/>
              </a:spcAft>
            </a:pPr>
            <a:r>
              <a:rPr sz="1155" b="0" i="0" u="none" spc="139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글꼴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8800" y="3172958"/>
            <a:ext cx="3289300" cy="4274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65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178800" y="3676640"/>
            <a:ext cx="32893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학년에서 쓰는 글꼴을 정해두면 자료마다 통일됩니다.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589135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학년 단위로 한 번 맞춰두면 누가 만들어도 같은 모양이 나옵니다.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13004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폴더와 동료 공유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738999"/>
            <a:ext cx="3594100" cy="1659636"/>
          </a:xfrm>
          <a:prstGeom prst="roundRect">
            <a:avLst>
              <a:gd name="adj" fmla="val 229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2910449"/>
            <a:ext cx="3289300" cy="2053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6"/>
              </a:lnSpc>
              <a:spcBef>
                <a:spcPts val="0"/>
              </a:spcBef>
              <a:spcAft>
                <a:spcPts val="0"/>
              </a:spcAft>
            </a:pPr>
            <a:r>
              <a:rPr sz="1155" b="0" i="0" u="none" spc="139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폴더는 목적별로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3172958"/>
            <a:ext cx="3289300" cy="4274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65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23900" y="3676640"/>
            <a:ext cx="32893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학년, 과목, 학기로 나눕니다. 한 폴더에 한 가지 목적만 담습니다.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8950" y="2738999"/>
            <a:ext cx="3594100" cy="1659636"/>
          </a:xfrm>
          <a:prstGeom prst="roundRect">
            <a:avLst>
              <a:gd name="adj" fmla="val 229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1350" y="2910449"/>
            <a:ext cx="3289300" cy="2053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6"/>
              </a:lnSpc>
              <a:spcBef>
                <a:spcPts val="0"/>
              </a:spcBef>
              <a:spcAft>
                <a:spcPts val="0"/>
              </a:spcAft>
            </a:pPr>
            <a:r>
              <a:rPr sz="1155" b="0" i="0" u="none" spc="139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공유는 폴더째로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1350" y="3172958"/>
            <a:ext cx="3289300" cy="4274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65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51350" y="3676640"/>
            <a:ext cx="32893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파일 하나씩 보내지 말고 폴더 권한을 줍니다. 수정하면 자동 반영됩니다.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6400" y="2738999"/>
            <a:ext cx="3594100" cy="1659636"/>
          </a:xfrm>
          <a:prstGeom prst="roundRect">
            <a:avLst>
              <a:gd name="adj" fmla="val 229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78800" y="2910449"/>
            <a:ext cx="3289300" cy="2053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16"/>
              </a:lnSpc>
              <a:spcBef>
                <a:spcPts val="0"/>
              </a:spcBef>
              <a:spcAft>
                <a:spcPts val="0"/>
              </a:spcAft>
            </a:pPr>
            <a:r>
              <a:rPr sz="1155" b="0" i="0" u="none" spc="139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이름 규칙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8800" y="3172958"/>
            <a:ext cx="3289300" cy="4274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65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178800" y="3676640"/>
            <a:ext cx="32893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학년_단원_자료종류_날짜. 검색으로 찾을 수 있어야 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589135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학교 밖으로 공유할 때는 학생 정보가 들어 있지 않은지 다시 봅니다.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563634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실습 ⑤ · 12분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836010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내 자료 하나를 템플릿으로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56200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2950" y="267630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2950" y="267630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050" y="267637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오늘 만든 학습지나 게시물 중 하나를 고릅니다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315255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2950" y="326685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950" y="326685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326692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사본을 만들고 이름 앞에 </a:t>
            </a:r>
            <a:r>
              <a:rPr sz="1551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[템플릿]</a:t>
            </a: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을 붙입니다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374310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2950" y="385740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950" y="385740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050" y="385747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매번 바뀌는 자리를 비웁니다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433365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2950" y="444795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2950" y="444795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2050" y="444802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다음에 쓸 단원을 하나 정해 지금 채워 봅니다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5038506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세 번째 결과물입니다. 4번까지 하면 이 방식이 실제로 도는지 확인됩니다.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520928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안 될 때 여기부터 보세요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246924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2950" y="2401634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950" y="2401634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098" y="2361224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AI 기능이 안 보인다. 일반 계정으로 로그인했을 수 있습니다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2880193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2950" y="3034903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3034903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098" y="2994493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이번 달 생성이 안 된다. 월 사용량을 다 썼습니다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3513463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2950" y="3668173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50" y="3668173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098" y="3627763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특정 주제가 계속 막힌다. 정책상 차단된 주제입니다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4146733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2950" y="4301442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950" y="4301442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098" y="4261033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학생이 앱을 못 쓴다. 관리자가 설정에서 열어야 합니다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4780002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2950" y="4934712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2950" y="4934712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098" y="4894302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한글이 깨져 나온다. </a:t>
            </a:r>
            <a:r>
              <a:rPr sz="1567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글자는 텍스트 상자로</a:t>
            </a: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 따로 얹으세요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21337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교육용 계정으로 어디까지 되나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939367"/>
            <a:ext cx="2633662" cy="1258900"/>
          </a:xfrm>
          <a:prstGeom prst="roundRect">
            <a:avLst>
              <a:gd name="adj" fmla="val 3026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3148917"/>
            <a:ext cx="2633662" cy="572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290"/>
              </a:lnSpc>
              <a:spcBef>
                <a:spcPts val="0"/>
              </a:spcBef>
              <a:spcAft>
                <a:spcPts val="0"/>
              </a:spcAft>
            </a:pPr>
            <a:r>
              <a:rPr sz="4290" b="1" i="0" u="none">
                <a:solidFill>
                  <a:srgbClr val="00E054"/>
                </a:solidFill>
                <a:latin typeface="Noto Sans KR Black"/>
                <a:ea typeface="Noto Sans KR Black"/>
                <a:cs typeface="Noto Sans KR Black"/>
              </a:rPr>
              <a:t>무료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50" y="3769947"/>
            <a:ext cx="2290762" cy="125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현직 K-12 교사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6612" y="2939367"/>
            <a:ext cx="2633662" cy="1258900"/>
          </a:xfrm>
          <a:prstGeom prst="roundRect">
            <a:avLst>
              <a:gd name="adj" fmla="val 3026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76612" y="3148917"/>
            <a:ext cx="2633662" cy="572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290"/>
              </a:lnSpc>
              <a:spcBef>
                <a:spcPts val="0"/>
              </a:spcBef>
              <a:spcAft>
                <a:spcPts val="0"/>
              </a:spcAft>
            </a:pPr>
            <a:r>
              <a:rPr sz="4290" b="1" i="0" u="none">
                <a:solidFill>
                  <a:srgbClr val="00E054"/>
                </a:solidFill>
                <a:latin typeface="Noto Sans KR Black"/>
                <a:ea typeface="Noto Sans KR Black"/>
                <a:cs typeface="Noto Sans KR Black"/>
              </a:rPr>
              <a:t>2,000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8062" y="3769947"/>
            <a:ext cx="2290762" cy="125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월 기본 AI 사용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725" y="2939367"/>
            <a:ext cx="2633662" cy="1258900"/>
          </a:xfrm>
          <a:prstGeom prst="roundRect">
            <a:avLst>
              <a:gd name="adj" fmla="val 3026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1725" y="3148917"/>
            <a:ext cx="2633662" cy="572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290"/>
              </a:lnSpc>
              <a:spcBef>
                <a:spcPts val="0"/>
              </a:spcBef>
              <a:spcAft>
                <a:spcPts val="0"/>
              </a:spcAft>
            </a:pPr>
            <a:r>
              <a:rPr sz="4290" b="1" i="0" u="none">
                <a:solidFill>
                  <a:srgbClr val="00E054"/>
                </a:solidFill>
                <a:latin typeface="Noto Sans KR Black"/>
                <a:ea typeface="Noto Sans KR Black"/>
                <a:cs typeface="Noto Sans KR Black"/>
              </a:rPr>
              <a:t>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3175" y="3769947"/>
            <a:ext cx="2290762" cy="125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월 이미지·디자인 생성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86838" y="2939367"/>
            <a:ext cx="2633662" cy="1258900"/>
          </a:xfrm>
          <a:prstGeom prst="roundRect">
            <a:avLst>
              <a:gd name="adj" fmla="val 3026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86838" y="3148917"/>
            <a:ext cx="2633662" cy="572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290"/>
              </a:lnSpc>
              <a:spcBef>
                <a:spcPts val="0"/>
              </a:spcBef>
              <a:spcAft>
                <a:spcPts val="0"/>
              </a:spcAft>
            </a:pPr>
            <a:r>
              <a:rPr sz="4290" b="1" i="0" u="none">
                <a:solidFill>
                  <a:srgbClr val="00E054"/>
                </a:solidFill>
                <a:latin typeface="Noto Sans KR Black"/>
                <a:ea typeface="Noto Sans KR Black"/>
                <a:cs typeface="Noto Sans KR Black"/>
              </a:rPr>
              <a:t>3년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58288" y="3769947"/>
            <a:ext cx="2290762" cy="125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재인증 주기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388768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Canva Pro 와 같은 수준이고 팀원 각자에게 개별 할당됩니다. 합산되거나 공유되지 않습니다.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[R7]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4"/>
              </a:rPr>
              <a:t>[R6]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69982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다음 30일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42581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2950" y="2540117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950" y="254011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2050" y="254018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오늘 저녁, 만든 템플릿 폴더에 </a:t>
            </a:r>
            <a:r>
              <a:rPr sz="1551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내 자료 세 개</a:t>
            </a: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를 더 넣습니다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301636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2950" y="3130667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313066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2050" y="313073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이번 주 안에, 템플릿으로 다음 단원 학습지를 한 장 뽑습니다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360691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2950" y="3721217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50" y="372121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2050" y="372128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이번 달 안에, 학년 협의회에서 학교 색과 로고 세팅을 제안합니다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419746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2950" y="4311767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950" y="431176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2050" y="431183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소속 교육청의 생성형 AI 지침을 찾아 읽습니다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902317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네 번째는 오늘 다루지 못한 부분입니다. 저희는 서울 기준만 확인했습니다.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789081"/>
            <a:ext cx="1104900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919"/>
              </a:lnSpc>
              <a:spcBef>
                <a:spcPts val="0"/>
              </a:spcBef>
              <a:spcAft>
                <a:spcPts val="0"/>
              </a:spcAft>
            </a:pPr>
            <a:r>
              <a:rPr sz="8250" b="1" i="0" u="none">
                <a:solidFill>
                  <a:srgbClr val="FFFFFF"/>
                </a:solidFill>
                <a:latin typeface="Noto Sans KR Black"/>
                <a:ea typeface="Noto Sans KR Black"/>
                <a:cs typeface="Noto Sans KR Black"/>
              </a:rPr>
              <a:t>여기까지입니다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908078"/>
            <a:ext cx="11049000" cy="7920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18"/>
              </a:lnSpc>
              <a:spcBef>
                <a:spcPts val="0"/>
              </a:spcBef>
              <a:spcAft>
                <a:spcPts val="0"/>
              </a:spcAft>
            </a:pPr>
            <a:r>
              <a:rPr sz="2227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오늘 만든 템플릿 폴더는 지우지 마세요.</a:t>
            </a:r>
            <a:br/>
            <a:r>
              <a:rPr sz="2227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다음 단원 자료를 넣는 순간부터 값을 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783997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783997"/>
            <a:ext cx="107823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캔바실습 폴더에 학습지, 게시물, 템플릿 세 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253579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4253579"/>
            <a:ext cx="107823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배포 폴더에 슬라이드와 복사용 지시문 두 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23162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723162"/>
            <a:ext cx="107823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안 될 때 볼 곳은 38번 슬라이드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669455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SOURCES · 1/3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94183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출처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667828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1667828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5325" y="1782128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[R1]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학교급별 생성형 AI 활용 지침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서울특별시교육청 · 2023-08-29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[원문]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2438743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438743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5325" y="2553043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[R2]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교육기본법 제23조의3 학생정보의 보호원칙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CaseNote 법령 데이터베이스 · 법률 조문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4"/>
              </a:rPr>
              <a:t>[원문]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3209658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209658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5325" y="3323958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[R3]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Canva Licensing Explained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Daily Creative Co · 2025-08-25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5"/>
              </a:rPr>
              <a:t>[원문]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3980574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3980574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5325" y="4094874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[R4]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2025 생성형 AI 저작권 등록 안내서 총정리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디지털 인사이트 · 발행일 미표기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6"/>
              </a:rPr>
              <a:t>[원문]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4751489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" y="4751489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5325" y="4865789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[R5]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교육 분야의 개인정보보호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법제처 찾기쉬운 생활법령정보 · 발행일 미표기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7"/>
              </a:rPr>
              <a:t>[원문]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5522405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1500" y="5522405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325" y="5636705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[R6]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Education Eligibility Requirements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Canva · 2026-08-06 확인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8"/>
              </a:rPr>
              <a:t>[원문]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669455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SOURCES · 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94183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출처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667828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1667828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5325" y="1782128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[R7]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Understanding your AI usage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Canva Help Center · 2026-08-06 확인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[원문]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2438743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438743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5325" y="2553043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[R8]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App Restrictions for Students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Canva Help Center · 2026-08-06 확인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4"/>
              </a:rPr>
              <a:t>[원문]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3209658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209658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5325" y="3323958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[R9]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Canva AI 헬프센터 허브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Canva Help Center · 2026-08-06 확인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5"/>
              </a:rPr>
              <a:t>[원문]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3980574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3980574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5325" y="4094874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[R10]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AI Product Terms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Canva · 2026-06-26 발효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6"/>
              </a:rPr>
              <a:t>[원문]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4751489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" y="4751489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5325" y="4865789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[R11]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AI Safety at Canva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Canva · 2026-08-06 확인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7"/>
              </a:rPr>
              <a:t>[원문]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5522405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1500" y="5522405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325" y="5636705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[R12]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Canva's Content License Agreement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Canva · 2026-08-06 확인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8"/>
              </a:rPr>
              <a:t>[원문]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ithg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054913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SOURCES · 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327290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출처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053285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053285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5325" y="2167585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[R13]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생성형 인공지능 활용 저작물의 저작권 등록 안내서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한국저작권위원회 · 2025-06-30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[원문]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2824201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824201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5325" y="2938501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[R14]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What is Canva? eSafety Guide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eSafety Commissioner 호주 정부 · 발행일 미표기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4"/>
              </a:rPr>
              <a:t>[원문]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3595116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595116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5325" y="3709416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[R15]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수행평가 시, 인공지능 활용 관리 방안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교육부 · 2025-12-23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5"/>
              </a:rPr>
              <a:t>[원문]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4366031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4366031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5325" y="4480331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[R16]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서울 학생 위한 생성형AI 가이드라인 신설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세계일보 · 2023-08-19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6"/>
              </a:rPr>
              <a:t>[원문]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5136947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" y="5136947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5325" y="5251247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[R17]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Canva for Education 2026 All You Need to Know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Style Factory Productions · 2026-01-08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7"/>
              </a:rPr>
              <a:t>[원문]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E054"/>
      </a:hlink>
      <a:folHlink>
        <a:srgbClr val="00E05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