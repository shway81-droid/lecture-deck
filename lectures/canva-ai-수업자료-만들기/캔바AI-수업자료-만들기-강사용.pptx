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인사. 오늘은 설명을 듣는 시간이 아니라 만드는 시간입니다. 끝날 때 각자 폴더에 완성본 세 개가 남아 있는 것이 목표입니다.</a:t>
            </a:r>
          </a:p>
          <a:p>
            <a:r>
              <a:t>큐: 손 들어보게 하기. 캔바 써보신 분? 매직 기능까지 써보신 분? 미리 만들어둔 완성 폴더를 옆 화면에 띄워두고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시간을 과장하지 마세요. AI가 처음 뽑는 초안은 대체로 60점입니다. 우리가 버는 건 빈 화면에서 시작하지 않는 것이고, 나머지 40점은 여전히 선생님 몫입니다. 이 프레임을 처음에 못 박아야 뒤에 나오는 검수 슬라이드가 잔소리로 안 들립니다.</a:t>
            </a:r>
          </a:p>
          <a:p>
            <a:r>
              <a:t>큐: 오른쪽 두 번째 줄을 짚으면서 저작권 이야기는 4부에서 다시 한다고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결과물부터 보여줍니다. 미리 만들어 둔 실물 세 개를 화면에 띄우세요. "이걸 오늘 각자 만듭니다"가 "캔바 AI를 배웁니다"보다 훨씬 강합니다.</a:t>
            </a:r>
          </a:p>
          <a:p>
            <a:r>
              <a:t>큐: 네 번째 항목은 지금 설명하지 말고 4부에서 다룬다고만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인증 안 된 분이 반드시 나옵니다. 미리 파악해서 옆자리와 짝을 지어 주세요. 한국은 교원자격증만 받는 특례 국가로 캔바 문서에 이름이 올라 있습니다. [C1 → R6, R17]</a:t>
            </a:r>
          </a:p>
          <a:p>
            <a:r>
              <a:t>큐: 캔바 공식은 서류 검토 48시간, 독립 리뷰는 최대 7일이라 범위로 말한다. 숫자를 단정하지 않는다.</a:t>
            </a:r>
          </a:p>
          <a:p>
            <a:r>
              <a:t>Claim C1; evidence R6, R17</a:t>
            </a:r>
          </a:p>
          <a:p>
            <a:r>
              <a:t>[R6] Education Eligibility Requirements — Canva — 날짜 미표기 — https://www.canva.com/education/eligibility-guidelines/</a:t>
            </a:r>
          </a:p>
          <a:p>
            <a:r>
              <a:t>[R17] Canva for Education (2026) — All You Need to Know — Style Factory Productions — 2026-01-08 — https://www.stylefactoryproductions.com/blog/canva-for-education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돌아다니면서 화면을 봅니다. 막히는 지점은 대부분 셋입니다. 개인 계정으로 로그인, 학교 이메일 비밀번호 분실, 오래된 브라우저.</a:t>
            </a:r>
          </a:p>
          <a:p>
            <a:r>
              <a:t>큐: 8분이 지나면 안 된 분은 옆자리 화면을 같이 보게 하고 진도를 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파트 전환. 화면 설명을 오래 하지 마세요. 캔바는 UI가 자주 바뀝니다. 위치보다 개념을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화면을 띄워놓고 세 곳을 마우스로 크게 원 그리며 짚습니다. 이름을 외우게 하지 말고 재료, 지면, 지시 셋으로 기억하게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Magic Media, Magic Design 같은 이름으로 배우신 분들이 화면에서 못 찾습니다. [C5 → R7, R9]</a:t>
            </a:r>
          </a:p>
          <a:p>
            <a:r>
              <a:t>큐: 연수 자료나 블로그가 옛 이름을 쓰고 있으면 최신이 아니라는 신호라고 알려준다.</a:t>
            </a:r>
          </a:p>
          <a:p>
            <a:r>
              <a:t>Claim C5; evidence R7, R9</a:t>
            </a:r>
          </a:p>
          <a:p>
            <a:r>
              <a:t>[R7] Understanding your AI usage — Canva Help Center — 날짜 미표기 — https://www.canva.com/help/ai-access/</a:t>
            </a:r>
          </a:p>
          <a:p>
            <a:r>
              <a:t>[R9] Canva AI (Help Center 허브) — Canva Help Center — 날짜 미표기 — https://www.canva.com/help/canva-ai/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중 빠지기 쉬운 것이 누구에게입니다. 학년만 쓰면 평균적인 학습지가 나옵니다. 우리 반 아이의 상태를 한 줄 넣는 순간 결과가 달라집니다.</a:t>
            </a:r>
          </a:p>
          <a:p>
            <a:r>
              <a:t>큐: 나쁜 예와 좋은 예를 실시간으로 비교해 보여주면 효과가 가장 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줄이 실제로 자주 걸립니다. 선거 교육 자료나 보건 수업 자료를 만들려다 막혀서 고장났다고 생각하시는 분들이 있습니다. 정책상 막은 것이라고 미리 알려두면 당황하지 않습니다. [C14 → R11]</a:t>
            </a:r>
          </a:p>
          <a:p>
            <a:r>
              <a:t>Claim C14, C15; evidence R10, R11</a:t>
            </a:r>
          </a:p>
          <a:p>
            <a:r>
              <a:t>[R10] AI Product Terms — Canva — 2026-06-26 발효 — https://www.canva.com/policies/ai-product-terms/</a:t>
            </a:r>
          </a:p>
          <a:p>
            <a:r>
              <a:t>[R11] AI Safety at Canva — Canva — 날짜 미표기 — https://www.canva.com/policies/ai-safety/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요소만 바꾸기가 핵심입니다. 대부분 결과가 별로면 전부 다시 씁니다. 그러면 무엇이 효과가 있었는지 알 수 없습니다.</a:t>
            </a:r>
          </a:p>
          <a:p>
            <a:r>
              <a:t>큐: 잘 나온 결과 한두 개를 골라 두었다가 다음 슬라이드로 넘어가기 전에 화면에 띄워 공유한다.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파트 전환. 여기부터 실제 결과물을 만듭니다.</a:t>
            </a:r>
          </a:p>
          <a:p>
            <a:r>
              <a:t>큐: 시간이 밀리면 뒤의 PART 5를 줄이고 여기를 지킨다.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카탈로그를 빠르게 훑습니다. 하나하나 설명하지 마세요. 선생님들이 자기 반에서 반복되는 것을 떠올리게 하는 것이 목적입니다.</a:t>
            </a:r>
          </a:p>
          <a:p>
            <a:r>
              <a:t>큐: 다음 실습에서 어떤 걸 만들지 지금 고르라고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 자료를 먼저 올리는 것이 결과를 가장 크게 바꿉니다. 교과서 단원 사진 한 장만 있어도 일반적인 곱셈 문제가 우리 반 진도에 맞는 문제로 바뀝니다.</a:t>
            </a:r>
          </a:p>
          <a:p>
            <a:r>
              <a:t>큐: 이걸 시연으로 보여준다. 업로드 있을 때와 없을 때를 나란히.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화면에 띄워놓고 선생님들이 직접 자기 단원으로 고쳐 쓰게 합니다. 마지막 줄이 중요합니다. 업로드한 자료를 참조하라고 명시해야 실제로 봅니다.</a:t>
            </a:r>
          </a:p>
          <a:p>
            <a:r>
              <a:t>큐: 배포본에도 이 지시문이 그대로 들어간다고 알려준다.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3번을 강조하세요. AI는 장수를 늘리는 쪽으로 만듭니다. 수업 슬라이드는 적을수록 좋다는 걸 아는 건 선생님뿐입니다.</a:t>
            </a:r>
          </a:p>
          <a:p>
            <a:r>
              <a:t>큐: 4번의 발문은 AI에 맡기지 말라고 한다. 우리 반 아이들 이름과 지난주 이야기가 들어가야 하는 자리다.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초등 학습지에서 AI 생성 이미지가 실패하는 대표 사례를 보여주세요. 한글 간판이 깨진 그림, 손가락이 여섯 개인 사람. 아이들이 먼저 알아봅니다.</a:t>
            </a:r>
          </a:p>
          <a:p>
            <a:r>
              <a:t>큐: 시간이 되면 실제로 하나 생성해서 확대해 보여주면 각인된다.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순서가 중요합니다. 표준본을 먼저 완성하고 그것을 변형하게 해야 세 벌의 구조가 같습니다. 처음부터 세 개를 요청하면 서로 다른 모양이 나와서 수업에서 쓰기 불편합니다.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12분은 짧습니다. 완벽하게 만들려는 분을 말려야 합니다. 지금은 70점짜리를 끝까지 만들어보는 게 목적이라고 미리 말하세요.</a:t>
            </a:r>
          </a:p>
          <a:p>
            <a:r>
              <a:t>큐: 저장까지 확인하고 다음으로 넘어간다. 저장이 안 된 채로 진도가 나가면 뒤에서 무너진다.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줄이 제일 중요합니다. AI가 만든 곱셈 문제의 정답이 틀린 경우가 실제로 있습니다. 학습지는 30명이 동시에 보는 문서라 오류 하나가 30번 퍼집니다.</a:t>
            </a:r>
          </a:p>
          <a:p>
            <a:r>
              <a:t>큐: 네 번째 줄은 사소해 보이지만 내년에 이 파일을 다시 찾을 때 갈린다.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파트 전환. 여기서부터는 교실 밖으로 나가는 문서입니다. 학부모가 읽고 보관합니다. 톤이 달라져야 한다는 걸 짚고 넘어가세요.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PART 5의 템플릿화로 이어지는 다리입니다. 매번 새로 만드시죠 하고 물어보고 반응을 받으세요. 여기서 공감이 생겨야 마지막 파트가 살아납니다.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3번이 실전 요령입니다. 노트북 화면 기준으로 만들면 교실 뒤에서 안 보입니다.</a:t>
            </a:r>
          </a:p>
          <a:p>
            <a:r>
              <a:t>큐: 만든 뒤에 한 발 물러서서 화면을 보게 하는 습관을 알려준다.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AI가 만든 가정통신문은 문장이 매끄럽지만 사실이 틀릴 수 있습니다. 특히 날짜와 시간입니다. 원문을 열어놓고 한 줄씩 대조하는 것 외에 방법이 없습니다.</a:t>
            </a:r>
          </a:p>
          <a:p>
            <a:r>
              <a:t>큐: 4번은 AI가 지나치게 격식을 차리거나 반대로 너무 가벼운 경우가 있어서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회신란을 따로 요청하는 것이 요령입니다. 안 적으면 안내문만 나옵니다. 마지막 줄로 학교 서식을 유지시킵니다.</a:t>
            </a:r>
          </a:p>
          <a:p>
            <a:r>
              <a:t>큐: 이 지시문도 배포본에 그대로 들어간다.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줄은 기능 문제가 아니라 라이선스입니다. [C9 → R12, R3] 캔바 요소는 디자인 안에서만 쓸 수 있고 요소 자체를 빼서 다른 프로그램에 넣거나 배포하는 건 안 됩니다.</a:t>
            </a:r>
          </a:p>
          <a:p>
            <a:r>
              <a:t>큐: 한글 문서에 캔바 그림만 가져다 쓰려는 분이 꼭 있어서 미리 말해둔다.</a:t>
            </a:r>
          </a:p>
          <a:p>
            <a:r>
              <a:t>Claim C9; evidence R3, R12</a:t>
            </a:r>
          </a:p>
          <a:p>
            <a:r>
              <a:t>[R3] Canva Licensing Explained: A Complete Guide to Free, Pro, and Enterprise Use — Daily Creative Co — 2025-08-25 — https://dailycreativeco.com/canva-licensing-explained/</a:t>
            </a:r>
          </a:p>
          <a:p>
            <a:r>
              <a:t>[R12] Canva's Content License Agreement — Canva — 날짜 미표기 — https://www.canva.com/policies/content-license-agreement/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진짜 필요한 것을 강조하세요. 연습용으로 만들면 집에 가서 안 씁니다. 이번 주에 붙일 게시물을 만들면 오늘 배운 게 바로 자리를 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파트 전환. 톤을 한 단계 낮춥니다. 겁주는 시간이 아니라 안심하고 쓰기 위한 시간이라고 프레임을 잡으세요.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교사가 가장 자주 넘는 선입니다. [C7 → R12, R17] 라이선스 8절에 명확히 적혀 있습니다. 만든 자료를 온라인에 판매하는 분들이 늘고 있는데 교육용 계정으로는 안 됩니다.</a:t>
            </a:r>
          </a:p>
          <a:p>
            <a:r>
              <a:t>큐: 한 가지 더. 한 디자인에 여러 등급의 요소가 섞이면 가장 제한적인 등급이 디자인 전체에 적용된다. [C8 → R12]</a:t>
            </a:r>
          </a:p>
          <a:p>
            <a:r>
              <a:t>Claim C7, C8; evidence R12, R17</a:t>
            </a:r>
          </a:p>
          <a:p>
            <a:r>
              <a:t>[R12] Canva's Content License Agreement — Canva — 날짜 미표기 — https://www.canva.com/policies/content-license-agreement/</a:t>
            </a:r>
          </a:p>
          <a:p>
            <a:r>
              <a:t>[R17] Canva for Education (2026) — All You Need to Know — Style Factory Productions — 2026-01-08 — https://www.stylefactoryproductions.com/blog/canva-for-education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카드는 한국저작권위원회 안내서 기준입니다. [C13 → R13, R4] 다만 안내서 원문 PDF를 확인하지 못해 세부 기준은 해설에 의존했습니다. 학교 자료를 등록할 일은 드물지만 대회 출품작이나 공모전은 다릅니다.</a:t>
            </a:r>
          </a:p>
          <a:p>
            <a:r>
              <a:t>큐: 그때는 링크 걸어둔 원문을 확인하시라고 안내한다.</a:t>
            </a:r>
          </a:p>
          <a:p>
            <a:r>
              <a:t>Claim C6, C13, C15; evidence R3, R4, R10, R13</a:t>
            </a:r>
          </a:p>
          <a:p>
            <a:r>
              <a:t>[R3] Canva Licensing Explained: A Complete Guide to Free, Pro, and Enterprise Use — Daily Creative Co — 2025-08-25 — https://dailycreativeco.com/canva-licensing-explained/</a:t>
            </a:r>
          </a:p>
          <a:p>
            <a:r>
              <a:t>[R4] 2025 생성형 AI 저작권 등록 안내서 총정리 — 디지털 인사이트 — 날짜 미표기 — https://ditoday.com/gai-copyright/</a:t>
            </a:r>
          </a:p>
          <a:p>
            <a:r>
              <a:t>[R10] AI Product Terms — Canva — 2026-06-26 발효 — https://www.canva.com/policies/ai-product-terms/</a:t>
            </a:r>
          </a:p>
          <a:p>
            <a:r>
              <a:t>[R13] 생성형 인공지능 활용 저작물의 저작권 등록 안내서 — 한국저작권위원회 — 2025-06-30 — https://www.copyright.or.kr/information-materials/publication/research-report/view.do?brdctsno=54253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오늘 가장 중요합니다. [C2 → R11, R14] [C10 → R1, R16] 두 규범이 충돌하는 게 아니라 층이 다릅니다. 캔바는 서비스 약관이고 교육청은 우리가 지켜야 할 업무 지침입니다.</a:t>
            </a:r>
          </a:p>
          <a:p>
            <a:r>
              <a:t>큐: 서울 외 지역 선생님이 계시면 반드시 본인 교육청 지침을 확인하라고 한다. 우리는 서울만 확인했다고 정직하게 말한다.</a:t>
            </a:r>
          </a:p>
          <a:p>
            <a:r>
              <a:t>Claim C2, C3, C10; evidence R1, R8, R11, R14, R16, R17</a:t>
            </a:r>
          </a:p>
          <a:p>
            <a:r>
              <a:t>[R1] 학교급별 생성형 AI 활용 지침 (생성형 AI 교육적 활용 가이드) — 서울특별시교육청 — 2023-08-29 — https://buseo.sen.go.kr/buseo/bu10/user/bbs/BD_selectBbs.do?q_bbsSn=1240&amp;q_bbsDocNo=20230829193450556</a:t>
            </a:r>
          </a:p>
          <a:p>
            <a:r>
              <a:t>[R8] App Restrictions for Students — Canva Help Center — 날짜 미표기 — https://www.canva.com/help/app-restrictions-c4e/</a:t>
            </a:r>
          </a:p>
          <a:p>
            <a:r>
              <a:t>[R11] AI Safety at Canva — Canva — 날짜 미표기 — https://www.canva.com/policies/ai-safety/</a:t>
            </a:r>
          </a:p>
          <a:p>
            <a:r>
              <a:t>[R14] What is Canva? — eSafety Guide — eSafety Commissioner (호주 정부) — 날짜 미표기 — https://www.esafety.gov.au/key-topics/esafety-guide/canva</a:t>
            </a:r>
          </a:p>
          <a:p>
            <a:r>
              <a:t>[R16] 서울 학생 위한 생성형AI 가이드라인 신설… 수업에도 챗GPT 활용 가능 — 세계일보 — 2023-08-19 — https://www.segye.com/newsView/20230819505216</a:t>
            </a:r>
          </a:p>
          <a:p>
            <a:r>
              <a:t>[R17] Canva for Education (2026) — All You Need to Know — Style Factory Productions — 2026-01-08 — https://www.stylefactoryproductions.com/blog/canva-for-education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[C11 → R5, R2] 교육기본법 제23조의3, 벌칙은 초·중등교육법 제67조입니다. 겁주려는 게 아니라 기준선입니다. 실무 요령 하나. 학생 사진이 꼭 필요하면 얼굴이 안 나오게 찍거나 이름은 ○○이로 바꿔서 넣습니다.</a:t>
            </a:r>
          </a:p>
          <a:p>
            <a:r>
              <a:t>큐: 교육부가 2026학년도부터 수행평가 AI 활용 관리 방안을 시행한다. 연수일 기준으로 최신 지침을 다시 확인하라고 안내한다. [C12 → R15]</a:t>
            </a:r>
          </a:p>
          <a:p>
            <a:r>
              <a:t>Claim C11, C12; evidence R2, R5, R15</a:t>
            </a:r>
          </a:p>
          <a:p>
            <a:r>
              <a:t>[R2] 교육기본법 제23조의3 (학생정보의 보호원칙) — CaseNote (법령 데이터베이스) — 법률 조문 — https://casenote.kr/법령/교육기본법/제23조의3</a:t>
            </a:r>
          </a:p>
          <a:p>
            <a:r>
              <a:t>[R5] 교육 분야의 개인정보보호 — 의무 및 구제방법 — 법제처 찾기쉬운 생활법령정보 — 날짜 미표기 — https://easylaw.go.kr/CSP/CnpClsMain.laf?popMenu=ov&amp;csmSeq=1702&amp;ccfNo=4&amp;cciNo=1&amp;cnpClsNo=1</a:t>
            </a:r>
          </a:p>
          <a:p>
            <a:r>
              <a:t>[R15] 수행평가 시, 인공지능(AI) 활용 관리 방안 — 교육부 — 2025-12-23 — https://www.moe.go.kr/boardCnts/viewRenew.do?boardID=294&amp;boardSeq=104984&amp;lev=0&amp;m=020402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파트 전환. 시간이 밀렸으면 여기를 압축합니다. 다만 템플릿 저장만은 반드시 하고 넘어가세요.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3번을 안 하면 템플릿이 아니라 그냥 옛날 파일입니다. 실제로 작년 날짜가 그대로 나간 통신문 사고가 흔합니다. 비워두는 습관이 그걸 막습니다.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개인보다 학년 단위로 쓸 때 효과가 큽니다. 학년부장 선생님이 한 번 세팅하면 그 학년 전체 자료의 인상이 통일됩니다.</a:t>
            </a:r>
          </a:p>
          <a:p>
            <a:r>
              <a:t>큐: 연수 끝나고 학년 협의회에서 제안해 보시라고 권한다.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줄이 실무 함정입니다. 학급 명단이 들어간 자료를 무심코 외부 링크로 공유하는 사고가 납니다.</a:t>
            </a:r>
          </a:p>
          <a:p>
            <a:r>
              <a:t>큐: 캔바 교육용 계정에는 학생 디자인의 외부 공유를 막는 설정이 따로 있으니 학교 관리자에게 문의하라고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4번이 진짜 검증입니다. 템플릿을 만들어만 두고 안 써보면 다음 달에 또 처음부터 만듭니다. 여기서 한 번 돌려보면 어디가 불편한지 지금 발견해서 고칠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연수 끝나고 실제로 오는 질문 순서대로 배열했습니다. 열에 여덟은 1번입니다. 마지막 줄이 실무 요령입니다. 이미지 생성으로 글자를 만들려 하지 말고 그림만 받아서 글자는 캔바 텍스트로 얹는 게 항상 낫습니다.</a:t>
            </a:r>
          </a:p>
          <a:p>
            <a:r>
              <a:t>큐: 이 슬라이드를 실습 시간 내내 띄워두면 질문이 줄어든다.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[C4 → R7] [C1 → R6, R17] 숫자는 셋 중 택일 기준입니다. 기본 도구만 쓰면 2,000회, 이미지 생성 위주면 200회입니다. Canva AI 텍스트와 Magic Write, AI Voice 는 이 할당량 밖이라 사실상 자유롭게 씁니다. 수업 준비에 쓰는 정도로는 부족하지 않습니다.</a:t>
            </a:r>
          </a:p>
          <a:p>
            <a:r>
              <a:t>큐: 캔바가 이 수치를 바꿀 수 있다고 문서에 적어두었다는 점을 덧붙인다.</a:t>
            </a:r>
          </a:p>
          <a:p>
            <a:r>
              <a:t>Claim C4, C1; evidence R6, R7, R17</a:t>
            </a:r>
          </a:p>
          <a:p>
            <a:r>
              <a:t>[R6] Education Eligibility Requirements — Canva — 날짜 미표기 — https://www.canva.com/education/eligibility-guidelines/</a:t>
            </a:r>
          </a:p>
          <a:p>
            <a:r>
              <a:t>[R7] Understanding your AI usage — Canva Help Center — 날짜 미표기 — https://www.canva.com/help/ai-access/</a:t>
            </a:r>
          </a:p>
          <a:p>
            <a:r>
              <a:t>[R17] Canva for Education (2026) — All You Need to Know — Style Factory Productions — 2026-01-08 — https://www.stylefactoryproductions.com/blog/canva-for-education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번째를 그냥 넘기지 마세요. 정직하게 말하는 편이 신뢰를 얻습니다. 서울 외 지역은 지침이 다를 수 있고, 교육부가 2026학년도 수행평가 AI 관리 방안을 시행하므로 학교로 공문이 내려왔을 수 있습니다.</a:t>
            </a:r>
          </a:p>
          <a:p>
            <a:r>
              <a:t>큐: 1번은 오늘 저녁이라고 못 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Q&amp;A로 넘어갑니다. 현장에서 막힌 걸 같이 푸는 게 가장 강한 학습입니다. 질문이 없으면 옆 사람 화면을 보고 잘 된 것 하나를 소개하게 하세요.</a:t>
            </a:r>
          </a:p>
          <a:p>
            <a:r>
              <a:t>큐: 끝나기 전에 각자 폴더에 파일 세 개가 있는지 확인시키고 마친다.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출처를 다시 확인할 때는 같은 R 번호를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캔바 정책 문서는 예고 없이 바뀝니다. 연수 전에 R6, R7, R12 세 개는 다시 열어보세요.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R13 은 발간 사실과 발행처만 확인했고 PDF 본문은 열지 못했습니다. 30번 슬라이드의 저작권 등록 설명은 이 한계를 안고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education/eligibility-guidelines/" TargetMode="External"/><Relationship Id="rId4" Type="http://schemas.openxmlformats.org/officeDocument/2006/relationships/hyperlink" Target="https://www.stylefactoryproductions.com/blog/canva-for-education" TargetMode="Externa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help/canva-ai/" TargetMode="Externa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ai-product-terms/" TargetMode="External"/><Relationship Id="rId4" Type="http://schemas.openxmlformats.org/officeDocument/2006/relationships/hyperlink" Target="https://www.canva.com/policies/ai-safety/" TargetMode="Externa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content-license-agreement/" TargetMode="Externa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content-license-agreement/" TargetMode="External"/><Relationship Id="rId4" Type="http://schemas.openxmlformats.org/officeDocument/2006/relationships/hyperlink" Target="https://www.stylefactoryproductions.com/blog/canva-for-education" TargetMode="Externa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ai-product-terms/" TargetMode="External"/><Relationship Id="rId4" Type="http://schemas.openxmlformats.org/officeDocument/2006/relationships/hyperlink" Target="https://www.copyright.or.kr/information-materials/publication/research-report/view.do?brdctsno=54253" TargetMode="External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ai-safety/" TargetMode="External"/><Relationship Id="rId4" Type="http://schemas.openxmlformats.org/officeDocument/2006/relationships/hyperlink" Target="https://www.esafety.gov.au/key-topics/esafety-guide/canva" TargetMode="External"/><Relationship Id="rId5" Type="http://schemas.openxmlformats.org/officeDocument/2006/relationships/hyperlink" Target="https://www.canva.com/help/app-restrictions-c4e/" TargetMode="External"/><Relationship Id="rId6" Type="http://schemas.openxmlformats.org/officeDocument/2006/relationships/hyperlink" Target="https://buseo.sen.go.kr/buseo/bu10/user/bbs/BD_selectBbs.do?q_bbsSn=1240&amp;q_bbsDocNo=20230829193450556" TargetMode="External"/><Relationship Id="rId7" Type="http://schemas.openxmlformats.org/officeDocument/2006/relationships/hyperlink" Target="https://www.segye.com/newsView/20230819505216" TargetMode="External"/><Relationship Id="rId8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asylaw.go.kr/CSP/CnpClsMain.laf?popMenu=ov&amp;csmSeq=1702&amp;ccfNo=4&amp;cciNo=1&amp;cnpClsNo=1" TargetMode="External"/><Relationship Id="rId4" Type="http://schemas.openxmlformats.org/officeDocument/2006/relationships/hyperlink" Target="https://casenote.kr/%EB%B2%95%EB%A0%B9/%EA%B5%90%EC%9C%A1%EA%B8%B0%EB%B3%B8%EB%B2%95/%EC%A0%9C23%EC%A1%B0%EC%9D%983" TargetMode="Externa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help/ai-access/" TargetMode="External"/><Relationship Id="rId4" Type="http://schemas.openxmlformats.org/officeDocument/2006/relationships/hyperlink" Target="https://www.canva.com/education/eligibility-guidelines/" TargetMode="External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buseo.sen.go.kr/buseo/bu10/user/bbs/BD_selectBbs.do?q_bbsSn=1240&amp;q_bbsDocNo=20230829193450556" TargetMode="External"/><Relationship Id="rId4" Type="http://schemas.openxmlformats.org/officeDocument/2006/relationships/hyperlink" Target="https://casenote.kr/%EB%B2%95%EB%A0%B9/%EA%B5%90%EC%9C%A1%EA%B8%B0%EB%B3%B8%EB%B2%95/%EC%A0%9C23%EC%A1%B0%EC%9D%983" TargetMode="External"/><Relationship Id="rId5" Type="http://schemas.openxmlformats.org/officeDocument/2006/relationships/hyperlink" Target="https://dailycreativeco.com/canva-licensing-explained/" TargetMode="External"/><Relationship Id="rId6" Type="http://schemas.openxmlformats.org/officeDocument/2006/relationships/hyperlink" Target="https://ditoday.com/gai-copyright/" TargetMode="External"/><Relationship Id="rId7" Type="http://schemas.openxmlformats.org/officeDocument/2006/relationships/hyperlink" Target="https://easylaw.go.kr/CSP/CnpClsMain.laf?popMenu=ov&amp;csmSeq=1702&amp;ccfNo=4&amp;cciNo=1&amp;cnpClsNo=1" TargetMode="External"/><Relationship Id="rId8" Type="http://schemas.openxmlformats.org/officeDocument/2006/relationships/hyperlink" Target="https://www.canva.com/education/eligibility-guidelines/" TargetMode="External"/><Relationship Id="rId9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help/ai-access/" TargetMode="External"/><Relationship Id="rId4" Type="http://schemas.openxmlformats.org/officeDocument/2006/relationships/hyperlink" Target="https://www.canva.com/help/app-restrictions-c4e/" TargetMode="External"/><Relationship Id="rId5" Type="http://schemas.openxmlformats.org/officeDocument/2006/relationships/hyperlink" Target="https://www.canva.com/help/canva-ai/" TargetMode="External"/><Relationship Id="rId6" Type="http://schemas.openxmlformats.org/officeDocument/2006/relationships/hyperlink" Target="https://www.canva.com/policies/ai-product-terms/" TargetMode="External"/><Relationship Id="rId7" Type="http://schemas.openxmlformats.org/officeDocument/2006/relationships/hyperlink" Target="https://www.canva.com/policies/ai-safety/" TargetMode="External"/><Relationship Id="rId8" Type="http://schemas.openxmlformats.org/officeDocument/2006/relationships/hyperlink" Target="https://www.canva.com/policies/content-license-agreement/" TargetMode="External"/><Relationship Id="rId9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opyright.or.kr/information-materials/publication/research-report/view.do?brdctsno=54253" TargetMode="External"/><Relationship Id="rId4" Type="http://schemas.openxmlformats.org/officeDocument/2006/relationships/hyperlink" Target="https://www.esafety.gov.au/key-topics/esafety-guide/canva" TargetMode="External"/><Relationship Id="rId5" Type="http://schemas.openxmlformats.org/officeDocument/2006/relationships/hyperlink" Target="https://www.moe.go.kr/boardCnts/viewRenew.do?boardID=294&amp;boardSeq=104984&amp;lev=0&amp;m=020402" TargetMode="External"/><Relationship Id="rId6" Type="http://schemas.openxmlformats.org/officeDocument/2006/relationships/hyperlink" Target="https://www.segye.com/newsView/20230819505216" TargetMode="External"/><Relationship Id="rId7" Type="http://schemas.openxmlformats.org/officeDocument/2006/relationships/hyperlink" Target="https://www.stylefactoryproductions.com/blog/canva-for-education" TargetMode="External"/><Relationship Id="rId8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92535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320" b="0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초등교사 연수 · 90~120분 · 실습 5회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44579"/>
            <a:ext cx="1104900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19"/>
              </a:lnSpc>
              <a:spcBef>
                <a:spcPts val="0"/>
              </a:spcBef>
              <a:spcAft>
                <a:spcPts val="0"/>
              </a:spcAft>
            </a:pPr>
            <a:r>
              <a:rPr sz="825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캔바 AI로 수업자료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69416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두 시간 뒤, 학습지와 학급 게시물이 폴더에 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188392"/>
            <a:ext cx="110490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Canva for Education · 모든 제품 정보는 2026-08-06 공식 문서 확인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학습지 한 장에 드는 시간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지금까지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한글에서 표 그리고 칸 맞추기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삽화 검색하고 저작권 확인하기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글꼴과 여백 손보다 인쇄해서 다시 고치기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캔바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 문장으로 초안을 받는다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삽화는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라이선스가 붙은 채로</a:t>
            </a: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들어온다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고친 자리를 템플릿으로 남겨 다음 단원에 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도구를 바꾸는 게 아니라, 반복되는 자리를 넘기는 것입니다.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8875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오늘 들고 나갈 4가지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134154"/>
            <a:ext cx="5419725" cy="1315688"/>
          </a:xfrm>
          <a:prstGeom prst="roundRect">
            <a:avLst>
              <a:gd name="adj" fmla="val 1158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150" y="3381804"/>
            <a:ext cx="4924425" cy="82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두 시간 뒤</a:t>
            </a:r>
            <a:br/>
            <a:r>
              <a:rPr sz="2227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폴더에 파일이 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775" y="2914745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2914745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학습지 완성본 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775" y="3384328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3384328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학급 게시물 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775" y="3853910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853910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다음에 다시 쓸 템플릿 하나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775" y="4323493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4323493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넘지 말아야 할 선 네 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94829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START · 5분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067206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시작 전에 세 가지만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793201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947911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947911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098" y="2907501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화면 왼쪽 위에 학교 팀 이름이 보이는지 봅니다. 없으면 일반 계정입니다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426471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581181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581181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098" y="3540771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아직 인증 전이면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교원자격증 사본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한 장이면 됩니다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[R6]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4059741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4214451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4214451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098" y="4174041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바탕화면에 캔바실습 폴더를 만들고 이번 단원 자료를 넣어 둡니다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807310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인증은 보통 이틀, 성수기에는 일주일까지 걸립니다.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[R17]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① · 8분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로그인하고 첫 디자인 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canva.com 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교육용 계정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으로 로그인합니다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왼쪽 위 팀 이름에 학교가 보이는지 확인합니다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디자인 만들기에서 A4 문서를 하나 엽니다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아무 글자나 넣고 저장되는 것까지 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여기까지 되면 오늘 나머지는 다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437295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713901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화면과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AI가 있는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628606"/>
            <a:ext cx="110490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버튼 위치는 업데이트로 바뀝니다. 오늘은 어디를 눌러야 하는지가 아니라 무엇을 시킬 수 있는지를 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47213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세 군데만 보면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198133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3369583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왼쪽 패널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627672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템플릿, 요소, 업로드한 내 자료가 있습니다. 재료를 꺼내는 곳입니다.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6250" y="3198133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8650" y="3369583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가운데 캔버스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8650" y="3627672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실제 지면입니다. 클릭한 요소의 편집 막대가 위에 나타납니다.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198133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3198133"/>
            <a:ext cx="13335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3198133"/>
            <a:ext cx="19050" cy="1333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3369583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Canva AI 입력창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400" y="3627672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말로 시키는 곳입니다. 오늘 대부분의 시간을 여기서 씁니다.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71718"/>
            <a:ext cx="11049000" cy="391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5"/>
              </a:lnSpc>
              <a:spcBef>
                <a:spcPts val="0"/>
              </a:spcBef>
              <a:spcAft>
                <a:spcPts val="0"/>
              </a:spcAft>
            </a:pPr>
            <a:r>
              <a:rPr sz="2804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 AI가 </a:t>
            </a:r>
            <a:r>
              <a:rPr sz="2804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하는 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디자인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28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0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프레젠테이션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41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41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3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영상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06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Magic Write 글쓰기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🖼️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이미지 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528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8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80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AI Voice 읽어주기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43042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Magic 으로 시작하던 이름들이 Canva AI 로 정리됐습니다. 옛 이름으로 검색하면 안 나옵니다.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[R9]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8875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시키기 전에 네 가지를 정합니다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134154"/>
            <a:ext cx="5419725" cy="1315688"/>
          </a:xfrm>
          <a:prstGeom prst="roundRect">
            <a:avLst>
              <a:gd name="adj" fmla="val 1158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150" y="3381804"/>
            <a:ext cx="4924425" cy="82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무엇을 + 누구에게</a:t>
            </a:r>
            <a:br/>
            <a:r>
              <a:rPr sz="2227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+ 어떤 형식 + 어떤 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775" y="2914745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2914745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무엇을: 3학년 곱셈 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775" y="3384328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3384328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누구에게: 아직 구구단이 안 외워진 아이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775" y="3853910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853910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형식: A4 한 장, 문제 10개, 아래에 정답칸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775" y="4323493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4323493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톤: 그림 많고 글자 크게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3101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그대로 쓰면 안 되는 세 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5701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81172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81172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77131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사실과 숫자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. 캔바는 결과물의 정확성을 보증하지 않습니다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29028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44499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44499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40458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맞춤법과 띄어쓰기. 학습지에 오타가 있으면 아이가 그대로 배웁니다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923552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407826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407826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4037852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삽화 속 글자. 생성된 이미지 안의 한글은 깨진 채로 나오는 일이 잦습니다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67112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의료, 자해, 성적 내용, 정치와 선거는 아예 생성이 막힙니다.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58909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② · 10분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31285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문장으로 초안 뽑기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85728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97158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97158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97164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 AI 입력창에 네 요소를 넣어 한 문장으로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44783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56213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56213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56219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결과가 마음에 안 들면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요소만 바꿔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다시 시킵니다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403838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415268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415268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15274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세 번 안에 쓸 만한 초안이 나오는지 봅니다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43231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완성이 목표가 아닙니다. 지시가 결과를 어떻게 바꾸는지 감을 잡는 시간입니다.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3532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11926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수업자료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6631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학습지, 수업 슬라이드, 수준별 자료. 오늘 첫 완성본이 여기서 나옵니다.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71718"/>
            <a:ext cx="11049000" cy="391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5"/>
              </a:lnSpc>
              <a:spcBef>
                <a:spcPts val="0"/>
              </a:spcBef>
              <a:spcAft>
                <a:spcPts val="0"/>
              </a:spcAft>
            </a:pPr>
            <a:r>
              <a:rPr sz="2804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수업자료 </a:t>
            </a:r>
            <a:r>
              <a:rPr sz="2804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여덟 자리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학습지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28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0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활동지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41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41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3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수업 슬라이드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06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낱말 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평가 기준표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528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8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80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단원 안내도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41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41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93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보상 쿠폰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06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모둠 역할판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43042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공통점은 하나입니다. 매년, 매 단원 다시 만드는 것들입니다.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404547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학습지 한 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13054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24484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24484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24490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왼쪽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업로드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에 교과서 해당 단원 사진이나 PDF를 넣습니다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72109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283539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83539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283545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 AI 에 네 요소로 지시합니다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31164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42594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42594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42600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나온 초안에서 문제 수와 난이도를 손봅니다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90219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01649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01649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01655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삽화가 내용과 맞는지 확인하고 어긋나면 바꿉니다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449274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2950" y="460704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50" y="460704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50" y="460710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PDF 인쇄용으로 내보냅니다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19759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3번과 4번이 실제 작업입니다. 1번과 2번은 30초면 끝납니다.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77257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복사해서 쓰는 지시문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949634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학습지 만들 때 그대로 붙여넣으세요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462841"/>
            <a:ext cx="11049000" cy="2717902"/>
          </a:xfrm>
          <a:prstGeom prst="roundRect">
            <a:avLst>
              <a:gd name="adj" fmla="val 1401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62841"/>
            <a:ext cx="19050" cy="2717902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653341"/>
            <a:ext cx="10591800" cy="23369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3학년 2학기 수학 곱셈 단원 학습지를 A4 한 장으로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대상: 구구단은 외웠지만 두 자리 수 곱셈에서 자리값을 자주 틀리는 아이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문제: 10개. 앞 6개는 세로셈, 뒤 4개는 문장제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형식: 문제 사이 여백을 넉넉히, 아래쪽에 정답 칸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톤: 글자 크게, 삽화는 한두 개만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업로드한 교과서 사진의 예제와 같은 유형으로 만들어줘.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수업 슬라이드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 AI 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프레젠테이션으로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만들어 달라고 지시합니다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차시 흐름을 함께 적습니다. 도입, 활동,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나온 장수를 줄입니다. 대체로 너무 많이 만듭니다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발표자 노트에 발문을 직접 적습니다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40분 수업에 슬라이드 20장은 너무 많습니다. 8장이면 충분합니다.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삽화는 어디서 가져오나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라이브러리에서 찾기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검색하면 바로 나온다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품질이 일정하다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같은 그림을 다른 반도 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AI로 생성하기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정확히 원하는 장면을 만든다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월 사용량을 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손가락과 글자가 자주 어긋난다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학습지 삽화는 라이브러리가 대체로 낫습니다. 생성은 라이브러리에 없는 장면일 때만.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13004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 자료를 세 벌로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239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문제 수를 줄이고 보기를 줍니다. 첫 문제는 풀이 과정을 미리 채워 둡니다.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895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135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표준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135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5135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원본 그대로 씁니다. 대다수 아이의 기준선입니다.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4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88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8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1788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문장제 비중을 올리고 왜 그렇게 풀었는지 쓰는 칸을 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58913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완성된 학습지를 놓고 이걸 세 수준으로 나눠 달라고 시킵니다. 처음부터 세 개를 만들지 않습니다.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③ · 12분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학습지 완성본 하나 저장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내 단원 자료를 업로드합니다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앞 슬라이드 지시문을 내 단원으로 고쳐 넣습니다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문제 수와 삽화를 손봅니다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PDF 인쇄용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으로 내보내 캔바실습 폴더에 저장합니다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오늘의 첫 결과물입니다. 여기까지 하면 절반은 끝났습니다.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3756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내보내기 전 네 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56355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71826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71826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67785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숫자와 정답을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직접 풀어서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확인했습니다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19682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35153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35153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31112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삽화가 내용과 맞고 이상한 글자가 없습니다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83009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98480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98480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94439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인쇄 여백 안에 글자가 다 들어와 있습니다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46336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61807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61807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57766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파일 이름에 학년, 단원, 날짜를 넣었습니다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3532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11926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학급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운영물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6631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게시물, 가정통신문, 학부모 안내. 만드는 법은 같고 지켜야 할 것이 다릅니다.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09016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학급 운영에서 반복되는 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911211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매주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911211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주간학습 안내, 알림장 정리, 시간표 변경 공지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3276590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3419465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매달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419465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생일 축하 게시물, 이달의 급훈, 학급 소식지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784844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927719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학기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927719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환경판 전체 교체, </a:t>
            </a:r>
            <a:r>
              <a:rPr sz="15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학부모 총회 자료</a:t>
            </a:r>
            <a:r>
              <a:rPr sz="1518" b="0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상장과 수료증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293098"/>
            <a:ext cx="11049000" cy="9525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493123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주기가 있다는 것은 템플릿으로 만들 수 있다는 뜻입니다.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게시물과 환경판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크기를 먼저 정합니다. 환경판은 A3, 복도 게시는 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 AI 에 용도와 크기를 함께 말합니다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글자 크기를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교실 뒤에서 보이게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키웁니다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인쇄용 PDF로 내보냅니다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화면에서 적당해 보이는 글자는 게시하면 작습니다. 한 단계 더 키우세요.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가정통신문과 학부모 안내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학교 서식이 있으면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먼저 업로드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담을 내용을 항목으로 적어 지시합니다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날짜, 시간, 준비물, 연락처를 원문과 대조합니다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존댓말과 문장 길이를 다듬습니다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3번은 건너뛰지 마세요. 날짜 하나가 틀리면 전화가 서른 통 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093032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복사해서 쓰는 지시문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65409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가정통신문 만들 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878616"/>
            <a:ext cx="11049000" cy="3886352"/>
          </a:xfrm>
          <a:prstGeom prst="roundRect">
            <a:avLst>
              <a:gd name="adj" fmla="val 980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878616"/>
            <a:ext cx="19050" cy="3886352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069116"/>
            <a:ext cx="10591800" cy="3505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3학년 2반 학부모님께 보낼 현장체험학습 안내 통신문을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담을 내용: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- 날짜: 10월 15일 (수), 8시 30분 출발 / 15시 30분 귀교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- 장소: 국립과천과학관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- 준비물: 도시락, 물, 편한 신발, 우비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- 회신: 10월 8일까지 참가 동의서 제출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형식: A4 한 장. 위쪽에 안내문, 아래쪽에 잘라서 내는 회신란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톤: 정중하되 문장은 짧게. 훑어봐도 준비물이 보이게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업로드한 학교 서식의 머리글과 글꼴을 그대로 써줘.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3756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인쇄에서 자주 나는 사고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56355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71826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71826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67785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가장자리가 잘렸다.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인쇄 여백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밖에 요소를 두었습니다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19682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35153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35153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31112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화면과 색이 다르다. 내보낼 때 PDF 인쇄용을 고릅니다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83009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98480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98480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94439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그림이 뿌옇다. 작은 이미지를 크게 늘렸습니다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46336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61807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61807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57766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이미지만 따로 못 쓴다. Pro 요소는 단독 배포가 안 됩니다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[R12]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④ · 10분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학급 게시물 하나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달에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실제로 필요한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게시물을 하나 고릅니다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크기를 정하고 Canva AI 에 지시합니다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글자를 교실 뒤에서 보일 크기로 키웁니다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폴더에 저장합니다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두 번째 결과물입니다. 가상의 예시 말고 진짜 필요한 것으로 하세요.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3532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11926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지켜야 할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6631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여기부터는 몰라서 넘으면 문제가 되는 자리입니다. 네 가지만 기억하면 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교육용 계정으로 되는 것과 안 되는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학습지, 게시물, 가정통신문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수량 제한 없이</a:t>
            </a: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인쇄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학교 안에서 동료 교사와 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학교 홈페이지와 학급 알림장에 게시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안 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자료를 판매하거나 유료 강의에 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학원, 과외, 부업 홍보물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캔바 요소만 빼서 따로 배포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교육용 계정은 교육 목적, 비상업 용도 전용입니다. 상업적으로 쓰려면 별도 계정을 만들어야 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[R12]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[R17]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87274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AI가 만든 그림은 누구 것인가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13269"/>
            <a:ext cx="3594100" cy="1911096"/>
          </a:xfrm>
          <a:prstGeom prst="roundRect">
            <a:avLst>
              <a:gd name="adj" fmla="val 199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78471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04722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23900" y="355091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AI에 넣은 지시문과 나온 결과물은 내 것입니다. 어떤 합법적 용도로든 씁니다.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8950" y="2613269"/>
            <a:ext cx="3594100" cy="1911096"/>
          </a:xfrm>
          <a:prstGeom prst="roundRect">
            <a:avLst>
              <a:gd name="adj" fmla="val 199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1350" y="278471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내 것이 아님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1350" y="304722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51350" y="355091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캔바 라이브러리 사진을 AI로 편집한 결과물은 소유가 아니라 라이선스입니다.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400" y="2613269"/>
            <a:ext cx="3594100" cy="1911096"/>
          </a:xfrm>
          <a:prstGeom prst="roundRect">
            <a:avLst>
              <a:gd name="adj" fmla="val 199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8800" y="278471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저작권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800" y="304722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178800" y="3550910"/>
            <a:ext cx="3289300" cy="754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지시문만 넣은 결과물은 등록 대상이 아닙니다. 고르고 배열한 창작성이 있어야 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1486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AI가 만든 것을 사람이 만든 것처럼 표시하지 않습니다. 출처 정보를 지우는 것도 약관 위반입니다.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학생이 직접 써도 되나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캔바 정책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AI 기능은 13세 이상이 원칙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단 Canva Education 안에서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교사 감독</a:t>
            </a: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 하에는 예외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[R11]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학생 계정은 일부 생성 AI가 기본 차단, 교사가 엽니다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[R8]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교육청 지침이 실제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서울 기준 초등은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교사 시연으로 간접 체험</a:t>
            </a: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 기본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교사가 안정성을 확보하면 직접 사용 가능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[R1]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[R16]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점수에 반영되는 평가 중에는 모든 학년 사용 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캔바가 허용해도 우리 교육청 지침이 더 엄격하면 그쪽을 따릅니다. 소속 교육청 지침을 꼭 확인하세요.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438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 네 줄만 지키면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4037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9508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9508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45467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학생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이름과 사진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은 AI 입력창에 넣지 않습니다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7364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2835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2835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08794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교육용 계정으로 만든 것은 팔지 않습니다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6162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6162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72121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학생이 직접 쓸 때는 소속 교육청 지침을 먼저 확인합니다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24018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9489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9489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35448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사실과 숫자는 내보내기 전에 직접 확인합니다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8775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학생정보를 동의 없이 제3자에게 제공하면 3년 이하 징역 또는 3천만원 이하 벌금입니다.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[R2]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3532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11926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한 번 만들고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계속 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6631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오늘 만든 것이 오늘로 끝나면 내년에 또 처음부터 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템플릿으로 저장하기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완성한 디자인에서 파일, 사본 만들기를 누릅니다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사본 이름을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[템플릿]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으로 시작하게 바꿉니다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단원 이름, 날짜처럼 매번 바뀌는 자리를 ○○○으로 비웁니다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템플릿 폴더에 넣습니다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비워 두는 것이 핵심입니다. 지난 단원 내용이 남아 있으면 다음에 고치다가 놓칩니다.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13004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학교 색과 로고 고정하기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로고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239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학교 로고를 한 번 올려두면 모든 디자인에서 꺼내 씁니다.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895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135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135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5135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학교 상징색을 등록하면 색상 팔레트 맨 앞에 나옵니다.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4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88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글꼴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8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1788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학년에서 쓰는 글꼴을 정해두면 자료마다 통일됩니다.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58913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학년 단위로 한 번 맞춰두면 누가 만들어도 같은 모양이 나옵니다.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13004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폴더와 동료 공유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폴더는 목적별로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239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학년, 과목, 학기로 나눕니다. 한 폴더에 한 가지 목적만 담습니다.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895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135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공유는 폴더째로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135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5135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파일 하나씩 보내지 말고 폴더 권한을 줍니다. 수정하면 자동 반영됩니다.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4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88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이름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8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1788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학년_단원_자료종류_날짜. 검색으로 찾을 수 있어야 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58913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학교 밖으로 공유할 때는 학생 정보가 들어 있지 않은지 다시 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⑤ · 12분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 자료 하나를 템플릿으로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오늘 만든 학습지나 게시물 중 하나를 고릅니다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사본을 만들고 이름 앞에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[템플릿]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을 붙입니다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매번 바뀌는 자리를 비웁니다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다음에 쓸 단원을 하나 정해 지금 채워 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세 번째 결과물입니다. 4번까지 하면 이 방식이 실제로 도는지 확인됩니다.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2092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 될 때 여기부터 보세요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246924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01634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01634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361224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AI 기능이 안 보인다. 일반 계정으로 로그인했을 수 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88019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03490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03490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299449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달 생성이 안 된다. 월 사용량을 다 썼습니다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51346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66817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66817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62776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특정 주제가 계속 막힌다. 정책상 차단된 주제입니다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4673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0144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0144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26103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학생이 앱을 못 쓴다. 관리자가 설정에서 열어야 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4780002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2950" y="493471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50" y="493471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098" y="4894302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한글이 깨져 나온다.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글자는 텍스트 상자로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따로 얹으세요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21337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교육용 계정으로 어디까지 되나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939367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3148917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무료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3769947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현직 K-12 교사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6612" y="2939367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6612" y="3148917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2,000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8062" y="3769947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월 기본 AI 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725" y="2939367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725" y="3148917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3769947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월 이미지·디자인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6838" y="2939367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6838" y="3148917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3년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8288" y="3769947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재인증 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388768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Pro 와 같은 수준이고 팀원 각자에게 개별 할당됩니다. 합산되거나 공유되지 않습니다.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[R7]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[R6]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30일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오늘 저녁, 만든 템플릿 폴더에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 자료 세 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를 더 넣습니다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주 안에, 템플릿으로 다음 단원 학습지를 한 장 뽑습니다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달 안에, 학년 협의회에서 학교 색과 로고 세팅을 제안합니다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소속 교육청의 생성형 AI 지침을 찾아 읽습니다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네 번째는 오늘 다루지 못한 부분입니다. 저희는 서울 기준만 확인했습니다.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89081"/>
            <a:ext cx="110490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19"/>
              </a:lnSpc>
              <a:spcBef>
                <a:spcPts val="0"/>
              </a:spcBef>
              <a:spcAft>
                <a:spcPts val="0"/>
              </a:spcAft>
            </a:pPr>
            <a:r>
              <a:rPr sz="825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여기까지입니다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08078"/>
            <a:ext cx="110490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오늘 만든 템플릿 폴더는 지우지 마세요.</a:t>
            </a:r>
            <a:br/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다음 단원 자료를 넣는 순간부터 값을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83997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83997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캔바실습 폴더에 학습지, 게시물, 템플릿 세 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53579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253579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배포 폴더에 슬라이드와 복사용 지시문 두 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23162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723162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안 될 때 볼 곳은 38번 슬라이드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학교급별 생성형 AI 활용 지침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서울특별시교육청 · 2023-08-29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교육기본법 제23조의3 학생정보의 보호원칙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CaseNote 법령 데이터베이스 · 법률 조문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[R3]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 Licensing Explained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Daily Creative Co · 2025-08-25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[R4]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2025 생성형 AI 저작권 등록 안내서 총정리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디지털 인사이트 · 발행일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[R5]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 분야의 개인정보보호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법제처 찾기쉬운 생활법령정보 · 발행일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[R6]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Education Eligibility Requirements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[R7]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Understanding your AI usage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Help Center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[R8]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App Restrictions for Students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Help Center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[R9]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 AI 헬프센터 허브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Help Center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[R10]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Product Terms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· 2026-06-26 발효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[R11]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Safety at Canva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[R12]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Canva's Content License Agreement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054913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29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05328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05328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216758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[R13]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생성형 인공지능 활용 저작물의 저작권 등록 안내서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한국저작권위원회 · 2025-06-30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824201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824201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938501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[R14]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What is Canva? eSafety Guide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eSafety Commissioner 호주 정부 · 발행일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595116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595116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709416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[R15]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수행평가 시, 인공지능 활용 관리 방안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교육부 · 2025-12-23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4366031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366031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480331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[R16]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서울 학생 위한 생성형AI 가이드라인 신설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세계일보 · 2023-08-19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5136947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5136947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5251247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[R17]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 for Education 2026 All You Need to Know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Style Factory Productions · 2026-01-08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E054"/>
      </a:hlink>
      <a:folHlink>
        <a:srgbClr val="00E05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